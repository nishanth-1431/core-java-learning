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1" r:id="rId45"/>
    <p:sldId id="300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71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2" r:id="rId116"/>
    <p:sldId id="373" r:id="rId117"/>
    <p:sldId id="374" r:id="rId118"/>
    <p:sldId id="375" r:id="rId119"/>
    <p:sldId id="376" r:id="rId120"/>
    <p:sldId id="377" r:id="rId121"/>
    <p:sldId id="378" r:id="rId122"/>
    <p:sldId id="379" r:id="rId123"/>
    <p:sldId id="380" r:id="rId124"/>
    <p:sldId id="381" r:id="rId125"/>
    <p:sldId id="382" r:id="rId126"/>
    <p:sldId id="383" r:id="rId127"/>
    <p:sldId id="384" r:id="rId128"/>
    <p:sldId id="385" r:id="rId129"/>
    <p:sldId id="386" r:id="rId130"/>
    <p:sldId id="387" r:id="rId131"/>
    <p:sldId id="388" r:id="rId132"/>
    <p:sldId id="389" r:id="rId133"/>
    <p:sldId id="390" r:id="rId134"/>
    <p:sldId id="391" r:id="rId135"/>
    <p:sldId id="392" r:id="rId136"/>
    <p:sldId id="393" r:id="rId137"/>
    <p:sldId id="394" r:id="rId138"/>
    <p:sldId id="395" r:id="rId139"/>
    <p:sldId id="396" r:id="rId140"/>
    <p:sldId id="397" r:id="rId141"/>
    <p:sldId id="398" r:id="rId142"/>
    <p:sldId id="399" r:id="rId143"/>
    <p:sldId id="400" r:id="rId144"/>
    <p:sldId id="401" r:id="rId145"/>
    <p:sldId id="402" r:id="rId146"/>
    <p:sldId id="403" r:id="rId147"/>
    <p:sldId id="404" r:id="rId148"/>
    <p:sldId id="405" r:id="rId149"/>
    <p:sldId id="406" r:id="rId150"/>
    <p:sldId id="407" r:id="rId151"/>
    <p:sldId id="408" r:id="rId152"/>
    <p:sldId id="409" r:id="rId153"/>
    <p:sldId id="410" r:id="rId154"/>
    <p:sldId id="411" r:id="rId155"/>
    <p:sldId id="412" r:id="rId156"/>
    <p:sldId id="413" r:id="rId157"/>
    <p:sldId id="414" r:id="rId158"/>
    <p:sldId id="415" r:id="rId159"/>
    <p:sldId id="416" r:id="rId160"/>
    <p:sldId id="417" r:id="rId161"/>
    <p:sldId id="418" r:id="rId162"/>
    <p:sldId id="419" r:id="rId163"/>
    <p:sldId id="420" r:id="rId164"/>
    <p:sldId id="421" r:id="rId165"/>
    <p:sldId id="422" r:id="rId166"/>
    <p:sldId id="423" r:id="rId167"/>
    <p:sldId id="424" r:id="rId168"/>
    <p:sldId id="425" r:id="rId169"/>
    <p:sldId id="426" r:id="rId170"/>
    <p:sldId id="427" r:id="rId171"/>
    <p:sldId id="428" r:id="rId172"/>
    <p:sldId id="429" r:id="rId173"/>
    <p:sldId id="431" r:id="rId174"/>
    <p:sldId id="432" r:id="rId175"/>
    <p:sldId id="433" r:id="rId176"/>
    <p:sldId id="434" r:id="rId177"/>
    <p:sldId id="435" r:id="rId178"/>
    <p:sldId id="436" r:id="rId179"/>
    <p:sldId id="437" r:id="rId180"/>
    <p:sldId id="438" r:id="rId181"/>
    <p:sldId id="439" r:id="rId182"/>
    <p:sldId id="440" r:id="rId183"/>
    <p:sldId id="441" r:id="rId184"/>
    <p:sldId id="442" r:id="rId185"/>
    <p:sldId id="443" r:id="rId186"/>
    <p:sldId id="444" r:id="rId187"/>
    <p:sldId id="445" r:id="rId188"/>
    <p:sldId id="446" r:id="rId189"/>
    <p:sldId id="447" r:id="rId190"/>
    <p:sldId id="448" r:id="rId191"/>
    <p:sldId id="449" r:id="rId192"/>
    <p:sldId id="450" r:id="rId193"/>
    <p:sldId id="451" r:id="rId194"/>
    <p:sldId id="452" r:id="rId195"/>
    <p:sldId id="453" r:id="rId196"/>
    <p:sldId id="454" r:id="rId197"/>
    <p:sldId id="455" r:id="rId198"/>
    <p:sldId id="456" r:id="rId199"/>
    <p:sldId id="457" r:id="rId200"/>
    <p:sldId id="458" r:id="rId201"/>
    <p:sldId id="459" r:id="rId202"/>
    <p:sldId id="460" r:id="rId203"/>
    <p:sldId id="461" r:id="rId204"/>
    <p:sldId id="462" r:id="rId205"/>
    <p:sldId id="463" r:id="rId206"/>
    <p:sldId id="464" r:id="rId207"/>
    <p:sldId id="465" r:id="rId208"/>
    <p:sldId id="466" r:id="rId209"/>
    <p:sldId id="467" r:id="rId2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slide" Target="slides/slide180.xml"/><Relationship Id="rId186" Type="http://schemas.openxmlformats.org/officeDocument/2006/relationships/slide" Target="slides/slide185.xml"/><Relationship Id="rId211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slide" Target="slides/slide191.xml"/><Relationship Id="rId197" Type="http://schemas.openxmlformats.org/officeDocument/2006/relationships/slide" Target="slides/slide196.xml"/><Relationship Id="rId206" Type="http://schemas.openxmlformats.org/officeDocument/2006/relationships/slide" Target="slides/slide205.xml"/><Relationship Id="rId201" Type="http://schemas.openxmlformats.org/officeDocument/2006/relationships/slide" Target="slides/slide200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presProps" Target="presProps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theme" Target="theme/theme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01BC9-726E-4258-A808-1569178BF7A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F8885-9D4E-4E49-B979-BDA52F2BE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05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F8885-9D4E-4E49-B979-BDA52F2BE7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101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F8885-9D4E-4E49-B979-BDA52F2BE74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93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E49C-0EAC-B169-9457-DFB4F11D2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8F75C-1845-64DD-A756-F003F4531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6A0C4-AF29-F89A-6A7E-B3376D45D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1899D-7E1A-4F9F-EA45-E11F188C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AD640-4DE9-D74D-7C19-B431CEE31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835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BFF69-C89D-2D6C-3903-9BDE2C1DA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5791E-E96C-21CF-A096-0545CBC66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74930-FE65-903C-F670-60423329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17916-5F8A-AF7E-2418-1C0EE33A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7F1DA-7C70-11AB-4807-D57E1BD2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55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00AF-5D31-5E35-338D-8859C442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DBC49-10C6-D17D-683C-CF934B089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D3440-6C69-63B0-71DE-F1CF028F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0F527-9008-0915-508E-0A0DC45E9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E9204-4A4C-39A0-7652-FC23A01F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87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A7E6-ED02-441D-DA2F-FE42C4BA0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75A6-54D2-47DA-F249-8BAF74352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7196B-CD1C-EA44-8DED-A30595F56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6A169-BBC5-91BC-F1A4-DB0F487C4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BCD41-D8C2-8929-AEA3-A71EBDAF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F36D6-F668-4C7A-F6E2-760D5182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626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F87B-361C-BE9D-6BBB-AF26C759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85AB2-351F-F969-05F8-942C4ACF6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6141F-7DF8-8725-A882-2BA4851F8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A88191-CE74-AD8E-18A6-9015503C5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95652F-918C-91E8-6DE5-B23B94EB9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F2C7EF-1F0B-BE0F-8C12-3B0E7025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676E53-C9B8-1710-33F3-3EBEE31CA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84250D-996D-808D-328C-C87E1B44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06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D1690-3293-DAE0-9779-FE6207F4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E8E5F7-A049-C468-7A2D-9B953D6BF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5030D-29D8-30B4-A8FB-74ED85BA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DA8350-2FC2-0B60-E766-766FB704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51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C2098-C715-976D-9E45-11EADBE2F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2E1C5-44ED-81AA-16C1-059402D4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62859-7BB9-CA07-52E3-6573FF867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07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F7D8-EC0D-0461-D9CB-9AC89EDCB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9464D-0ECC-3624-025D-82679AE7E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0A41E-146A-5B98-E0AD-41CB9FD8A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3FC95-6178-0DF9-4D0B-F3F9B498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BC257-EED2-10F3-59D0-8494AC12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4C023-FE2F-2848-D357-BAF0956FD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62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D40D-23EF-B904-159B-1F3AB8915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21CB48-594E-B8E1-B5BC-95C8B3DEF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15976-8A41-A196-5718-49DA4C384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1FD90-BEEB-5245-CE07-CA1C5FDD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CE416-ED92-85B0-1E2C-AD173F2F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0CCE9-80DA-AD4C-73AC-822AD1FF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4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804C-C89A-EFFE-7A0C-5500DA7E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ED34E-A4DF-03A5-1583-EA9216611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C1539-344E-21E6-0D1E-33557230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5F704-FBF0-94BC-94CD-006B3B8B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720CE-D777-4A03-A1B3-FEC5DCEA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28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87327C-3B80-583C-7229-49F4F65AD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36D83-9D51-3417-1D4F-09972852F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B1E53-CC30-A6F3-B059-97E448450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290A1-1986-8A52-5167-4B5F1798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F59AF-E76F-37FE-3EC9-EA67F5D8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95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3D7735-8812-3B04-FD30-4486375C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96F08-9929-1CE1-962C-B915B1037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2CBF5-75EC-31E2-B38D-FC84B90C7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03DD0-DA5F-42F9-804F-264D03211DD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BCF5C-E69F-638C-F896-4BD3C3ADD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4E11C-43F1-2D57-1B2F-F0F32C215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0174C-4DC7-45FB-82DE-406CC3398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53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6463-791B-DB4E-78F1-910F42A27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575560" y="-179196"/>
            <a:ext cx="9144000" cy="842963"/>
          </a:xfrm>
        </p:spPr>
        <p:txBody>
          <a:bodyPr>
            <a:normAutofit/>
          </a:bodyPr>
          <a:lstStyle/>
          <a:p>
            <a:r>
              <a:rPr lang="en-IN" sz="3600" dirty="0"/>
              <a:t>Introduction to Java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7F278-0E87-371F-5D54-E31C9358A094}"/>
              </a:ext>
            </a:extLst>
          </p:cNvPr>
          <p:cNvSpPr txBox="1"/>
          <p:nvPr/>
        </p:nvSpPr>
        <p:spPr>
          <a:xfrm>
            <a:off x="107308" y="1143100"/>
            <a:ext cx="69265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What is Java?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20289A9-5C18-AC00-E4C3-ECE7513498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7308" y="1883183"/>
            <a:ext cx="620516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Java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programming language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is used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develop software and applications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Java was created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James Gosling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1995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was developed 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Sun Microsystems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Now Java is owned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Oracle Corporatio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D77DE-FEBB-7E5C-923A-77A5BE5110CD}"/>
              </a:ext>
            </a:extLst>
          </p:cNvPr>
          <p:cNvSpPr txBox="1"/>
          <p:nvPr/>
        </p:nvSpPr>
        <p:spPr>
          <a:xfrm>
            <a:off x="107308" y="4270787"/>
            <a:ext cx="69265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Why Java is Popular</a:t>
            </a:r>
          </a:p>
        </p:txBody>
      </p:sp>
    </p:spTree>
    <p:extLst>
      <p:ext uri="{BB962C8B-B14F-4D97-AF65-F5344CB8AC3E}">
        <p14:creationId xmlns:p14="http://schemas.microsoft.com/office/powerpoint/2010/main" val="1851964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C3591FB-FA98-05F2-3013-CF97CFFE0F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" y="119510"/>
            <a:ext cx="637495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Simple and easy to learn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Object-Oriented programming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Platform independent (Write Once Run Anywhere)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Secure and reliable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Used by many companies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EEA89-F442-4377-6DF1-D03B54C11837}"/>
              </a:ext>
            </a:extLst>
          </p:cNvPr>
          <p:cNvSpPr txBox="1"/>
          <p:nvPr/>
        </p:nvSpPr>
        <p:spPr>
          <a:xfrm>
            <a:off x="0" y="2220590"/>
            <a:ext cx="617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Features of Java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A9A00FD-5CCB-FEC9-E17D-695FC7B1E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75363"/>
            <a:ext cx="288393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Platform Independent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Object-Oriented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Secure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Portable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Robust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Multithreaded</a:t>
            </a:r>
          </a:p>
        </p:txBody>
      </p:sp>
    </p:spTree>
    <p:extLst>
      <p:ext uri="{BB962C8B-B14F-4D97-AF65-F5344CB8AC3E}">
        <p14:creationId xmlns:p14="http://schemas.microsoft.com/office/powerpoint/2010/main" val="1113138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B717-A9C6-4F88-3F4C-C6644D53C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206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Java is used in many areas</a:t>
            </a:r>
            <a:br>
              <a:rPr lang="en-US" dirty="0"/>
            </a:br>
            <a:r>
              <a:rPr lang="en-US" sz="2700" dirty="0"/>
              <a:t>Web applications</a:t>
            </a:r>
            <a:br>
              <a:rPr lang="en-US" sz="2700" dirty="0"/>
            </a:br>
            <a:r>
              <a:rPr lang="en-US" sz="2700" dirty="0"/>
              <a:t>Mobile applications</a:t>
            </a:r>
            <a:br>
              <a:rPr lang="en-US" sz="2700" dirty="0"/>
            </a:br>
            <a:r>
              <a:rPr lang="en-US" sz="2700" dirty="0"/>
              <a:t>Desktop software</a:t>
            </a:r>
            <a:br>
              <a:rPr lang="en-US" sz="2700" dirty="0"/>
            </a:br>
            <a:r>
              <a:rPr lang="en-US" sz="2700" dirty="0"/>
              <a:t>Enterprise applications</a:t>
            </a:r>
            <a:br>
              <a:rPr lang="en-US" sz="2700" dirty="0"/>
            </a:br>
            <a:r>
              <a:rPr lang="en-US" sz="2700" dirty="0"/>
              <a:t>Game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B64CC-CB83-4F02-1914-434FC57FC72E}"/>
              </a:ext>
            </a:extLst>
          </p:cNvPr>
          <p:cNvSpPr txBox="1"/>
          <p:nvPr/>
        </p:nvSpPr>
        <p:spPr>
          <a:xfrm>
            <a:off x="-38100" y="2140618"/>
            <a:ext cx="6134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Some popular software using Java:</a:t>
            </a:r>
            <a:endParaRPr lang="en-IN" sz="28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D8539CE-A8D9-32A7-B174-FFA688FE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100" y="2663838"/>
            <a:ext cx="276550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Minecraft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Apache Hadoop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 apps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82255-F221-63F6-078E-09AF54D744EF}"/>
              </a:ext>
            </a:extLst>
          </p:cNvPr>
          <p:cNvSpPr txBox="1"/>
          <p:nvPr/>
        </p:nvSpPr>
        <p:spPr>
          <a:xfrm>
            <a:off x="-38100" y="4048833"/>
            <a:ext cx="6134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Basic Java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12C29A-A85D-456A-6BD1-503A1990D01F}"/>
              </a:ext>
            </a:extLst>
          </p:cNvPr>
          <p:cNvSpPr txBox="1"/>
          <p:nvPr/>
        </p:nvSpPr>
        <p:spPr>
          <a:xfrm>
            <a:off x="-38100" y="4572053"/>
            <a:ext cx="61341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class Hello {</a:t>
            </a:r>
          </a:p>
          <a:p>
            <a:r>
              <a:rPr lang="en-IN" sz="2000" dirty="0"/>
              <a:t>    public static void main(String[] </a:t>
            </a:r>
            <a:r>
              <a:rPr lang="en-IN" sz="2000" dirty="0" err="1"/>
              <a:t>args</a:t>
            </a:r>
            <a:r>
              <a:rPr lang="en-IN" sz="2000" dirty="0"/>
              <a:t>) {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("Hello Java");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062B2-47FA-66E8-6F0F-251F8537AF04}"/>
              </a:ext>
            </a:extLst>
          </p:cNvPr>
          <p:cNvSpPr txBox="1"/>
          <p:nvPr/>
        </p:nvSpPr>
        <p:spPr>
          <a:xfrm>
            <a:off x="8115300" y="5269930"/>
            <a:ext cx="6071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Output : Hello Java</a:t>
            </a:r>
          </a:p>
        </p:txBody>
      </p:sp>
    </p:spTree>
    <p:extLst>
      <p:ext uri="{BB962C8B-B14F-4D97-AF65-F5344CB8AC3E}">
        <p14:creationId xmlns:p14="http://schemas.microsoft.com/office/powerpoint/2010/main" val="256837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A7AE6-F6FE-54FF-9901-C723B1469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8091"/>
            <a:ext cx="10515600" cy="288829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dirty="0"/>
              <a:t>class Hello {</a:t>
            </a:r>
          </a:p>
          <a:p>
            <a:pPr marL="0" indent="0">
              <a:buNone/>
            </a:pPr>
            <a:br>
              <a:rPr lang="en-IN" sz="8000" dirty="0"/>
            </a:br>
            <a:endParaRPr lang="en-IN" sz="8000" dirty="0"/>
          </a:p>
          <a:p>
            <a:pPr marL="0" indent="0">
              <a:buNone/>
            </a:pPr>
            <a:r>
              <a:rPr lang="en-IN" sz="8000" dirty="0"/>
              <a:t>    public static void main(String[] </a:t>
            </a:r>
            <a:r>
              <a:rPr lang="en-IN" sz="8000" dirty="0" err="1"/>
              <a:t>args</a:t>
            </a:r>
            <a:r>
              <a:rPr lang="en-IN" sz="8000" dirty="0"/>
              <a:t>)</a:t>
            </a:r>
          </a:p>
          <a:p>
            <a:pPr marL="0" indent="0">
              <a:buNone/>
            </a:pPr>
            <a:r>
              <a:rPr lang="en-IN" sz="8000" dirty="0"/>
              <a:t>    {</a:t>
            </a:r>
          </a:p>
          <a:p>
            <a:pPr marL="0" indent="0">
              <a:buNone/>
            </a:pPr>
            <a:br>
              <a:rPr lang="en-IN" sz="8000" dirty="0"/>
            </a:br>
            <a:endParaRPr lang="en-IN" sz="8000" dirty="0"/>
          </a:p>
          <a:p>
            <a:pPr marL="0" indent="0">
              <a:buNone/>
            </a:pPr>
            <a:r>
              <a:rPr lang="en-IN" sz="8000" dirty="0"/>
              <a:t>        int container = 55;</a:t>
            </a:r>
          </a:p>
          <a:p>
            <a:pPr marL="0" indent="0">
              <a:buNone/>
            </a:pPr>
            <a:r>
              <a:rPr lang="en-IN" sz="8000" dirty="0"/>
              <a:t>        String container2 = "</a:t>
            </a:r>
            <a:r>
              <a:rPr lang="en-IN" sz="8000" dirty="0" err="1"/>
              <a:t>kavi</a:t>
            </a:r>
            <a:r>
              <a:rPr lang="en-IN" sz="8000" dirty="0"/>
              <a:t>";</a:t>
            </a:r>
          </a:p>
          <a:p>
            <a:pPr marL="0" indent="0">
              <a:buNone/>
            </a:pPr>
            <a:br>
              <a:rPr lang="en-IN" sz="8000" dirty="0"/>
            </a:br>
            <a:endParaRPr lang="en-IN" sz="8000" dirty="0"/>
          </a:p>
          <a:p>
            <a:pPr marL="0" indent="0">
              <a:buNone/>
            </a:pPr>
            <a:r>
              <a:rPr lang="en-IN" sz="8000" dirty="0"/>
              <a:t>        </a:t>
            </a:r>
            <a:r>
              <a:rPr lang="en-IN" sz="8000" dirty="0" err="1"/>
              <a:t>System.out.println</a:t>
            </a:r>
            <a:r>
              <a:rPr lang="en-IN" sz="8000" dirty="0"/>
              <a:t>(container);</a:t>
            </a:r>
          </a:p>
          <a:p>
            <a:pPr marL="0" indent="0">
              <a:buNone/>
            </a:pPr>
            <a:r>
              <a:rPr lang="en-IN" sz="8000" dirty="0"/>
              <a:t>        </a:t>
            </a:r>
            <a:r>
              <a:rPr lang="en-IN" sz="8000" dirty="0" err="1"/>
              <a:t>System.out.println</a:t>
            </a:r>
            <a:r>
              <a:rPr lang="en-IN" sz="8000" dirty="0"/>
              <a:t>(container2);</a:t>
            </a:r>
          </a:p>
          <a:p>
            <a:pPr marL="0" indent="0">
              <a:buNone/>
            </a:pPr>
            <a:br>
              <a:rPr lang="en-IN" sz="8000" dirty="0"/>
            </a:br>
            <a:endParaRPr lang="en-IN" sz="8000" dirty="0"/>
          </a:p>
          <a:p>
            <a:pPr marL="0" indent="0">
              <a:buNone/>
            </a:pPr>
            <a:r>
              <a:rPr lang="en-IN" sz="8000" dirty="0"/>
              <a:t>    }</a:t>
            </a:r>
          </a:p>
          <a:p>
            <a:pPr marL="0" indent="0">
              <a:buNone/>
            </a:pPr>
            <a:br>
              <a:rPr lang="en-IN" sz="8000" dirty="0"/>
            </a:br>
            <a:endParaRPr lang="en-IN" sz="8000" dirty="0"/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FA9726-799E-E2CB-BDBE-A751820BC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" y="240417"/>
            <a:ext cx="486094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write continuously in the same line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write and move to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line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57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0261A-75E3-99FA-24B1-4FF2C409C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49225"/>
            <a:ext cx="10515600" cy="12376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Int,String</a:t>
            </a:r>
            <a:r>
              <a:rPr lang="en-IN" dirty="0"/>
              <a:t> = Data Type</a:t>
            </a:r>
          </a:p>
          <a:p>
            <a:pPr marL="0" indent="0">
              <a:buNone/>
            </a:pPr>
            <a:r>
              <a:rPr lang="en-IN" dirty="0"/>
              <a:t>Eg: Fish Container inside  only Fish It means only this type will</a:t>
            </a:r>
          </a:p>
          <a:p>
            <a:pPr marL="0" indent="0">
              <a:buNone/>
            </a:pPr>
            <a:r>
              <a:rPr lang="en-IN" dirty="0"/>
              <a:t>Inside the Container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8E63F-E17A-2283-A5E8-2961626F4185}"/>
              </a:ext>
            </a:extLst>
          </p:cNvPr>
          <p:cNvSpPr txBox="1"/>
          <p:nvPr/>
        </p:nvSpPr>
        <p:spPr>
          <a:xfrm>
            <a:off x="441960" y="1669993"/>
            <a:ext cx="9768840" cy="387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dirty="0">
                <a:latin typeface="Consolas" panose="020B0609020204030204" pitchFamily="49" charset="0"/>
              </a:rPr>
              <a:t>class Hello {</a:t>
            </a:r>
          </a:p>
          <a:p>
            <a:pPr>
              <a:lnSpc>
                <a:spcPts val="1425"/>
              </a:lnSpc>
              <a:buNone/>
            </a:pPr>
            <a:endParaRPr lang="en-IN" sz="2400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dirty="0">
                <a:latin typeface="Consolas" panose="020B0609020204030204" pitchFamily="49" charset="0"/>
              </a:rPr>
              <a:t>    public static void main(String </a:t>
            </a:r>
            <a:r>
              <a:rPr lang="en-IN" sz="2400" dirty="0" err="1">
                <a:latin typeface="Consolas" panose="020B0609020204030204" pitchFamily="49" charset="0"/>
              </a:rPr>
              <a:t>args</a:t>
            </a:r>
            <a:r>
              <a:rPr lang="en-IN" sz="2400" dirty="0">
                <a:latin typeface="Consolas" panose="020B0609020204030204" pitchFamily="49" charset="0"/>
              </a:rPr>
              <a:t>[]) {</a:t>
            </a:r>
          </a:p>
          <a:p>
            <a:pPr>
              <a:lnSpc>
                <a:spcPts val="1425"/>
              </a:lnSpc>
              <a:buNone/>
            </a:pPr>
            <a:r>
              <a:rPr lang="en-IN" sz="2400" dirty="0">
                <a:latin typeface="Consolas" panose="020B0609020204030204" pitchFamily="49" charset="0"/>
              </a:rPr>
              <a:t>        int a = 10;</a:t>
            </a:r>
          </a:p>
          <a:p>
            <a:pPr>
              <a:lnSpc>
                <a:spcPts val="1425"/>
              </a:lnSpc>
              <a:buNone/>
            </a:pPr>
            <a:r>
              <a:rPr lang="en-IN" sz="2400" dirty="0">
                <a:latin typeface="Consolas" panose="020B0609020204030204" pitchFamily="49" charset="0"/>
              </a:rPr>
              <a:t>        int b = 10;</a:t>
            </a:r>
          </a:p>
          <a:p>
            <a:pPr>
              <a:lnSpc>
                <a:spcPts val="1425"/>
              </a:lnSpc>
              <a:buNone/>
            </a:pPr>
            <a:endParaRPr lang="en-IN" sz="2400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dirty="0">
                <a:latin typeface="Consolas" panose="020B0609020204030204" pitchFamily="49" charset="0"/>
              </a:rPr>
              <a:t>        </a:t>
            </a:r>
            <a:r>
              <a:rPr lang="en-IN" sz="2400" dirty="0" err="1">
                <a:latin typeface="Consolas" panose="020B0609020204030204" pitchFamily="49" charset="0"/>
              </a:rPr>
              <a:t>System.out.print</a:t>
            </a:r>
            <a:r>
              <a:rPr lang="en-IN" sz="2400" dirty="0">
                <a:latin typeface="Consolas" panose="020B0609020204030204" pitchFamily="49" charset="0"/>
              </a:rPr>
              <a:t>(a + b);</a:t>
            </a:r>
          </a:p>
          <a:p>
            <a:pPr>
              <a:lnSpc>
                <a:spcPts val="1425"/>
              </a:lnSpc>
              <a:buNone/>
            </a:pPr>
            <a:r>
              <a:rPr lang="en-IN" sz="2400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ts val="1425"/>
              </a:lnSpc>
              <a:buNone/>
            </a:pPr>
            <a:endParaRPr lang="en-IN" sz="2400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effectLst/>
                <a:latin typeface="+mj-lt"/>
              </a:rPr>
              <a:t>Don’t Use “” </a:t>
            </a:r>
            <a:r>
              <a:rPr lang="en-IN" sz="2400" dirty="0">
                <a:latin typeface="+mj-lt"/>
              </a:rPr>
              <a:t>Double quotes inside (</a:t>
            </a:r>
            <a:r>
              <a:rPr lang="en-IN" sz="2400" dirty="0" err="1">
                <a:latin typeface="+mj-lt"/>
              </a:rPr>
              <a:t>a+b</a:t>
            </a:r>
            <a:r>
              <a:rPr lang="en-IN" sz="2400" dirty="0">
                <a:latin typeface="+mj-lt"/>
              </a:rPr>
              <a:t>). Then only the It Consider as </a:t>
            </a:r>
          </a:p>
          <a:p>
            <a:pPr>
              <a:lnSpc>
                <a:spcPts val="1425"/>
              </a:lnSpc>
              <a:buNone/>
            </a:pPr>
            <a:endParaRPr lang="en-IN" sz="2400" b="0" dirty="0"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dirty="0">
                <a:latin typeface="+mj-lt"/>
              </a:rPr>
              <a:t>Variable And Calculate the Value . If Use “” It directly Print The Value </a:t>
            </a:r>
            <a:r>
              <a:rPr lang="en-IN" sz="2400" dirty="0" err="1">
                <a:latin typeface="+mj-lt"/>
              </a:rPr>
              <a:t>a+b</a:t>
            </a:r>
            <a:endParaRPr lang="en-IN" sz="2400" b="0" dirty="0">
              <a:effectLst/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    </a:t>
            </a: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62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4B90-52B2-68BB-42CB-14B12672C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0066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dirty="0"/>
              <a:t>Java Classes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A390F-1EDB-E036-0560-7637A2EBA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1895"/>
            <a:ext cx="10515600" cy="105672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/>
              <a:t>Core concept of </a:t>
            </a:r>
            <a:r>
              <a:rPr lang="en-US" sz="7200" b="1" dirty="0"/>
              <a:t>Object Oriented Programming (OOP)</a:t>
            </a:r>
            <a:endParaRPr lang="en-US" sz="7200" dirty="0"/>
          </a:p>
          <a:p>
            <a:pPr marL="0" indent="0">
              <a:buNone/>
            </a:pPr>
            <a:r>
              <a:rPr lang="en-US" sz="7200" dirty="0"/>
              <a:t>Used to create </a:t>
            </a:r>
            <a:r>
              <a:rPr lang="en-US" sz="7200" b="1" dirty="0"/>
              <a:t>real-world models in programming</a:t>
            </a:r>
            <a:endParaRPr lang="en-US" sz="7200" dirty="0"/>
          </a:p>
          <a:p>
            <a:pPr marL="0" indent="0">
              <a:buNone/>
            </a:pPr>
            <a:r>
              <a:rPr lang="en-US" sz="7200" dirty="0"/>
              <a:t>Important concept in </a:t>
            </a:r>
            <a:r>
              <a:rPr lang="en-US" sz="7200" b="1" dirty="0"/>
              <a:t>Java development</a:t>
            </a:r>
            <a:endParaRPr lang="en-US" sz="7200" dirty="0"/>
          </a:p>
          <a:p>
            <a:pPr marL="0" indent="0">
              <a:buNone/>
            </a:pPr>
            <a:r>
              <a:rPr lang="en-US" sz="9600" b="1" dirty="0"/>
              <a:t>What is a Class?</a:t>
            </a:r>
          </a:p>
          <a:p>
            <a:pPr marL="0" indent="0">
              <a:buNone/>
            </a:pPr>
            <a:r>
              <a:rPr lang="en-US" sz="8000" dirty="0"/>
              <a:t>A </a:t>
            </a:r>
            <a:r>
              <a:rPr lang="en-US" sz="8000" b="1" dirty="0"/>
              <a:t>Class</a:t>
            </a:r>
            <a:r>
              <a:rPr lang="en-US" sz="8000" dirty="0"/>
              <a:t> is a </a:t>
            </a:r>
            <a:r>
              <a:rPr lang="en-US" sz="8000" b="1" dirty="0"/>
              <a:t>blueprint or template</a:t>
            </a:r>
            <a:r>
              <a:rPr lang="en-US" sz="8000" dirty="0"/>
              <a:t> used to create objects.</a:t>
            </a:r>
          </a:p>
          <a:p>
            <a:pPr marL="0" indent="0">
              <a:buNone/>
            </a:pPr>
            <a:r>
              <a:rPr lang="en-US" sz="8000" dirty="0"/>
              <a:t>It defines</a:t>
            </a:r>
          </a:p>
          <a:p>
            <a:pPr marL="0" indent="0">
              <a:buNone/>
            </a:pPr>
            <a:r>
              <a:rPr lang="en-US" sz="8000" dirty="0"/>
              <a:t>Variables (data)</a:t>
            </a:r>
          </a:p>
          <a:p>
            <a:pPr marL="0" indent="0">
              <a:buNone/>
            </a:pPr>
            <a:r>
              <a:rPr lang="en-US" sz="8000" dirty="0"/>
              <a:t>Methods (functions)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31BDD-AAA5-D7A9-3E14-434D484D6FD0}"/>
              </a:ext>
            </a:extLst>
          </p:cNvPr>
          <p:cNvSpPr txBox="1"/>
          <p:nvPr/>
        </p:nvSpPr>
        <p:spPr>
          <a:xfrm>
            <a:off x="79513" y="3656377"/>
            <a:ext cx="61473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+mj-lt"/>
              </a:rPr>
              <a:t>Technical Definition</a:t>
            </a:r>
          </a:p>
          <a:p>
            <a:pPr>
              <a:buNone/>
            </a:pPr>
            <a:r>
              <a:rPr lang="en-US" dirty="0">
                <a:latin typeface="+mj-lt"/>
              </a:rPr>
              <a:t>A class is a user-defined data type that contains variables and methods</a:t>
            </a:r>
            <a:endParaRPr lang="en-US" b="1" dirty="0">
              <a:latin typeface="+mj-lt"/>
            </a:endParaRPr>
          </a:p>
          <a:p>
            <a:pPr>
              <a:buNone/>
            </a:pPr>
            <a:r>
              <a:rPr lang="en-US" b="1" dirty="0">
                <a:latin typeface="+mj-lt"/>
              </a:rPr>
              <a:t>Syntax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class </a:t>
            </a:r>
            <a:r>
              <a:rPr lang="en-US" dirty="0" err="1">
                <a:latin typeface="+mj-lt"/>
              </a:rPr>
              <a:t>Class</a:t>
            </a:r>
            <a:r>
              <a:rPr lang="en-US" dirty="0">
                <a:latin typeface="+mj-lt"/>
              </a:rPr>
              <a:t> Name {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// variables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// methods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607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B9FD9-7F65-26F1-263C-86B9A4D4C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035" y="19560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Real Time Example of Class</a:t>
            </a:r>
          </a:p>
          <a:p>
            <a:pPr marL="0" indent="0">
              <a:buNone/>
            </a:pPr>
            <a:r>
              <a:rPr lang="en-US" sz="1400" dirty="0"/>
              <a:t>Think about </a:t>
            </a:r>
            <a:r>
              <a:rPr lang="en-US" sz="1400" b="1" dirty="0"/>
              <a:t>Car Manufacturing</a:t>
            </a:r>
          </a:p>
          <a:p>
            <a:pPr marL="0" indent="0">
              <a:buNone/>
            </a:pPr>
            <a:r>
              <a:rPr lang="en-US" sz="1400" dirty="0"/>
              <a:t>Class = </a:t>
            </a:r>
            <a:r>
              <a:rPr lang="en-US" sz="1400" b="1" dirty="0"/>
              <a:t>Car blueprint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The blueprint defines:</a:t>
            </a:r>
          </a:p>
          <a:p>
            <a:pPr marL="0" indent="0">
              <a:buNone/>
            </a:pPr>
            <a:r>
              <a:rPr lang="en-US" sz="1400" dirty="0"/>
              <a:t>Color</a:t>
            </a:r>
          </a:p>
          <a:p>
            <a:pPr marL="0" indent="0">
              <a:buNone/>
            </a:pPr>
            <a:r>
              <a:rPr lang="en-US" sz="1400" dirty="0"/>
              <a:t>Speed</a:t>
            </a:r>
          </a:p>
          <a:p>
            <a:pPr marL="0" indent="0">
              <a:buNone/>
            </a:pPr>
            <a:r>
              <a:rPr lang="en-US" sz="1400" dirty="0"/>
              <a:t>Model</a:t>
            </a:r>
          </a:p>
          <a:p>
            <a:pPr marL="0" indent="0">
              <a:buNone/>
            </a:pPr>
            <a:r>
              <a:rPr lang="en-US" sz="1400" dirty="0"/>
              <a:t>Engine</a:t>
            </a:r>
          </a:p>
          <a:p>
            <a:pPr marL="0" indent="0">
              <a:buNone/>
            </a:pPr>
            <a:r>
              <a:rPr lang="en-US" sz="1400" dirty="0"/>
              <a:t>But the </a:t>
            </a:r>
            <a:r>
              <a:rPr lang="en-US" sz="1400" b="1" dirty="0"/>
              <a:t>actual car is an object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dirty="0"/>
              <a:t>Example:</a:t>
            </a:r>
          </a:p>
          <a:p>
            <a:pPr marL="0" indent="0">
              <a:buNone/>
            </a:pPr>
            <a:r>
              <a:rPr lang="en-US" sz="1400" dirty="0"/>
              <a:t>Class → Car</a:t>
            </a:r>
            <a:br>
              <a:rPr lang="en-US" sz="1400" dirty="0"/>
            </a:br>
            <a:r>
              <a:rPr lang="en-US" sz="1400" dirty="0"/>
              <a:t>Objects → BMW, Audi, Tesla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5F691-5B43-09CC-FAF9-51F2DF4E8577}"/>
              </a:ext>
            </a:extLst>
          </p:cNvPr>
          <p:cNvSpPr txBox="1"/>
          <p:nvPr/>
        </p:nvSpPr>
        <p:spPr>
          <a:xfrm>
            <a:off x="4476050" y="195608"/>
            <a:ext cx="60976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class Hotel {</a:t>
            </a:r>
          </a:p>
          <a:p>
            <a:endParaRPr lang="en-IN" dirty="0"/>
          </a:p>
          <a:p>
            <a:r>
              <a:rPr lang="en-IN" dirty="0"/>
              <a:t>    int coffee = 50;</a:t>
            </a:r>
          </a:p>
          <a:p>
            <a:r>
              <a:rPr lang="en-IN" dirty="0"/>
              <a:t>    int tea = 30;</a:t>
            </a:r>
          </a:p>
          <a:p>
            <a:r>
              <a:rPr lang="en-IN" dirty="0"/>
              <a:t>    int milk = 60;</a:t>
            </a:r>
          </a:p>
          <a:p>
            <a:endParaRPr lang="en-IN" dirty="0"/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// Create objects</a:t>
            </a:r>
          </a:p>
          <a:p>
            <a:r>
              <a:rPr lang="en-IN" dirty="0"/>
              <a:t>        Hotel server1 = new Hotel();</a:t>
            </a:r>
          </a:p>
          <a:p>
            <a:r>
              <a:rPr lang="en-IN" dirty="0"/>
              <a:t>        Hotel server3 = new Hotel();</a:t>
            </a:r>
          </a:p>
          <a:p>
            <a:r>
              <a:rPr lang="en-IN" dirty="0"/>
              <a:t>        Hotel server2 = new Hotel();</a:t>
            </a:r>
          </a:p>
          <a:p>
            <a:endParaRPr lang="en-IN" dirty="0"/>
          </a:p>
          <a:p>
            <a:r>
              <a:rPr lang="en-IN" dirty="0"/>
              <a:t>        // Print values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("Coffee: " + server1.coffee);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("Tea: " + server3.tea);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("Milk: " + server2.milk);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53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853D7B-EEA4-E80D-89AE-2D2F3705B763}"/>
              </a:ext>
            </a:extLst>
          </p:cNvPr>
          <p:cNvSpPr txBox="1"/>
          <p:nvPr/>
        </p:nvSpPr>
        <p:spPr>
          <a:xfrm>
            <a:off x="305628" y="123447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What is JVM?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7A86E-88F5-CD87-A7A7-C27BF35121E3}"/>
              </a:ext>
            </a:extLst>
          </p:cNvPr>
          <p:cNvSpPr txBox="1"/>
          <p:nvPr/>
        </p:nvSpPr>
        <p:spPr>
          <a:xfrm>
            <a:off x="206237" y="585112"/>
            <a:ext cx="60976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JVM (Java Virtual Machine)</a:t>
            </a:r>
          </a:p>
          <a:p>
            <a:pPr>
              <a:buNone/>
            </a:pPr>
            <a:r>
              <a:rPr lang="en-IN" dirty="0"/>
              <a:t>The </a:t>
            </a:r>
            <a:r>
              <a:rPr lang="en-IN" b="1" dirty="0"/>
              <a:t>Java Virtual Machine</a:t>
            </a:r>
            <a:r>
              <a:rPr lang="en-IN" dirty="0"/>
              <a:t> is a program that </a:t>
            </a:r>
            <a:r>
              <a:rPr lang="en-IN" b="1" dirty="0"/>
              <a:t>runs Java bytecode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It converts </a:t>
            </a:r>
            <a:r>
              <a:rPr lang="en-IN" b="1" dirty="0"/>
              <a:t>bytecode into machine code</a:t>
            </a:r>
            <a:r>
              <a:rPr lang="en-IN" dirty="0"/>
              <a:t> so the computer can understand it.</a:t>
            </a:r>
          </a:p>
          <a:p>
            <a:pPr>
              <a:buNone/>
            </a:pPr>
            <a:r>
              <a:rPr lang="en-IN" b="1" dirty="0"/>
              <a:t>Technical Definition</a:t>
            </a:r>
          </a:p>
          <a:p>
            <a:pPr>
              <a:buNone/>
            </a:pPr>
            <a:r>
              <a:rPr lang="en-IN" dirty="0"/>
              <a:t>JVM is an </a:t>
            </a:r>
            <a:r>
              <a:rPr lang="en-IN" b="1" dirty="0"/>
              <a:t>engine that executes Java bytecode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b="1" dirty="0"/>
              <a:t>Main </a:t>
            </a:r>
            <a:r>
              <a:rPr lang="en-IN" b="1" dirty="0" err="1"/>
              <a:t>Functions</a:t>
            </a:r>
            <a:r>
              <a:rPr lang="en-IN" dirty="0" err="1"/>
              <a:t>Runs</a:t>
            </a:r>
            <a:r>
              <a:rPr lang="en-IN" dirty="0"/>
              <a:t> Java programs</a:t>
            </a:r>
          </a:p>
          <a:p>
            <a:r>
              <a:rPr lang="en-IN" dirty="0"/>
              <a:t>Converts bytecode to machine code</a:t>
            </a:r>
          </a:p>
          <a:p>
            <a:r>
              <a:rPr lang="en-IN" dirty="0"/>
              <a:t>Manages 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623CC-F510-ABCC-BD1A-A0B24FFC0441}"/>
              </a:ext>
            </a:extLst>
          </p:cNvPr>
          <p:cNvSpPr txBox="1"/>
          <p:nvPr/>
        </p:nvSpPr>
        <p:spPr>
          <a:xfrm>
            <a:off x="206237" y="3447434"/>
            <a:ext cx="60976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Real Time Example of JVM</a:t>
            </a:r>
          </a:p>
          <a:p>
            <a:pPr>
              <a:buNone/>
            </a:pPr>
            <a:r>
              <a:rPr lang="en-US"/>
              <a:t>Think of </a:t>
            </a:r>
            <a:r>
              <a:rPr lang="en-US" b="1"/>
              <a:t>JVM as a translator</a:t>
            </a:r>
            <a:r>
              <a:rPr lang="en-US"/>
              <a:t>.</a:t>
            </a:r>
          </a:p>
          <a:p>
            <a:pPr>
              <a:buNone/>
            </a:pPr>
            <a:r>
              <a:rPr lang="en-US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You speak </a:t>
            </a:r>
            <a:r>
              <a:rPr lang="en-US" b="1"/>
              <a:t>English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Your friend understands </a:t>
            </a:r>
            <a:r>
              <a:rPr lang="en-US" b="1"/>
              <a:t>Tamil</a:t>
            </a:r>
            <a:endParaRPr lang="en-US"/>
          </a:p>
          <a:p>
            <a:pPr>
              <a:buNone/>
            </a:pPr>
            <a:r>
              <a:rPr lang="en-US"/>
              <a:t>A translator converts </a:t>
            </a:r>
            <a:r>
              <a:rPr lang="en-US" b="1"/>
              <a:t>English → Tamil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B0C92F-F69F-0D6F-F077-A7E458424890}"/>
              </a:ext>
            </a:extLst>
          </p:cNvPr>
          <p:cNvSpPr txBox="1"/>
          <p:nvPr/>
        </p:nvSpPr>
        <p:spPr>
          <a:xfrm>
            <a:off x="136663" y="535143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Java Code → Bytecode → JVM → Machine Code</a:t>
            </a:r>
          </a:p>
        </p:txBody>
      </p:sp>
    </p:spTree>
    <p:extLst>
      <p:ext uri="{BB962C8B-B14F-4D97-AF65-F5344CB8AC3E}">
        <p14:creationId xmlns:p14="http://schemas.microsoft.com/office/powerpoint/2010/main" val="1578665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AF8F7-CAEA-9FBD-3B1C-3A64977D5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913" y="185667"/>
            <a:ext cx="10515600" cy="351168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What is JDK?</a:t>
            </a:r>
          </a:p>
          <a:p>
            <a:pPr marL="0" indent="0">
              <a:buNone/>
            </a:pPr>
            <a:r>
              <a:rPr lang="en-IN" b="1" dirty="0"/>
              <a:t>JDK (Java Development Kit)</a:t>
            </a:r>
          </a:p>
          <a:p>
            <a:pPr marL="0" indent="0">
              <a:buNone/>
            </a:pPr>
            <a:r>
              <a:rPr lang="en-IN" dirty="0"/>
              <a:t>JDK is used to </a:t>
            </a:r>
            <a:r>
              <a:rPr lang="en-IN" b="1" dirty="0"/>
              <a:t>develop Java applications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It includes:</a:t>
            </a:r>
          </a:p>
          <a:p>
            <a:pPr marL="0" indent="0">
              <a:buNone/>
            </a:pPr>
            <a:r>
              <a:rPr lang="en-IN" dirty="0"/>
              <a:t>JRE</a:t>
            </a:r>
          </a:p>
          <a:p>
            <a:pPr marL="0" indent="0">
              <a:buNone/>
            </a:pPr>
            <a:r>
              <a:rPr lang="en-IN" dirty="0"/>
              <a:t>JVM</a:t>
            </a:r>
          </a:p>
          <a:p>
            <a:pPr marL="0" indent="0">
              <a:buNone/>
            </a:pPr>
            <a:r>
              <a:rPr lang="en-IN" dirty="0"/>
              <a:t>Development tools</a:t>
            </a:r>
          </a:p>
          <a:p>
            <a:pPr marL="0" indent="0">
              <a:buNone/>
            </a:pPr>
            <a:r>
              <a:rPr lang="en-IN" b="1" dirty="0"/>
              <a:t>Tools inside JDK</a:t>
            </a:r>
          </a:p>
          <a:p>
            <a:pPr marL="0" indent="0">
              <a:buNone/>
            </a:pPr>
            <a:r>
              <a:rPr lang="en-IN" dirty="0" err="1"/>
              <a:t>javac</a:t>
            </a:r>
            <a:r>
              <a:rPr lang="en-IN" dirty="0"/>
              <a:t> → compiler</a:t>
            </a:r>
          </a:p>
          <a:p>
            <a:pPr marL="0" indent="0">
              <a:buNone/>
            </a:pPr>
            <a:r>
              <a:rPr lang="en-IN" dirty="0"/>
              <a:t>java → run program</a:t>
            </a:r>
          </a:p>
          <a:p>
            <a:pPr marL="0" indent="0">
              <a:buNone/>
            </a:pPr>
            <a:r>
              <a:rPr lang="en-IN" dirty="0" err="1"/>
              <a:t>javadoc</a:t>
            </a:r>
            <a:r>
              <a:rPr lang="en-IN" dirty="0"/>
              <a:t> → documentation tool</a:t>
            </a:r>
          </a:p>
          <a:p>
            <a:pPr marL="0" indent="0">
              <a:buNone/>
            </a:pPr>
            <a:r>
              <a:rPr lang="en-IN" b="1" dirty="0"/>
              <a:t>Write </a:t>
            </a:r>
            <a:r>
              <a:rPr lang="en-IN" b="1" dirty="0" err="1"/>
              <a:t>Onces</a:t>
            </a:r>
            <a:r>
              <a:rPr lang="en-IN" b="1" dirty="0"/>
              <a:t> Run Anywhere windows, </a:t>
            </a:r>
            <a:r>
              <a:rPr lang="en-IN" b="1" dirty="0" err="1"/>
              <a:t>Ect</a:t>
            </a:r>
            <a:r>
              <a:rPr lang="en-IN" b="1" dirty="0"/>
              <a:t>..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7E781-B346-151A-3682-F3F774CA069C}"/>
              </a:ext>
            </a:extLst>
          </p:cNvPr>
          <p:cNvSpPr txBox="1"/>
          <p:nvPr/>
        </p:nvSpPr>
        <p:spPr>
          <a:xfrm>
            <a:off x="231913" y="3697356"/>
            <a:ext cx="60976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 Time Example of JDK</a:t>
            </a:r>
          </a:p>
          <a:p>
            <a:pPr>
              <a:buNone/>
            </a:pPr>
            <a:r>
              <a:rPr lang="en-US" dirty="0"/>
              <a:t>Think of </a:t>
            </a:r>
            <a:r>
              <a:rPr lang="en-US" b="1" dirty="0"/>
              <a:t>JDK as a full workshop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To build a car you need:</a:t>
            </a:r>
          </a:p>
          <a:p>
            <a:r>
              <a:rPr lang="en-US" dirty="0"/>
              <a:t>Tools</a:t>
            </a:r>
          </a:p>
          <a:p>
            <a:r>
              <a:rPr lang="en-US" dirty="0"/>
              <a:t>Machines</a:t>
            </a:r>
          </a:p>
          <a:p>
            <a:r>
              <a:rPr lang="en-US" dirty="0"/>
              <a:t>Engine</a:t>
            </a:r>
          </a:p>
          <a:p>
            <a:r>
              <a:rPr lang="en-US" dirty="0"/>
              <a:t>Similarly, JDK provides:</a:t>
            </a:r>
          </a:p>
          <a:p>
            <a:r>
              <a:rPr lang="en-US" dirty="0"/>
              <a:t>Compiler</a:t>
            </a:r>
          </a:p>
          <a:p>
            <a:r>
              <a:rPr lang="en-US" dirty="0"/>
              <a:t>Debugger</a:t>
            </a:r>
          </a:p>
          <a:p>
            <a:r>
              <a:rPr lang="en-US" dirty="0"/>
              <a:t>Runtime environment</a:t>
            </a:r>
          </a:p>
          <a:p>
            <a:pPr>
              <a:buNone/>
            </a:pPr>
            <a:r>
              <a:rPr lang="en-US" dirty="0"/>
              <a:t>So developers can </a:t>
            </a:r>
            <a:r>
              <a:rPr lang="en-US" b="1" dirty="0"/>
              <a:t>create Java programs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785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120F2F-8B0E-B69D-40DC-42361F60016A}"/>
              </a:ext>
            </a:extLst>
          </p:cNvPr>
          <p:cNvSpPr txBox="1"/>
          <p:nvPr/>
        </p:nvSpPr>
        <p:spPr>
          <a:xfrm>
            <a:off x="0" y="29817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What is JRE?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68D88-B14C-3300-850A-E0DA30FC3B5F}"/>
              </a:ext>
            </a:extLst>
          </p:cNvPr>
          <p:cNvSpPr txBox="1"/>
          <p:nvPr/>
        </p:nvSpPr>
        <p:spPr>
          <a:xfrm>
            <a:off x="0" y="491482"/>
            <a:ext cx="614735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JRE (Java Runtime Environment)</a:t>
            </a:r>
          </a:p>
          <a:p>
            <a:pPr>
              <a:buNone/>
            </a:pPr>
            <a:r>
              <a:rPr lang="en-IN" dirty="0"/>
              <a:t>JRE is the </a:t>
            </a:r>
            <a:r>
              <a:rPr lang="en-IN" b="1" dirty="0"/>
              <a:t>environment required to run Java programs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It contains:</a:t>
            </a:r>
          </a:p>
          <a:p>
            <a:r>
              <a:rPr lang="en-IN" dirty="0"/>
              <a:t>JVM</a:t>
            </a:r>
          </a:p>
          <a:p>
            <a:r>
              <a:rPr lang="en-IN" dirty="0"/>
              <a:t>Java libraries</a:t>
            </a:r>
          </a:p>
          <a:p>
            <a:r>
              <a:rPr lang="en-IN" dirty="0"/>
              <a:t>Supporting files</a:t>
            </a:r>
          </a:p>
          <a:p>
            <a:pPr>
              <a:buNone/>
            </a:pPr>
            <a:r>
              <a:rPr lang="en-IN" b="1" dirty="0"/>
              <a:t>Technical Definition</a:t>
            </a:r>
          </a:p>
          <a:p>
            <a:pPr>
              <a:buNone/>
            </a:pPr>
            <a:r>
              <a:rPr lang="en-IN" dirty="0"/>
              <a:t>JRE provides the </a:t>
            </a:r>
            <a:r>
              <a:rPr lang="en-IN" b="1" dirty="0"/>
              <a:t>runtime environment for executing Java programs</a:t>
            </a:r>
            <a:r>
              <a:rPr lang="en-IN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3DF67-7F2A-03A9-AEF1-116A1929EF5A}"/>
              </a:ext>
            </a:extLst>
          </p:cNvPr>
          <p:cNvSpPr txBox="1"/>
          <p:nvPr/>
        </p:nvSpPr>
        <p:spPr>
          <a:xfrm>
            <a:off x="81998" y="3076805"/>
            <a:ext cx="61473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 Time Example of JRE</a:t>
            </a:r>
          </a:p>
          <a:p>
            <a:pPr>
              <a:buNone/>
            </a:pPr>
            <a:r>
              <a:rPr lang="en-US" dirty="0"/>
              <a:t>Think of </a:t>
            </a:r>
            <a:r>
              <a:rPr lang="en-US" b="1" dirty="0"/>
              <a:t>JRE as a car engine system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To run a car you need:</a:t>
            </a:r>
          </a:p>
          <a:p>
            <a:r>
              <a:rPr lang="en-US" dirty="0"/>
              <a:t>Engine</a:t>
            </a:r>
          </a:p>
          <a:p>
            <a:r>
              <a:rPr lang="en-US" dirty="0"/>
              <a:t>Fuel system</a:t>
            </a:r>
          </a:p>
          <a:p>
            <a:r>
              <a:rPr lang="en-US" dirty="0"/>
              <a:t>Cooling system</a:t>
            </a:r>
          </a:p>
          <a:p>
            <a:pPr>
              <a:buNone/>
            </a:pPr>
            <a:r>
              <a:rPr lang="en-US" dirty="0"/>
              <a:t>Similarly, to run Java you need:</a:t>
            </a:r>
          </a:p>
          <a:p>
            <a:r>
              <a:rPr lang="en-US" dirty="0"/>
              <a:t>JVM</a:t>
            </a:r>
          </a:p>
          <a:p>
            <a:r>
              <a:rPr lang="en-US" dirty="0"/>
              <a:t>Libraries</a:t>
            </a:r>
          </a:p>
          <a:p>
            <a:r>
              <a:rPr lang="en-US" dirty="0"/>
              <a:t>Runtime tools</a:t>
            </a:r>
          </a:p>
          <a:p>
            <a:pPr>
              <a:buNone/>
            </a:pPr>
            <a:r>
              <a:rPr lang="en-US" dirty="0"/>
              <a:t>All these together form </a:t>
            </a:r>
            <a:r>
              <a:rPr lang="en-US" b="1" dirty="0"/>
              <a:t>JRE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7187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BF053-3BDE-73C7-74C9-C2598F2B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-23122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Scanner Class &amp; Data Input Stream in Java</a:t>
            </a:r>
            <a:br>
              <a:rPr lang="en-US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3AAC-692A-8A30-8961-DD4ACF480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78" y="431558"/>
            <a:ext cx="10515600" cy="10169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Used for </a:t>
            </a:r>
            <a:r>
              <a:rPr lang="en-US" sz="2000" b="1" dirty="0"/>
              <a:t>reading input in Java programs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Accept </a:t>
            </a:r>
            <a:r>
              <a:rPr lang="en-US" sz="2000" b="1" dirty="0"/>
              <a:t>data from user</a:t>
            </a:r>
            <a:endParaRPr lang="en-US" sz="20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E24B6-086C-A77F-0F5F-AE7AA5160F69}"/>
              </a:ext>
            </a:extLst>
          </p:cNvPr>
          <p:cNvSpPr txBox="1"/>
          <p:nvPr/>
        </p:nvSpPr>
        <p:spPr>
          <a:xfrm>
            <a:off x="172278" y="1263858"/>
            <a:ext cx="6097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What is Scanner Class?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16C7D8-C5B7-1C4A-B168-B6E22534C630}"/>
              </a:ext>
            </a:extLst>
          </p:cNvPr>
          <p:cNvSpPr txBox="1"/>
          <p:nvPr/>
        </p:nvSpPr>
        <p:spPr>
          <a:xfrm>
            <a:off x="172278" y="1787078"/>
            <a:ext cx="60976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+mj-lt"/>
              </a:rPr>
              <a:t>The </a:t>
            </a:r>
            <a:r>
              <a:rPr lang="en-US" sz="2000" b="1" dirty="0">
                <a:latin typeface="+mj-lt"/>
              </a:rPr>
              <a:t>Scanner class</a:t>
            </a:r>
            <a:r>
              <a:rPr lang="en-US" sz="2000" dirty="0">
                <a:latin typeface="+mj-lt"/>
              </a:rPr>
              <a:t> is used to </a:t>
            </a:r>
            <a:r>
              <a:rPr lang="en-US" sz="2000" b="1" dirty="0">
                <a:latin typeface="+mj-lt"/>
              </a:rPr>
              <a:t>take input from the user</a:t>
            </a:r>
            <a:r>
              <a:rPr lang="en-US" sz="2000" dirty="0">
                <a:latin typeface="+mj-lt"/>
              </a:rPr>
              <a:t>.</a:t>
            </a:r>
          </a:p>
          <a:p>
            <a:pPr>
              <a:buNone/>
            </a:pPr>
            <a:r>
              <a:rPr lang="en-US" sz="2000" dirty="0">
                <a:latin typeface="+mj-lt"/>
              </a:rPr>
              <a:t>It is available in the package:</a:t>
            </a:r>
          </a:p>
          <a:p>
            <a:pPr rtl="0">
              <a:buNone/>
            </a:pPr>
            <a:r>
              <a:rPr lang="en-US" sz="2000" dirty="0">
                <a:latin typeface="+mj-lt"/>
              </a:rPr>
              <a:t>import </a:t>
            </a:r>
            <a:r>
              <a:rPr lang="en-US" sz="2000" dirty="0" err="1">
                <a:latin typeface="+mj-lt"/>
              </a:rPr>
              <a:t>java.util.Scanner</a:t>
            </a:r>
            <a:r>
              <a:rPr lang="en-US" sz="2000" dirty="0">
                <a:latin typeface="+mj-lt"/>
              </a:rPr>
              <a:t>;</a:t>
            </a:r>
          </a:p>
          <a:p>
            <a:pPr rtl="0">
              <a:buNone/>
            </a:pPr>
            <a:endParaRPr lang="en-US" sz="2000" dirty="0">
              <a:latin typeface="+mj-lt"/>
            </a:endParaRPr>
          </a:p>
          <a:p>
            <a:pPr>
              <a:buNone/>
            </a:pPr>
            <a:r>
              <a:rPr lang="en-US" sz="2000" b="1" dirty="0">
                <a:latin typeface="+mj-lt"/>
              </a:rPr>
              <a:t>Technical Definition</a:t>
            </a:r>
          </a:p>
          <a:p>
            <a:pPr>
              <a:buNone/>
            </a:pPr>
            <a:r>
              <a:rPr lang="en-US" sz="2000" dirty="0">
                <a:latin typeface="+mj-lt"/>
              </a:rPr>
              <a:t>Scanner class reads </a:t>
            </a:r>
            <a:r>
              <a:rPr lang="en-US" sz="2000" b="1" dirty="0">
                <a:latin typeface="+mj-lt"/>
              </a:rPr>
              <a:t>different types of input from keyboard, files, or streams</a:t>
            </a:r>
            <a:r>
              <a:rPr lang="en-US" sz="2000" dirty="0">
                <a:latin typeface="+mj-lt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7A48EF-554A-6BDA-59C6-91E0466179C2}"/>
              </a:ext>
            </a:extLst>
          </p:cNvPr>
          <p:cNvSpPr txBox="1"/>
          <p:nvPr/>
        </p:nvSpPr>
        <p:spPr>
          <a:xfrm>
            <a:off x="172278" y="4232630"/>
            <a:ext cx="60976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 Time Example (Scanner)</a:t>
            </a:r>
          </a:p>
          <a:p>
            <a:pPr>
              <a:buNone/>
            </a:pPr>
            <a:r>
              <a:rPr lang="en-US" dirty="0"/>
              <a:t>Example: </a:t>
            </a:r>
            <a:r>
              <a:rPr lang="en-US" b="1" dirty="0"/>
              <a:t>ATM Machine</a:t>
            </a:r>
            <a:endParaRPr lang="en-US" dirty="0"/>
          </a:p>
          <a:p>
            <a:pPr>
              <a:buNone/>
            </a:pPr>
            <a:r>
              <a:rPr lang="en-US" dirty="0"/>
              <a:t>ATM asks for:</a:t>
            </a:r>
          </a:p>
          <a:p>
            <a:r>
              <a:rPr lang="en-US" dirty="0"/>
              <a:t>PIN</a:t>
            </a:r>
          </a:p>
          <a:p>
            <a:r>
              <a:rPr lang="en-US" dirty="0"/>
              <a:t>Amount</a:t>
            </a:r>
          </a:p>
          <a:p>
            <a:pPr>
              <a:buNone/>
            </a:pPr>
            <a:r>
              <a:rPr lang="en-US" dirty="0"/>
              <a:t>User enters data using </a:t>
            </a:r>
            <a:r>
              <a:rPr lang="en-US" b="1" dirty="0"/>
              <a:t>keyboard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Similarly: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Scanner → Reads user input from keyboard</a:t>
            </a:r>
          </a:p>
        </p:txBody>
      </p:sp>
    </p:spTree>
    <p:extLst>
      <p:ext uri="{BB962C8B-B14F-4D97-AF65-F5344CB8AC3E}">
        <p14:creationId xmlns:p14="http://schemas.microsoft.com/office/powerpoint/2010/main" val="4185884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6486B1-05E6-0038-9999-57C47548C768}"/>
              </a:ext>
            </a:extLst>
          </p:cNvPr>
          <p:cNvSpPr txBox="1"/>
          <p:nvPr/>
        </p:nvSpPr>
        <p:spPr>
          <a:xfrm>
            <a:off x="255933" y="16320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Scanner Example Program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D66FCE-2E3B-743E-C2F4-CE722DE5F744}"/>
              </a:ext>
            </a:extLst>
          </p:cNvPr>
          <p:cNvSpPr txBox="1"/>
          <p:nvPr/>
        </p:nvSpPr>
        <p:spPr>
          <a:xfrm>
            <a:off x="255933" y="455144"/>
            <a:ext cx="60976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InputExample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public static void main(String </a:t>
            </a:r>
            <a:r>
              <a:rPr lang="en-IN" dirty="0" err="1"/>
              <a:t>args</a:t>
            </a:r>
            <a:r>
              <a:rPr lang="en-IN" dirty="0"/>
              <a:t>[]) {</a:t>
            </a:r>
          </a:p>
          <a:p>
            <a:endParaRPr lang="en-IN" dirty="0"/>
          </a:p>
          <a:p>
            <a:r>
              <a:rPr lang="en-IN" dirty="0"/>
              <a:t>        Scanner </a:t>
            </a:r>
            <a:r>
              <a:rPr lang="en-IN" dirty="0" err="1"/>
              <a:t>sc</a:t>
            </a:r>
            <a:r>
              <a:rPr lang="en-IN" dirty="0"/>
              <a:t> = new Scanner(System.in);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</a:t>
            </a:r>
            <a:r>
              <a:rPr lang="en-IN" dirty="0"/>
              <a:t>("Enter your name: ");</a:t>
            </a:r>
          </a:p>
          <a:p>
            <a:r>
              <a:rPr lang="en-IN" dirty="0"/>
              <a:t>        String name = </a:t>
            </a:r>
            <a:r>
              <a:rPr lang="en-IN" dirty="0" err="1"/>
              <a:t>sc.nextLine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("Hello " + name);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B5DEB2-13AF-2373-F5F7-624C119B8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132681"/>
              </p:ext>
            </p:extLst>
          </p:nvPr>
        </p:nvGraphicFramePr>
        <p:xfrm>
          <a:off x="132521" y="4573788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292799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16916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052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nextInt()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25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nextDouble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decimal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2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nextLine()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full sentence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881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next()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single 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686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nextBoolean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Read true/false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690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432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EF188-D9CB-A368-84A1-0424D816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034"/>
            <a:ext cx="10515600" cy="60946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What is Data Input Stream?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9F489-1DAA-9AA2-97C0-C86EAEFD7271}"/>
              </a:ext>
            </a:extLst>
          </p:cNvPr>
          <p:cNvSpPr txBox="1"/>
          <p:nvPr/>
        </p:nvSpPr>
        <p:spPr>
          <a:xfrm>
            <a:off x="119270" y="606287"/>
            <a:ext cx="99192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 Input Stream</a:t>
            </a:r>
            <a:r>
              <a:rPr lang="en-US" dirty="0"/>
              <a:t> is used to </a:t>
            </a:r>
            <a:r>
              <a:rPr lang="en-US" b="1" dirty="0"/>
              <a:t>read primitive data types from input stream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Package: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import java.io.*;</a:t>
            </a:r>
          </a:p>
          <a:p>
            <a:pPr>
              <a:buNone/>
            </a:pPr>
            <a:r>
              <a:rPr lang="en-US" b="1" dirty="0"/>
              <a:t>Technical Definition</a:t>
            </a:r>
          </a:p>
          <a:p>
            <a:pPr>
              <a:buNone/>
            </a:pPr>
            <a:r>
              <a:rPr lang="en-US" dirty="0"/>
              <a:t>Data Input Stream reads </a:t>
            </a:r>
            <a:r>
              <a:rPr lang="en-US" b="1" dirty="0"/>
              <a:t>binary data and primitive values</a:t>
            </a:r>
            <a:r>
              <a:rPr lang="en-US" dirty="0"/>
              <a:t> from input stream.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935F9-3F19-BEB4-BAD6-F244FF343D41}"/>
              </a:ext>
            </a:extLst>
          </p:cNvPr>
          <p:cNvSpPr txBox="1"/>
          <p:nvPr/>
        </p:nvSpPr>
        <p:spPr>
          <a:xfrm>
            <a:off x="119270" y="2164211"/>
            <a:ext cx="61622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 Time Example (Data Input Stream)</a:t>
            </a:r>
          </a:p>
          <a:p>
            <a:pPr>
              <a:buNone/>
            </a:pPr>
            <a:r>
              <a:rPr lang="en-US" dirty="0"/>
              <a:t>Think of </a:t>
            </a:r>
            <a:r>
              <a:rPr lang="en-US" b="1" dirty="0"/>
              <a:t>downloading data from internet or file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Reading </a:t>
            </a:r>
            <a:r>
              <a:rPr lang="en-US" b="1" dirty="0"/>
              <a:t>numbers from file</a:t>
            </a:r>
            <a:endParaRPr lang="en-US" dirty="0"/>
          </a:p>
          <a:p>
            <a:r>
              <a:rPr lang="en-US" dirty="0"/>
              <a:t>Reading </a:t>
            </a:r>
            <a:r>
              <a:rPr lang="en-US" b="1" dirty="0"/>
              <a:t>binary data</a:t>
            </a:r>
            <a:endParaRPr lang="en-US" dirty="0"/>
          </a:p>
          <a:p>
            <a:pPr>
              <a:buNone/>
            </a:pPr>
            <a:r>
              <a:rPr lang="en-US" dirty="0"/>
              <a:t>Data Input Stream helps programs </a:t>
            </a:r>
            <a:r>
              <a:rPr lang="en-US" b="1" dirty="0"/>
              <a:t>read structured data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D5D53A-CA30-A50F-8D15-744AEFA832E9}"/>
              </a:ext>
            </a:extLst>
          </p:cNvPr>
          <p:cNvSpPr txBox="1"/>
          <p:nvPr/>
        </p:nvSpPr>
        <p:spPr>
          <a:xfrm>
            <a:off x="119270" y="3999133"/>
            <a:ext cx="6162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 Input Stream Example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CF1EE5-136B-127E-60B7-40F4AC436753}"/>
              </a:ext>
            </a:extLst>
          </p:cNvPr>
          <p:cNvSpPr txBox="1"/>
          <p:nvPr/>
        </p:nvSpPr>
        <p:spPr>
          <a:xfrm>
            <a:off x="5910470" y="2083615"/>
            <a:ext cx="61622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java.io.*;</a:t>
            </a:r>
          </a:p>
          <a:p>
            <a:endParaRPr lang="en-IN" dirty="0"/>
          </a:p>
          <a:p>
            <a:r>
              <a:rPr lang="en-IN" dirty="0"/>
              <a:t>class Test {</a:t>
            </a:r>
          </a:p>
          <a:p>
            <a:endParaRPr lang="en-IN" dirty="0"/>
          </a:p>
          <a:p>
            <a:r>
              <a:rPr lang="en-IN" dirty="0"/>
              <a:t>    public static void main(String </a:t>
            </a:r>
            <a:r>
              <a:rPr lang="en-IN" dirty="0" err="1"/>
              <a:t>args</a:t>
            </a:r>
            <a:r>
              <a:rPr lang="en-IN" dirty="0"/>
              <a:t>[]) throws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DataInputStream</a:t>
            </a:r>
            <a:r>
              <a:rPr lang="en-IN" dirty="0"/>
              <a:t> d = new </a:t>
            </a:r>
            <a:r>
              <a:rPr lang="en-IN" dirty="0" err="1"/>
              <a:t>DataInputStream</a:t>
            </a:r>
            <a:r>
              <a:rPr lang="en-IN" dirty="0"/>
              <a:t>(System.in);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("Please enter your name");</a:t>
            </a:r>
          </a:p>
          <a:p>
            <a:endParaRPr lang="en-IN" dirty="0"/>
          </a:p>
          <a:p>
            <a:r>
              <a:rPr lang="en-IN" dirty="0"/>
              <a:t>        String str = </a:t>
            </a:r>
            <a:r>
              <a:rPr lang="en-IN" dirty="0" err="1"/>
              <a:t>d.readLine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("Your name is " + str);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089895-B8B5-3412-9002-CAEAAFC413BB}"/>
              </a:ext>
            </a:extLst>
          </p:cNvPr>
          <p:cNvSpPr txBox="1"/>
          <p:nvPr/>
        </p:nvSpPr>
        <p:spPr>
          <a:xfrm>
            <a:off x="218661" y="4368465"/>
            <a:ext cx="6162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 package: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424DE4-2B30-7853-D5EA-D1BD0FAFEC8E}"/>
              </a:ext>
            </a:extLst>
          </p:cNvPr>
          <p:cNvSpPr txBox="1"/>
          <p:nvPr/>
        </p:nvSpPr>
        <p:spPr>
          <a:xfrm>
            <a:off x="119270" y="4668937"/>
            <a:ext cx="6162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java.io.DataInputStream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08340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6CF7B8-ACD6-2C9E-9E33-D0DFFA1B6616}"/>
              </a:ext>
            </a:extLst>
          </p:cNvPr>
          <p:cNvSpPr txBox="1"/>
          <p:nvPr/>
        </p:nvSpPr>
        <p:spPr>
          <a:xfrm>
            <a:off x="0" y="408374"/>
            <a:ext cx="60976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</a:t>
            </a:r>
            <a:r>
              <a:rPr lang="en-US" b="1" dirty="0" err="1"/>
              <a:t>DataInputStream</a:t>
            </a:r>
            <a:r>
              <a:rPr lang="en-US" b="1" dirty="0"/>
              <a:t> is Used</a:t>
            </a:r>
          </a:p>
          <a:p>
            <a:pPr>
              <a:buNone/>
            </a:pPr>
            <a:r>
              <a:rPr lang="en-US" b="1" dirty="0"/>
              <a:t>Purpose of </a:t>
            </a:r>
            <a:r>
              <a:rPr lang="en-US" b="1" dirty="0" err="1"/>
              <a:t>DataInputStream</a:t>
            </a:r>
            <a:endParaRPr lang="en-US" dirty="0"/>
          </a:p>
          <a:p>
            <a:r>
              <a:rPr lang="en-US" dirty="0"/>
              <a:t>To read data from input streams</a:t>
            </a:r>
          </a:p>
          <a:p>
            <a:r>
              <a:rPr lang="en-US" dirty="0"/>
              <a:t>To read primitive data types</a:t>
            </a:r>
          </a:p>
          <a:p>
            <a:r>
              <a:rPr lang="en-US" dirty="0"/>
              <a:t>Used in </a:t>
            </a:r>
            <a:r>
              <a:rPr lang="en-US" b="1" dirty="0"/>
              <a:t>file handling</a:t>
            </a:r>
            <a:endParaRPr lang="en-US" dirty="0"/>
          </a:p>
          <a:p>
            <a:r>
              <a:rPr lang="en-US" dirty="0"/>
              <a:t>Used for </a:t>
            </a:r>
            <a:r>
              <a:rPr lang="en-US" b="1" dirty="0"/>
              <a:t>user input (old method)</a:t>
            </a:r>
            <a:endParaRPr lang="en-US" dirty="0"/>
          </a:p>
          <a:p>
            <a:pPr>
              <a:buNone/>
            </a:pPr>
            <a:r>
              <a:rPr lang="en-US" dirty="0"/>
              <a:t>Example data types:</a:t>
            </a:r>
          </a:p>
          <a:p>
            <a:r>
              <a:rPr lang="en-US" dirty="0"/>
              <a:t>int</a:t>
            </a:r>
          </a:p>
          <a:p>
            <a:r>
              <a:rPr lang="en-US" dirty="0"/>
              <a:t>float</a:t>
            </a:r>
          </a:p>
          <a:p>
            <a:r>
              <a:rPr lang="en-US" dirty="0"/>
              <a:t>double</a:t>
            </a:r>
          </a:p>
          <a:p>
            <a:r>
              <a:rPr lang="en-US" dirty="0"/>
              <a:t>char</a:t>
            </a:r>
          </a:p>
          <a:p>
            <a:r>
              <a:rPr lang="en-US" dirty="0" err="1"/>
              <a:t>boolean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83C633-0091-A19E-DB10-9B5427C601A4}"/>
              </a:ext>
            </a:extLst>
          </p:cNvPr>
          <p:cNvSpPr txBox="1"/>
          <p:nvPr/>
        </p:nvSpPr>
        <p:spPr>
          <a:xfrm>
            <a:off x="-1656" y="395260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Syntax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7A130F-C90D-1E81-2C27-24C74C1B9FF5}"/>
              </a:ext>
            </a:extLst>
          </p:cNvPr>
          <p:cNvSpPr txBox="1"/>
          <p:nvPr/>
        </p:nvSpPr>
        <p:spPr>
          <a:xfrm>
            <a:off x="-109330" y="439309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DataInputStream</a:t>
            </a:r>
            <a:r>
              <a:rPr lang="en-IN" dirty="0"/>
              <a:t> d = new </a:t>
            </a:r>
            <a:r>
              <a:rPr lang="en-IN" dirty="0" err="1"/>
              <a:t>DataInputStream</a:t>
            </a:r>
            <a:r>
              <a:rPr lang="en-IN" dirty="0"/>
              <a:t>(System.in);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90A12AA-8FCA-29B7-194A-F15E1BD31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18252"/>
            <a:ext cx="410740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System.in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standard input stream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object name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096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5B54E01-C83F-6F1A-78D5-FC610EC20D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567922"/>
              </p:ext>
            </p:extLst>
          </p:nvPr>
        </p:nvGraphicFramePr>
        <p:xfrm>
          <a:off x="146602" y="522596"/>
          <a:ext cx="10515600" cy="2194560"/>
        </p:xfrm>
        <a:graphic>
          <a:graphicData uri="http://schemas.openxmlformats.org/drawingml/2006/table">
            <a:tbl>
              <a:tblPr/>
              <a:tblGrid>
                <a:gridCol w="3878746">
                  <a:extLst>
                    <a:ext uri="{9D8B030D-6E8A-4147-A177-3AD203B41FA5}">
                      <a16:colId xmlns:a16="http://schemas.microsoft.com/office/drawing/2014/main" val="1978567437"/>
                    </a:ext>
                  </a:extLst>
                </a:gridCol>
                <a:gridCol w="6636854">
                  <a:extLst>
                    <a:ext uri="{9D8B030D-6E8A-4147-A177-3AD203B41FA5}">
                      <a16:colId xmlns:a16="http://schemas.microsoft.com/office/drawing/2014/main" val="2595571127"/>
                    </a:ext>
                  </a:extLst>
                </a:gridCol>
              </a:tblGrid>
              <a:tr h="362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243392"/>
                  </a:ext>
                </a:extLst>
              </a:tr>
              <a:tr h="362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readInt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Reads integer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593460"/>
                  </a:ext>
                </a:extLst>
              </a:tr>
              <a:tr h="362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readFloat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Reads float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46353"/>
                  </a:ext>
                </a:extLst>
              </a:tr>
              <a:tr h="362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readDouble()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Reads double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128130"/>
                  </a:ext>
                </a:extLst>
              </a:tr>
              <a:tr h="362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readBoolean()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Reads boolean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065849"/>
                  </a:ext>
                </a:extLst>
              </a:tr>
              <a:tr h="362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readLine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Reads string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3853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17A754D-23A1-1011-FCE3-C2C5B55EFC79}"/>
              </a:ext>
            </a:extLst>
          </p:cNvPr>
          <p:cNvSpPr txBox="1"/>
          <p:nvPr/>
        </p:nvSpPr>
        <p:spPr>
          <a:xfrm>
            <a:off x="146602" y="15326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Methods of </a:t>
            </a:r>
            <a:r>
              <a:rPr lang="en-IN" dirty="0" err="1"/>
              <a:t>DataInputStream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BA0C49-E66A-3ECD-2B57-ABB35432065B}"/>
              </a:ext>
            </a:extLst>
          </p:cNvPr>
          <p:cNvSpPr txBox="1"/>
          <p:nvPr/>
        </p:nvSpPr>
        <p:spPr>
          <a:xfrm>
            <a:off x="395081" y="2915787"/>
            <a:ext cx="609765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import java.io.*;</a:t>
            </a:r>
          </a:p>
          <a:p>
            <a:endParaRPr lang="en-IN" sz="1400" dirty="0"/>
          </a:p>
          <a:p>
            <a:r>
              <a:rPr lang="en-IN" sz="1400" dirty="0"/>
              <a:t>class Test {</a:t>
            </a:r>
          </a:p>
          <a:p>
            <a:endParaRPr lang="en-IN" sz="1400" dirty="0"/>
          </a:p>
          <a:p>
            <a:r>
              <a:rPr lang="en-IN" sz="1400" dirty="0"/>
              <a:t>    public static void main(String </a:t>
            </a:r>
            <a:r>
              <a:rPr lang="en-IN" sz="1400" dirty="0" err="1"/>
              <a:t>args</a:t>
            </a:r>
            <a:r>
              <a:rPr lang="en-IN" sz="1400" dirty="0"/>
              <a:t>[]) throws </a:t>
            </a:r>
            <a:r>
              <a:rPr lang="en-IN" sz="1400" dirty="0" err="1"/>
              <a:t>IOException</a:t>
            </a:r>
            <a:r>
              <a:rPr lang="en-IN" sz="1400" dirty="0"/>
              <a:t> {</a:t>
            </a:r>
          </a:p>
          <a:p>
            <a:endParaRPr lang="en-IN" sz="1400" dirty="0"/>
          </a:p>
          <a:p>
            <a:r>
              <a:rPr lang="en-IN" sz="1400" dirty="0"/>
              <a:t>        </a:t>
            </a:r>
            <a:r>
              <a:rPr lang="en-IN" sz="1400" dirty="0" err="1"/>
              <a:t>DataInputStream</a:t>
            </a:r>
            <a:r>
              <a:rPr lang="en-IN" sz="1400" dirty="0"/>
              <a:t> d = new </a:t>
            </a:r>
            <a:r>
              <a:rPr lang="en-IN" sz="1400" dirty="0" err="1"/>
              <a:t>DataInputStream</a:t>
            </a:r>
            <a:r>
              <a:rPr lang="en-IN" sz="1400" dirty="0"/>
              <a:t>(System.in);</a:t>
            </a:r>
          </a:p>
          <a:p>
            <a:endParaRPr lang="en-IN" sz="1400" dirty="0"/>
          </a:p>
          <a:p>
            <a:r>
              <a:rPr lang="en-IN" sz="1400" dirty="0"/>
              <a:t>        </a:t>
            </a:r>
            <a:r>
              <a:rPr lang="en-IN" sz="1400" dirty="0" err="1"/>
              <a:t>System.out.println</a:t>
            </a:r>
            <a:r>
              <a:rPr lang="en-IN" sz="1400" dirty="0"/>
              <a:t>("Please enter your name");</a:t>
            </a:r>
          </a:p>
          <a:p>
            <a:endParaRPr lang="en-IN" sz="1400" dirty="0"/>
          </a:p>
          <a:p>
            <a:r>
              <a:rPr lang="en-IN" sz="1400" dirty="0"/>
              <a:t>        String str = </a:t>
            </a:r>
            <a:r>
              <a:rPr lang="en-IN" sz="1400" dirty="0" err="1"/>
              <a:t>d.readLine</a:t>
            </a:r>
            <a:r>
              <a:rPr lang="en-IN" sz="1400" dirty="0"/>
              <a:t>();</a:t>
            </a:r>
          </a:p>
          <a:p>
            <a:endParaRPr lang="en-IN" sz="1400" dirty="0"/>
          </a:p>
          <a:p>
            <a:r>
              <a:rPr lang="en-IN" sz="1400" dirty="0"/>
              <a:t>        </a:t>
            </a:r>
            <a:r>
              <a:rPr lang="en-IN" sz="1400" dirty="0" err="1"/>
              <a:t>System.out.println</a:t>
            </a:r>
            <a:r>
              <a:rPr lang="en-IN" sz="1400" dirty="0"/>
              <a:t>("Your name is " + str);</a:t>
            </a:r>
          </a:p>
          <a:p>
            <a:r>
              <a:rPr lang="en-IN" sz="1400" dirty="0"/>
              <a:t>    }</a:t>
            </a:r>
          </a:p>
          <a:p>
            <a:endParaRPr lang="en-IN" dirty="0"/>
          </a:p>
          <a:p>
            <a:r>
              <a:rPr lang="en-IN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41248-F47A-5D70-BE82-53DE039A5CC3}"/>
              </a:ext>
            </a:extLst>
          </p:cNvPr>
          <p:cNvSpPr txBox="1"/>
          <p:nvPr/>
        </p:nvSpPr>
        <p:spPr>
          <a:xfrm>
            <a:off x="146602" y="263180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Program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A3D187-EEAE-1042-92F2-5FF65CAC39C4}"/>
              </a:ext>
            </a:extLst>
          </p:cNvPr>
          <p:cNvSpPr txBox="1"/>
          <p:nvPr/>
        </p:nvSpPr>
        <p:spPr>
          <a:xfrm>
            <a:off x="6741215" y="273112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D8E721-7B3C-CC53-2218-76A598A46DD2}"/>
              </a:ext>
            </a:extLst>
          </p:cNvPr>
          <p:cNvSpPr txBox="1"/>
          <p:nvPr/>
        </p:nvSpPr>
        <p:spPr>
          <a:xfrm>
            <a:off x="6741215" y="3217515"/>
            <a:ext cx="64208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Please enter your name</a:t>
            </a:r>
          </a:p>
          <a:p>
            <a:r>
              <a:rPr lang="en-IN" dirty="0"/>
              <a:t>Kavi</a:t>
            </a:r>
          </a:p>
          <a:p>
            <a:r>
              <a:rPr lang="en-IN" dirty="0"/>
              <a:t>Your name is Kavi</a:t>
            </a:r>
          </a:p>
        </p:txBody>
      </p:sp>
    </p:spTree>
    <p:extLst>
      <p:ext uri="{BB962C8B-B14F-4D97-AF65-F5344CB8AC3E}">
        <p14:creationId xmlns:p14="http://schemas.microsoft.com/office/powerpoint/2010/main" val="3180997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DDB934-8931-530C-1F58-844EA67ECBFD}"/>
              </a:ext>
            </a:extLst>
          </p:cNvPr>
          <p:cNvSpPr txBox="1"/>
          <p:nvPr/>
        </p:nvSpPr>
        <p:spPr>
          <a:xfrm>
            <a:off x="315567" y="183082"/>
            <a:ext cx="60976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Advantages of </a:t>
            </a:r>
            <a:r>
              <a:rPr lang="en-US" dirty="0" err="1"/>
              <a:t>DataInputStream</a:t>
            </a:r>
            <a:endParaRPr lang="en-US" dirty="0"/>
          </a:p>
          <a:p>
            <a:r>
              <a:rPr lang="en-US" dirty="0"/>
              <a:t>Reads primitive data types easily</a:t>
            </a:r>
          </a:p>
          <a:p>
            <a:r>
              <a:rPr lang="en-US" dirty="0"/>
              <a:t>Works with binary data</a:t>
            </a:r>
          </a:p>
          <a:p>
            <a:r>
              <a:rPr lang="en-US" dirty="0"/>
              <a:t>Useful for file handling</a:t>
            </a:r>
          </a:p>
          <a:p>
            <a:r>
              <a:rPr lang="en-US" dirty="0"/>
              <a:t>Supports multiple data types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Slide 9 – Disadvantages</a:t>
            </a:r>
          </a:p>
          <a:p>
            <a:r>
              <a:rPr lang="en-US" dirty="0"/>
              <a:t>Disadvantages</a:t>
            </a:r>
          </a:p>
          <a:p>
            <a:r>
              <a:rPr lang="en-US" dirty="0" err="1"/>
              <a:t>readLine</a:t>
            </a:r>
            <a:r>
              <a:rPr lang="en-US" dirty="0"/>
              <a:t>() method is deprecated</a:t>
            </a:r>
          </a:p>
          <a:p>
            <a:r>
              <a:rPr lang="en-US" dirty="0"/>
              <a:t>Not commonly used in modern Java</a:t>
            </a:r>
          </a:p>
          <a:p>
            <a:r>
              <a:rPr lang="en-US" dirty="0"/>
              <a:t>Scanner class is easier to use</a:t>
            </a:r>
          </a:p>
        </p:txBody>
      </p:sp>
    </p:spTree>
    <p:extLst>
      <p:ext uri="{BB962C8B-B14F-4D97-AF65-F5344CB8AC3E}">
        <p14:creationId xmlns:p14="http://schemas.microsoft.com/office/powerpoint/2010/main" val="2219189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DECF57A-06A6-172A-32A8-D9CA43A60369}"/>
              </a:ext>
            </a:extLst>
          </p:cNvPr>
          <p:cNvSpPr txBox="1"/>
          <p:nvPr/>
        </p:nvSpPr>
        <p:spPr>
          <a:xfrm>
            <a:off x="156541" y="225778"/>
            <a:ext cx="6097656" cy="217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buNone/>
            </a:pPr>
            <a:r>
              <a:rPr lang="en-IN" b="1" dirty="0">
                <a:effectLst/>
                <a:latin typeface="system-ui"/>
              </a:rPr>
              <a:t>Variables</a:t>
            </a:r>
          </a:p>
          <a:p>
            <a:pPr algn="l">
              <a:spcBef>
                <a:spcPts val="900"/>
              </a:spcBef>
            </a:pPr>
            <a:r>
              <a:rPr lang="en-IN" b="0" i="0" dirty="0">
                <a:effectLst/>
                <a:latin typeface="system-ui"/>
              </a:rPr>
              <a:t>A variable is a </a:t>
            </a:r>
            <a:r>
              <a:rPr lang="en-IN" b="1" i="0" dirty="0">
                <a:effectLst/>
                <a:latin typeface="system-ui"/>
              </a:rPr>
              <a:t>container that stores data</a:t>
            </a:r>
            <a:endParaRPr lang="en-IN" b="0" i="0" dirty="0">
              <a:effectLst/>
              <a:latin typeface="system-ui"/>
            </a:endParaRPr>
          </a:p>
          <a:p>
            <a:pPr algn="l">
              <a:spcBef>
                <a:spcPts val="900"/>
              </a:spcBef>
            </a:pPr>
            <a:r>
              <a:rPr lang="en-IN" b="0" i="0" dirty="0">
                <a:effectLst/>
                <a:latin typeface="system-ui"/>
              </a:rPr>
              <a:t>Analogy used: A </a:t>
            </a:r>
            <a:r>
              <a:rPr lang="en-IN" b="1" i="0" dirty="0">
                <a:effectLst/>
                <a:latin typeface="system-ui"/>
              </a:rPr>
              <a:t>fish pond</a:t>
            </a:r>
            <a:r>
              <a:rPr lang="en-IN" b="0" i="0" dirty="0">
                <a:effectLst/>
                <a:latin typeface="system-ui"/>
              </a:rPr>
              <a:t> = container, </a:t>
            </a:r>
            <a:r>
              <a:rPr lang="en-IN" b="1" i="0" dirty="0">
                <a:effectLst/>
                <a:latin typeface="system-ui"/>
              </a:rPr>
              <a:t>fish</a:t>
            </a:r>
            <a:r>
              <a:rPr lang="en-IN" b="0" i="0" dirty="0">
                <a:effectLst/>
                <a:latin typeface="system-ui"/>
              </a:rPr>
              <a:t> = data stored inside</a:t>
            </a:r>
          </a:p>
          <a:p>
            <a:pPr algn="l">
              <a:spcBef>
                <a:spcPts val="900"/>
              </a:spcBef>
            </a:pPr>
            <a:r>
              <a:rPr lang="en-IN" b="0" i="0" dirty="0">
                <a:effectLst/>
                <a:latin typeface="system-ui"/>
              </a:rPr>
              <a:t>Just like a fish pond holds only fish, a variable holds only its defined data type</a:t>
            </a:r>
          </a:p>
          <a:p>
            <a:pPr algn="l">
              <a:lnSpc>
                <a:spcPts val="1800"/>
              </a:lnSpc>
              <a:spcBef>
                <a:spcPts val="900"/>
              </a:spcBef>
            </a:pPr>
            <a:r>
              <a:rPr lang="en-IN" b="1" i="0" dirty="0">
                <a:effectLst/>
                <a:latin typeface="system-ui"/>
              </a:rPr>
              <a:t>Syntax:</a:t>
            </a:r>
            <a:r>
              <a:rPr lang="en-IN" b="0" i="0" dirty="0">
                <a:effectLst/>
                <a:latin typeface="system-ui"/>
              </a:rPr>
              <a:t> </a:t>
            </a:r>
            <a:r>
              <a:rPr lang="en-IN" b="0" i="0" dirty="0" err="1">
                <a:effectLst/>
                <a:latin typeface="Courier New" panose="02070309020205020404" pitchFamily="49" charset="0"/>
              </a:rPr>
              <a:t>dataType</a:t>
            </a:r>
            <a:r>
              <a:rPr lang="en-IN" b="0" i="0" dirty="0"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 err="1">
                <a:effectLst/>
                <a:latin typeface="Courier New" panose="02070309020205020404" pitchFamily="49" charset="0"/>
              </a:rPr>
              <a:t>variableName</a:t>
            </a:r>
            <a:r>
              <a:rPr lang="en-IN" b="0" i="0" dirty="0">
                <a:effectLst/>
                <a:latin typeface="Courier New" panose="02070309020205020404" pitchFamily="49" charset="0"/>
              </a:rPr>
              <a:t> = value;</a:t>
            </a:r>
            <a:endParaRPr lang="en-IN" b="0" i="0" dirty="0">
              <a:effectLst/>
              <a:latin typeface="system-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3846E-E557-7F65-454C-C4BAAF7639ED}"/>
              </a:ext>
            </a:extLst>
          </p:cNvPr>
          <p:cNvSpPr txBox="1"/>
          <p:nvPr/>
        </p:nvSpPr>
        <p:spPr>
          <a:xfrm>
            <a:off x="255932" y="2528716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Eg:</a:t>
            </a:r>
          </a:p>
          <a:p>
            <a:r>
              <a:rPr lang="en-IN" dirty="0"/>
              <a:t>int container = 67;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2AC4F2-DCFC-1559-586B-8D605A08BEEA}"/>
              </a:ext>
            </a:extLst>
          </p:cNvPr>
          <p:cNvSpPr txBox="1"/>
          <p:nvPr/>
        </p:nvSpPr>
        <p:spPr>
          <a:xfrm>
            <a:off x="255931" y="3175047"/>
            <a:ext cx="599826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buNone/>
            </a:pPr>
            <a:r>
              <a:rPr lang="en-US" b="1" dirty="0">
                <a:solidFill>
                  <a:srgbClr val="E3E3E8"/>
                </a:solidFill>
                <a:effectLst/>
                <a:latin typeface="system-ui"/>
              </a:rPr>
              <a:t> </a:t>
            </a:r>
            <a:r>
              <a:rPr lang="en-US" b="1" dirty="0">
                <a:effectLst/>
                <a:latin typeface="system-ui"/>
              </a:rPr>
              <a:t>Data Types</a:t>
            </a:r>
          </a:p>
          <a:p>
            <a:pPr algn="l">
              <a:spcBef>
                <a:spcPts val="900"/>
              </a:spcBef>
              <a:buNone/>
            </a:pPr>
            <a:r>
              <a:rPr lang="en-US" b="0" i="0" dirty="0">
                <a:effectLst/>
                <a:latin typeface="system-ui"/>
              </a:rPr>
              <a:t>Defines </a:t>
            </a:r>
            <a:r>
              <a:rPr lang="en-US" b="1" i="0" dirty="0">
                <a:effectLst/>
                <a:latin typeface="system-ui"/>
              </a:rPr>
              <a:t>what type of data</a:t>
            </a:r>
            <a:r>
              <a:rPr lang="en-US" b="0" i="0" dirty="0">
                <a:effectLst/>
                <a:latin typeface="system-ui"/>
              </a:rPr>
              <a:t> will be stored in the variable.</a:t>
            </a:r>
          </a:p>
          <a:p>
            <a:pPr>
              <a:spcBef>
                <a:spcPts val="900"/>
              </a:spcBef>
            </a:pPr>
            <a:r>
              <a:rPr lang="en-US" b="0" i="0" dirty="0">
                <a:effectLst/>
                <a:latin typeface="system-ui"/>
              </a:rPr>
              <a:t>Data Ty</a:t>
            </a:r>
            <a:r>
              <a:rPr lang="en-US" dirty="0">
                <a:latin typeface="system-ui"/>
              </a:rPr>
              <a:t>pe: </a:t>
            </a:r>
            <a:r>
              <a:rPr lang="en-IN" dirty="0"/>
              <a:t>int</a:t>
            </a:r>
            <a:endParaRPr lang="en-US" dirty="0">
              <a:latin typeface="system-ui"/>
            </a:endParaRPr>
          </a:p>
          <a:p>
            <a:pPr>
              <a:spcBef>
                <a:spcPts val="900"/>
              </a:spcBef>
            </a:pPr>
            <a:r>
              <a:rPr lang="en-US" b="0" i="0" dirty="0">
                <a:effectLst/>
                <a:latin typeface="system-ui"/>
              </a:rPr>
              <a:t>Description: </a:t>
            </a:r>
            <a:r>
              <a:rPr lang="en-IN" dirty="0"/>
              <a:t>Integer (whole numbers)</a:t>
            </a:r>
            <a:endParaRPr lang="en-US" b="0" i="0" dirty="0">
              <a:effectLst/>
              <a:latin typeface="system-ui"/>
            </a:endParaRPr>
          </a:p>
          <a:p>
            <a:pPr>
              <a:spcBef>
                <a:spcPts val="900"/>
              </a:spcBef>
            </a:pPr>
            <a:r>
              <a:rPr lang="en-US" dirty="0">
                <a:latin typeface="system-ui"/>
              </a:rPr>
              <a:t>Example: </a:t>
            </a:r>
            <a:r>
              <a:rPr lang="en-IN" dirty="0"/>
              <a:t>int a = 10;</a:t>
            </a:r>
          </a:p>
          <a:p>
            <a:pPr>
              <a:spcBef>
                <a:spcPts val="900"/>
              </a:spcBef>
            </a:pPr>
            <a:endParaRPr lang="en-IN" b="0" i="0" dirty="0">
              <a:effectLst/>
              <a:latin typeface="system-ui"/>
            </a:endParaRPr>
          </a:p>
          <a:p>
            <a:pPr>
              <a:spcBef>
                <a:spcPts val="900"/>
              </a:spcBef>
            </a:pPr>
            <a:r>
              <a:rPr lang="en-US" dirty="0">
                <a:latin typeface="system-ui"/>
              </a:rPr>
              <a:t>Data Type:</a:t>
            </a:r>
            <a:r>
              <a:rPr lang="en-IN" dirty="0"/>
              <a:t>String</a:t>
            </a:r>
          </a:p>
          <a:p>
            <a:pPr>
              <a:spcBef>
                <a:spcPts val="900"/>
              </a:spcBef>
            </a:pPr>
            <a:r>
              <a:rPr lang="en-US" dirty="0">
                <a:latin typeface="system-ui"/>
              </a:rPr>
              <a:t>Description: </a:t>
            </a:r>
            <a:r>
              <a:rPr lang="en-IN" dirty="0">
                <a:latin typeface="system-ui"/>
              </a:rPr>
              <a:t>Text / letters</a:t>
            </a:r>
            <a:endParaRPr lang="en-US" dirty="0">
              <a:latin typeface="system-ui"/>
            </a:endParaRPr>
          </a:p>
          <a:p>
            <a:pPr>
              <a:spcBef>
                <a:spcPts val="900"/>
              </a:spcBef>
            </a:pPr>
            <a:r>
              <a:rPr lang="en-US" dirty="0">
                <a:latin typeface="system-ui"/>
              </a:rPr>
              <a:t>Example: </a:t>
            </a:r>
            <a:r>
              <a:rPr lang="en-IN" dirty="0"/>
              <a:t>String name = "John";</a:t>
            </a:r>
            <a:endParaRPr lang="en-IN" dirty="0">
              <a:latin typeface="system-ui"/>
            </a:endParaRPr>
          </a:p>
          <a:p>
            <a:pPr>
              <a:spcBef>
                <a:spcPts val="900"/>
              </a:spcBef>
            </a:pPr>
            <a:endParaRPr lang="en-IN" dirty="0"/>
          </a:p>
          <a:p>
            <a:pPr>
              <a:spcBef>
                <a:spcPts val="900"/>
              </a:spcBef>
            </a:pPr>
            <a:endParaRPr lang="en-IN" dirty="0">
              <a:latin typeface="system-ui"/>
            </a:endParaRPr>
          </a:p>
          <a:p>
            <a:pPr>
              <a:spcBef>
                <a:spcPts val="900"/>
              </a:spcBef>
            </a:pPr>
            <a:endParaRPr lang="en-US" b="0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2837776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D0D6248-6085-6ACB-806F-09D3EA0F35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9122243"/>
              </p:ext>
            </p:extLst>
          </p:nvPr>
        </p:nvGraphicFramePr>
        <p:xfrm>
          <a:off x="369782" y="1817715"/>
          <a:ext cx="4634234" cy="1935480"/>
        </p:xfrm>
        <a:graphic>
          <a:graphicData uri="http://schemas.openxmlformats.org/drawingml/2006/table">
            <a:tbl>
              <a:tblPr/>
              <a:tblGrid>
                <a:gridCol w="2317117">
                  <a:extLst>
                    <a:ext uri="{9D8B030D-6E8A-4147-A177-3AD203B41FA5}">
                      <a16:colId xmlns:a16="http://schemas.microsoft.com/office/drawing/2014/main" val="4060585452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427832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  <a:buNone/>
                      </a:pPr>
                      <a:r>
                        <a:rPr lang="en-IN" b="0"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endParaRPr lang="en-IN" b="0">
                        <a:effectLst/>
                        <a:latin typeface="system-ui"/>
                      </a:endParaRPr>
                    </a:p>
                  </a:txBody>
                  <a:tcPr marL="121920" marR="121920" marT="121920" marB="121920" anchor="ctr">
                    <a:lnL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  <a:buNone/>
                      </a:pPr>
                      <a:r>
                        <a:rPr lang="en-IN" b="0">
                          <a:effectLst/>
                          <a:latin typeface="system-ui"/>
                        </a:rPr>
                        <a:t>Assignment</a:t>
                      </a:r>
                    </a:p>
                  </a:txBody>
                  <a:tcPr marL="121920" marR="121920" marT="121920" marB="121920" anchor="ctr">
                    <a:lnL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504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  <a:buNone/>
                      </a:pPr>
                      <a:r>
                        <a:rPr lang="en-IN" b="0">
                          <a:effectLst/>
                          <a:latin typeface="Courier New" panose="02070309020205020404" pitchFamily="49" charset="0"/>
                        </a:rPr>
                        <a:t>+</a:t>
                      </a:r>
                      <a:endParaRPr lang="en-IN" b="0">
                        <a:effectLst/>
                        <a:latin typeface="system-ui"/>
                      </a:endParaRPr>
                    </a:p>
                  </a:txBody>
                  <a:tcPr marL="121920" marR="121920" marT="121920" marB="121920" anchor="ctr">
                    <a:lnL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  <a:buNone/>
                      </a:pPr>
                      <a:r>
                        <a:rPr lang="en-IN" b="0">
                          <a:effectLst/>
                          <a:latin typeface="system-ui"/>
                        </a:rPr>
                        <a:t>Addition</a:t>
                      </a:r>
                    </a:p>
                  </a:txBody>
                  <a:tcPr marL="121920" marR="121920" marT="121920" marB="121920" anchor="ctr">
                    <a:lnL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032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  <a:buNone/>
                      </a:pPr>
                      <a:r>
                        <a:rPr lang="en-IN" b="0"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endParaRPr lang="en-IN" b="0">
                        <a:effectLst/>
                        <a:latin typeface="system-ui"/>
                      </a:endParaRPr>
                    </a:p>
                  </a:txBody>
                  <a:tcPr marL="121920" marR="121920" marT="121920" marB="121920" anchor="ctr">
                    <a:lnL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  <a:buNone/>
                      </a:pPr>
                      <a:r>
                        <a:rPr lang="en-IN" b="0">
                          <a:effectLst/>
                          <a:latin typeface="system-ui"/>
                        </a:rPr>
                        <a:t>Subtraction</a:t>
                      </a:r>
                    </a:p>
                  </a:txBody>
                  <a:tcPr marL="121920" marR="121920" marT="121920" marB="121920" anchor="ctr">
                    <a:lnL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202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  <a:buNone/>
                      </a:pPr>
                      <a:r>
                        <a:rPr lang="en-IN" b="0"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endParaRPr lang="en-IN" b="0">
                        <a:effectLst/>
                        <a:latin typeface="system-ui"/>
                      </a:endParaRPr>
                    </a:p>
                  </a:txBody>
                  <a:tcPr marL="121920" marR="121920" marT="121920" marB="121920" anchor="ctr">
                    <a:lnL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system-ui"/>
                        </a:rPr>
                        <a:t>Division</a:t>
                      </a:r>
                    </a:p>
                  </a:txBody>
                  <a:tcPr marL="121920" marR="121920" marT="121920" marB="121920" anchor="ctr">
                    <a:lnL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3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8103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EEEA976-DB0F-E9A3-24F6-1F992C972066}"/>
              </a:ext>
            </a:extLst>
          </p:cNvPr>
          <p:cNvSpPr txBox="1"/>
          <p:nvPr/>
        </p:nvSpPr>
        <p:spPr>
          <a:xfrm>
            <a:off x="136663" y="273183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ystem-ui"/>
              </a:rPr>
              <a:t>Strings must be wrapped in </a:t>
            </a:r>
            <a:r>
              <a:rPr lang="en-US" b="1" i="0" dirty="0">
                <a:effectLst/>
                <a:latin typeface="system-ui"/>
              </a:rPr>
              <a:t>double quotes</a:t>
            </a:r>
            <a:r>
              <a:rPr lang="en-US" b="0" i="0" dirty="0">
                <a:effectLst/>
                <a:latin typeface="system-ui"/>
              </a:rPr>
              <a:t> </a:t>
            </a:r>
            <a:r>
              <a:rPr lang="en-US" b="0" dirty="0">
                <a:effectLst/>
                <a:latin typeface="Courier New" panose="02070309020205020404" pitchFamily="49" charset="0"/>
              </a:rPr>
              <a:t>" "</a:t>
            </a:r>
            <a:r>
              <a:rPr lang="en-US" b="0" i="0" dirty="0">
                <a:effectLst/>
                <a:latin typeface="system-ui"/>
              </a:rPr>
              <a:t> Without quotes, the program treats it as a </a:t>
            </a:r>
            <a:r>
              <a:rPr lang="en-US" b="1" i="0" dirty="0">
                <a:effectLst/>
                <a:latin typeface="system-ui"/>
              </a:rPr>
              <a:t>variable name</a:t>
            </a:r>
            <a:r>
              <a:rPr lang="en-US" b="0" i="0" dirty="0">
                <a:effectLst/>
                <a:latin typeface="system-ui"/>
              </a:rPr>
              <a:t>, not a value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6AF95CF-E1DE-C991-6B83-4E6F325D6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782" y="832927"/>
            <a:ext cx="21160881" cy="98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2352" rIns="0" bIns="15235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Operators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system-ui"/>
              </a:rPr>
              <a:t>Symbols used to perform operations on values</a:t>
            </a:r>
            <a:endParaRPr lang="en-US" altLang="en-US" dirty="0">
              <a:solidFill>
                <a:schemeClr val="tx2"/>
              </a:solidFill>
              <a:latin typeface="system-u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D0B96B-7FC5-63F0-14FC-97A2D902C9AD}"/>
              </a:ext>
            </a:extLst>
          </p:cNvPr>
          <p:cNvSpPr txBox="1"/>
          <p:nvPr/>
        </p:nvSpPr>
        <p:spPr>
          <a:xfrm>
            <a:off x="323881" y="4001807"/>
            <a:ext cx="10766808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buNone/>
            </a:pPr>
            <a:r>
              <a:rPr lang="en-IN" b="1">
                <a:effectLst/>
                <a:latin typeface="system-ui"/>
              </a:rPr>
              <a:t>Programs Demonstrated</a:t>
            </a:r>
            <a:endParaRPr lang="en-IN" b="1" dirty="0">
              <a:effectLst/>
              <a:latin typeface="system-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82454A-A341-0710-4B08-9B1A57A59A94}"/>
              </a:ext>
            </a:extLst>
          </p:cNvPr>
          <p:cNvSpPr txBox="1"/>
          <p:nvPr/>
        </p:nvSpPr>
        <p:spPr>
          <a:xfrm>
            <a:off x="396578" y="4513778"/>
            <a:ext cx="107668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class </a:t>
            </a:r>
            <a:r>
              <a:rPr lang="en-IN" dirty="0" err="1"/>
              <a:t>HelloJava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int container = 67;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(container); // Output: 67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291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E0568-AAE2-5B72-C34A-B528046B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80" y="3279912"/>
            <a:ext cx="6732104" cy="14658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Workout</a:t>
            </a:r>
          </a:p>
          <a:p>
            <a:pPr marL="0" indent="0">
              <a:buNone/>
            </a:pPr>
            <a:r>
              <a:rPr lang="en-US" sz="2000" dirty="0"/>
              <a:t>int a = 10;</a:t>
            </a:r>
          </a:p>
          <a:p>
            <a:pPr marL="0" indent="0">
              <a:buNone/>
            </a:pPr>
            <a:r>
              <a:rPr lang="en-US" sz="2000" dirty="0"/>
              <a:t>int b = 20;</a:t>
            </a:r>
          </a:p>
          <a:p>
            <a:pPr marL="0" indent="0">
              <a:buNone/>
            </a:pPr>
            <a:r>
              <a:rPr lang="en-US" sz="2000" dirty="0"/>
              <a:t>int c = 30;</a:t>
            </a:r>
          </a:p>
          <a:p>
            <a:pPr marL="0" indent="0">
              <a:buNone/>
            </a:pPr>
            <a:r>
              <a:rPr lang="en-US" sz="2000" dirty="0"/>
              <a:t>int d = a + b + c;</a:t>
            </a:r>
          </a:p>
          <a:p>
            <a:pPr marL="0" indent="0">
              <a:buNone/>
            </a:pPr>
            <a:r>
              <a:rPr lang="en-US" sz="2000" dirty="0" err="1"/>
              <a:t>System.out.println</a:t>
            </a:r>
            <a:r>
              <a:rPr lang="en-US" sz="2000" dirty="0"/>
              <a:t>(d); // Output: 60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C5912-45D5-75C5-7CA3-FD16CC70499A}"/>
              </a:ext>
            </a:extLst>
          </p:cNvPr>
          <p:cNvSpPr txBox="1"/>
          <p:nvPr/>
        </p:nvSpPr>
        <p:spPr>
          <a:xfrm>
            <a:off x="166480" y="254601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container = 67;</a:t>
            </a:r>
          </a:p>
          <a:p>
            <a:r>
              <a:rPr lang="en-IN" dirty="0"/>
              <a:t>String container2 = "John";</a:t>
            </a:r>
          </a:p>
          <a:p>
            <a:r>
              <a:rPr lang="en-IN" dirty="0" err="1"/>
              <a:t>System.out.println</a:t>
            </a:r>
            <a:r>
              <a:rPr lang="en-IN" dirty="0"/>
              <a:t>(container);   // Output: 67</a:t>
            </a:r>
          </a:p>
          <a:p>
            <a:r>
              <a:rPr lang="en-IN" dirty="0" err="1"/>
              <a:t>System.out.println</a:t>
            </a:r>
            <a:r>
              <a:rPr lang="en-IN" dirty="0"/>
              <a:t>(container2);  // Output: John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6A77B-EE67-28D5-8056-92B6215FD8C7}"/>
              </a:ext>
            </a:extLst>
          </p:cNvPr>
          <p:cNvSpPr txBox="1"/>
          <p:nvPr/>
        </p:nvSpPr>
        <p:spPr>
          <a:xfrm>
            <a:off x="166480" y="1834564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a = 10;</a:t>
            </a:r>
          </a:p>
          <a:p>
            <a:r>
              <a:rPr lang="en-IN" dirty="0"/>
              <a:t>int b = 20;</a:t>
            </a:r>
          </a:p>
          <a:p>
            <a:r>
              <a:rPr lang="en-IN" dirty="0" err="1"/>
              <a:t>System.out.println</a:t>
            </a:r>
            <a:r>
              <a:rPr lang="en-IN" dirty="0"/>
              <a:t>(a + b); // Output: 30</a:t>
            </a:r>
          </a:p>
        </p:txBody>
      </p:sp>
    </p:spTree>
    <p:extLst>
      <p:ext uri="{BB962C8B-B14F-4D97-AF65-F5344CB8AC3E}">
        <p14:creationId xmlns:p14="http://schemas.microsoft.com/office/powerpoint/2010/main" val="1438357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766ED-4B36-A347-923E-711C988A9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65" y="0"/>
            <a:ext cx="10515600" cy="18586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Key Takeaways</a:t>
            </a:r>
          </a:p>
          <a:p>
            <a:pPr marL="0" indent="0">
              <a:buNone/>
            </a:pPr>
            <a:r>
              <a:rPr lang="en-US" sz="2000" b="1" dirty="0"/>
              <a:t>Variable Name</a:t>
            </a:r>
            <a:r>
              <a:rPr lang="en-US" sz="2000" dirty="0"/>
              <a:t> = the label/name of the container</a:t>
            </a:r>
          </a:p>
          <a:p>
            <a:pPr marL="0" indent="0">
              <a:buNone/>
            </a:pPr>
            <a:r>
              <a:rPr lang="en-US" sz="2000" b="1" dirty="0"/>
              <a:t>Data Type</a:t>
            </a:r>
            <a:r>
              <a:rPr lang="en-US" sz="2000" dirty="0"/>
              <a:t> = the type of data allowed inside (int, String, etc.)</a:t>
            </a:r>
          </a:p>
          <a:p>
            <a:pPr marL="0" indent="0">
              <a:buNone/>
            </a:pPr>
            <a:r>
              <a:rPr lang="en-US" sz="2000" b="1" dirty="0"/>
              <a:t>Value</a:t>
            </a:r>
            <a:r>
              <a:rPr lang="en-US" sz="2000" dirty="0"/>
              <a:t> = the actual data stored inside</a:t>
            </a:r>
          </a:p>
          <a:p>
            <a:pPr marL="0" indent="0">
              <a:buNone/>
            </a:pPr>
            <a:r>
              <a:rPr lang="en-US" sz="2000" b="1" dirty="0"/>
              <a:t>Operators</a:t>
            </a:r>
            <a:r>
              <a:rPr lang="en-US" sz="2000" dirty="0"/>
              <a:t> = symbols to perform operations (=, +, -, /)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003FA-99E9-3626-EA9F-CB9E65AC1D73}"/>
              </a:ext>
            </a:extLst>
          </p:cNvPr>
          <p:cNvSpPr txBox="1"/>
          <p:nvPr/>
        </p:nvSpPr>
        <p:spPr>
          <a:xfrm>
            <a:off x="92765" y="1844175"/>
            <a:ext cx="6097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effectLst/>
                <a:latin typeface="system-ui"/>
              </a:rPr>
              <a:t>Workout</a:t>
            </a:r>
            <a:br>
              <a:rPr lang="en-US" sz="2000" b="0" i="0" dirty="0">
                <a:effectLst/>
                <a:latin typeface="system-ui"/>
              </a:rPr>
            </a:br>
            <a:r>
              <a:rPr lang="en-US" sz="2000" b="0" i="0" dirty="0">
                <a:effectLst/>
                <a:latin typeface="system-ui"/>
              </a:rPr>
              <a:t>Write a program to </a:t>
            </a:r>
            <a:r>
              <a:rPr lang="en-US" sz="2000" b="1" i="0" dirty="0">
                <a:effectLst/>
                <a:latin typeface="system-ui"/>
              </a:rPr>
              <a:t>add three numbers</a:t>
            </a:r>
            <a:r>
              <a:rPr lang="en-US" sz="2000" b="0" i="0" dirty="0">
                <a:effectLst/>
                <a:latin typeface="system-ui"/>
              </a:rPr>
              <a:t> using variables and print the result.</a:t>
            </a:r>
            <a:endParaRPr lang="en-IN" sz="20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18278AD-AD62-764F-1C6E-D66656F8A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05" y="3305266"/>
            <a:ext cx="40991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output formatting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data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Printing formatted values in programs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A04725-471F-807B-45AF-C0B15F302E23}"/>
              </a:ext>
            </a:extLst>
          </p:cNvPr>
          <p:cNvSpPr txBox="1"/>
          <p:nvPr/>
        </p:nvSpPr>
        <p:spPr>
          <a:xfrm>
            <a:off x="186357" y="4228596"/>
            <a:ext cx="60976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What is Output in Java?</a:t>
            </a:r>
          </a:p>
          <a:p>
            <a:pPr>
              <a:buNone/>
            </a:pPr>
            <a:r>
              <a:rPr lang="en-IN" dirty="0"/>
              <a:t>Output means </a:t>
            </a:r>
            <a:r>
              <a:rPr lang="en-IN" b="1" dirty="0"/>
              <a:t>displaying information to the user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Java uses:</a:t>
            </a:r>
          </a:p>
          <a:p>
            <a:r>
              <a:rPr lang="en-IN" dirty="0" err="1">
                <a:latin typeface="Aptos Display" panose="020B0004020202020204" pitchFamily="34" charset="0"/>
              </a:rPr>
              <a:t>System.out.print</a:t>
            </a:r>
            <a:r>
              <a:rPr lang="en-IN" dirty="0">
                <a:latin typeface="Aptos Display" panose="020B0004020202020204" pitchFamily="34" charset="0"/>
              </a:rPr>
              <a:t>()</a:t>
            </a:r>
          </a:p>
          <a:p>
            <a:r>
              <a:rPr lang="en-IN" dirty="0" err="1">
                <a:latin typeface="Aptos Display" panose="020B0004020202020204" pitchFamily="34" charset="0"/>
              </a:rPr>
              <a:t>System.out.println</a:t>
            </a:r>
            <a:r>
              <a:rPr lang="en-IN" dirty="0">
                <a:latin typeface="Aptos Display" panose="020B0004020202020204" pitchFamily="34" charset="0"/>
              </a:rPr>
              <a:t>()</a:t>
            </a:r>
          </a:p>
          <a:p>
            <a:r>
              <a:rPr lang="en-IN" dirty="0" err="1">
                <a:latin typeface="Aptos Display" panose="020B0004020202020204" pitchFamily="34" charset="0"/>
              </a:rPr>
              <a:t>System.out.printf</a:t>
            </a:r>
            <a:r>
              <a:rPr lang="en-IN" dirty="0">
                <a:latin typeface="Aptos Display" panose="020B0004020202020204" pitchFamily="34" charset="0"/>
              </a:rPr>
              <a:t>()</a:t>
            </a:r>
          </a:p>
          <a:p>
            <a:pPr>
              <a:buNone/>
            </a:pPr>
            <a:r>
              <a:rPr lang="en-IN" dirty="0"/>
              <a:t>These methods display </a:t>
            </a:r>
            <a:r>
              <a:rPr lang="en-IN" b="1" dirty="0"/>
              <a:t>text, numbers, and results on the screen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CD5F4-4CDC-C6A9-71D2-0BF808F94879}"/>
              </a:ext>
            </a:extLst>
          </p:cNvPr>
          <p:cNvSpPr txBox="1"/>
          <p:nvPr/>
        </p:nvSpPr>
        <p:spPr>
          <a:xfrm>
            <a:off x="92765" y="285894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Formatting Output in Java &amp; Data Types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64224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A59C70-ABA6-75E7-C4C7-EC7722F910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6611096"/>
              </p:ext>
            </p:extLst>
          </p:nvPr>
        </p:nvGraphicFramePr>
        <p:xfrm>
          <a:off x="212035" y="-77725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0368870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72200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Specifier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853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%d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835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%f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 / 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04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%c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4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%s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053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%b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6876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0C98F3-AE88-6F69-7BEF-4BCADDFB7897}"/>
              </a:ext>
            </a:extLst>
          </p:cNvPr>
          <p:cNvSpPr txBox="1"/>
          <p:nvPr/>
        </p:nvSpPr>
        <p:spPr>
          <a:xfrm>
            <a:off x="212035" y="2116835"/>
            <a:ext cx="6097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</a:t>
            </a:r>
          </a:p>
          <a:p>
            <a:r>
              <a:rPr lang="en-IN" dirty="0"/>
              <a:t>class </a:t>
            </a:r>
            <a:r>
              <a:rPr lang="en-IN" dirty="0" err="1"/>
              <a:t>FormatExample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public static void main(String </a:t>
            </a:r>
            <a:r>
              <a:rPr lang="en-IN" dirty="0" err="1"/>
              <a:t>args</a:t>
            </a:r>
            <a:r>
              <a:rPr lang="en-IN" dirty="0"/>
              <a:t>[]) {</a:t>
            </a:r>
          </a:p>
          <a:p>
            <a:endParaRPr lang="en-IN" dirty="0"/>
          </a:p>
          <a:p>
            <a:r>
              <a:rPr lang="en-IN" dirty="0"/>
              <a:t>        String name = "Kavi";</a:t>
            </a:r>
          </a:p>
          <a:p>
            <a:r>
              <a:rPr lang="en-IN" dirty="0"/>
              <a:t>        int age = 22;</a:t>
            </a:r>
          </a:p>
          <a:p>
            <a:r>
              <a:rPr lang="en-IN" dirty="0"/>
              <a:t>        double marks = 89.567;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System.out.printf</a:t>
            </a:r>
            <a:r>
              <a:rPr lang="en-IN" dirty="0"/>
              <a:t>("Name: %s\n", name);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System.out.printf</a:t>
            </a:r>
            <a:r>
              <a:rPr lang="en-IN" dirty="0"/>
              <a:t>("Age: %d\n", age);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System.out.printf</a:t>
            </a:r>
            <a:r>
              <a:rPr lang="en-IN" dirty="0"/>
              <a:t>("Marks: %.f\n", marks);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4067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BBD09-446B-D127-FE9A-0313CB87D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22" y="0"/>
            <a:ext cx="10515600" cy="379674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/>
              <a:t>Java has two main types of data types</a:t>
            </a:r>
            <a:r>
              <a:rPr lang="en-US" sz="8000" dirty="0"/>
              <a:t>.</a:t>
            </a:r>
          </a:p>
          <a:p>
            <a:pPr marL="0" indent="0">
              <a:buNone/>
            </a:pPr>
            <a:r>
              <a:rPr lang="en-US" sz="7200" b="1" dirty="0"/>
              <a:t> Primitive Data Types</a:t>
            </a:r>
          </a:p>
          <a:p>
            <a:pPr marL="0" indent="0">
              <a:buNone/>
            </a:pPr>
            <a:r>
              <a:rPr lang="en-US" sz="7200" dirty="0"/>
              <a:t>When you declare a variable like int a = 10;, it uses </a:t>
            </a:r>
            <a:r>
              <a:rPr lang="en-US" sz="7200" b="1" dirty="0"/>
              <a:t>4 bytes of memory</a:t>
            </a:r>
            <a:r>
              <a:rPr lang="en-US" sz="7200" dirty="0"/>
              <a:t>.</a:t>
            </a:r>
          </a:p>
          <a:p>
            <a:pPr marL="0" indent="0">
              <a:buNone/>
            </a:pPr>
            <a:r>
              <a:rPr lang="en-US" sz="7200" dirty="0"/>
              <a:t>On the other hand, when you declare a variable like long a = 10;, it uses </a:t>
            </a:r>
            <a:r>
              <a:rPr lang="en-US" sz="7200" b="1" dirty="0"/>
              <a:t>8 bytes of memory</a:t>
            </a:r>
          </a:p>
          <a:p>
            <a:pPr marL="0" indent="0">
              <a:buNone/>
            </a:pPr>
            <a:r>
              <a:rPr lang="en-US" sz="7200" dirty="0"/>
              <a:t>int</a:t>
            </a:r>
          </a:p>
          <a:p>
            <a:pPr marL="0" indent="0">
              <a:buNone/>
            </a:pPr>
            <a:r>
              <a:rPr lang="en-US" sz="7200" dirty="0"/>
              <a:t>float</a:t>
            </a:r>
          </a:p>
          <a:p>
            <a:pPr marL="0" indent="0">
              <a:buNone/>
            </a:pPr>
            <a:r>
              <a:rPr lang="en-US" sz="7200" dirty="0"/>
              <a:t>double</a:t>
            </a:r>
          </a:p>
          <a:p>
            <a:pPr marL="0" indent="0">
              <a:buNone/>
            </a:pPr>
            <a:r>
              <a:rPr lang="en-US" sz="7200" dirty="0"/>
              <a:t>char</a:t>
            </a:r>
          </a:p>
          <a:p>
            <a:pPr marL="0" indent="0">
              <a:buNone/>
            </a:pPr>
            <a:r>
              <a:rPr lang="en-US" sz="7200" dirty="0" err="1"/>
              <a:t>boolean</a:t>
            </a:r>
            <a:endParaRPr lang="en-US" sz="7200" dirty="0"/>
          </a:p>
          <a:p>
            <a:pPr marL="0" indent="0">
              <a:buNone/>
            </a:pPr>
            <a:r>
              <a:rPr lang="en-US" sz="7200" dirty="0"/>
              <a:t>byte</a:t>
            </a:r>
          </a:p>
          <a:p>
            <a:pPr marL="0" indent="0">
              <a:buNone/>
            </a:pPr>
            <a:r>
              <a:rPr lang="en-US" sz="7200" dirty="0"/>
              <a:t>short</a:t>
            </a:r>
          </a:p>
          <a:p>
            <a:pPr marL="0" indent="0">
              <a:buNone/>
            </a:pPr>
            <a:r>
              <a:rPr lang="en-US" sz="7200" dirty="0"/>
              <a:t>Long</a:t>
            </a:r>
          </a:p>
          <a:p>
            <a:pPr marL="0" indent="0">
              <a:buNone/>
            </a:pPr>
            <a:r>
              <a:rPr lang="en-US" sz="7200" b="1" dirty="0"/>
              <a:t>Non-Primitive Data Types</a:t>
            </a:r>
          </a:p>
          <a:p>
            <a:pPr marL="0" indent="0">
              <a:buNone/>
            </a:pPr>
            <a:r>
              <a:rPr lang="en-US" sz="7200" dirty="0"/>
              <a:t>String</a:t>
            </a:r>
          </a:p>
          <a:p>
            <a:pPr marL="0" indent="0">
              <a:buNone/>
            </a:pPr>
            <a:r>
              <a:rPr lang="en-US" sz="7200" dirty="0"/>
              <a:t>Array</a:t>
            </a:r>
          </a:p>
          <a:p>
            <a:pPr marL="0" indent="0">
              <a:buNone/>
            </a:pPr>
            <a:r>
              <a:rPr lang="en-US" sz="7200" dirty="0"/>
              <a:t>Class</a:t>
            </a:r>
          </a:p>
          <a:p>
            <a:pPr marL="0" indent="0">
              <a:buNone/>
            </a:pPr>
            <a:r>
              <a:rPr lang="en-US" sz="7200" dirty="0"/>
              <a:t>Object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34273-1F94-602A-6F20-BD1FD31EE203}"/>
              </a:ext>
            </a:extLst>
          </p:cNvPr>
          <p:cNvSpPr txBox="1"/>
          <p:nvPr/>
        </p:nvSpPr>
        <p:spPr>
          <a:xfrm>
            <a:off x="0" y="5599907"/>
            <a:ext cx="8361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These types determine </a:t>
            </a:r>
            <a:r>
              <a:rPr lang="en-US" b="1" dirty="0"/>
              <a:t>what type of value a variable can store</a:t>
            </a:r>
            <a:r>
              <a:rPr lang="en-US" dirty="0"/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71202-5A33-7A1A-96E6-9ADDE35622A2}"/>
              </a:ext>
            </a:extLst>
          </p:cNvPr>
          <p:cNvSpPr txBox="1"/>
          <p:nvPr/>
        </p:nvSpPr>
        <p:spPr>
          <a:xfrm>
            <a:off x="465484" y="648866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Real Time Example</a:t>
            </a:r>
          </a:p>
        </p:txBody>
      </p:sp>
    </p:spTree>
    <p:extLst>
      <p:ext uri="{BB962C8B-B14F-4D97-AF65-F5344CB8AC3E}">
        <p14:creationId xmlns:p14="http://schemas.microsoft.com/office/powerpoint/2010/main" val="3620692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F679A2-7B4D-7DD4-75EC-981A889007FD}"/>
              </a:ext>
            </a:extLst>
          </p:cNvPr>
          <p:cNvSpPr txBox="1"/>
          <p:nvPr/>
        </p:nvSpPr>
        <p:spPr>
          <a:xfrm>
            <a:off x="236054" y="0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Real Time Example</a:t>
            </a:r>
          </a:p>
          <a:p>
            <a:r>
              <a:rPr lang="en-IN" dirty="0"/>
              <a:t>String name = "Kavi";</a:t>
            </a:r>
          </a:p>
          <a:p>
            <a:r>
              <a:rPr lang="en-IN" dirty="0"/>
              <a:t>int age = 22;</a:t>
            </a:r>
          </a:p>
          <a:p>
            <a:r>
              <a:rPr lang="en-IN" dirty="0"/>
              <a:t>double mark = 85.5;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544FDA-488F-F650-84B7-363FDF119C39}"/>
              </a:ext>
            </a:extLst>
          </p:cNvPr>
          <p:cNvSpPr txBox="1"/>
          <p:nvPr/>
        </p:nvSpPr>
        <p:spPr>
          <a:xfrm>
            <a:off x="236054" y="1109114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+mj-lt"/>
              </a:rPr>
              <a:t>output: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Name: Kavi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Age: 22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Mark: 85.50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D66E64-C8D0-9582-6E0A-66BDD1E7F874}"/>
              </a:ext>
            </a:extLst>
          </p:cNvPr>
          <p:cNvSpPr txBox="1"/>
          <p:nvPr/>
        </p:nvSpPr>
        <p:spPr>
          <a:xfrm>
            <a:off x="136663" y="2218227"/>
            <a:ext cx="6097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 of Formatting Output</a:t>
            </a:r>
          </a:p>
          <a:p>
            <a:r>
              <a:rPr lang="en-US" dirty="0"/>
              <a:t>Easy to read output</a:t>
            </a:r>
          </a:p>
          <a:p>
            <a:r>
              <a:rPr lang="en-US" dirty="0"/>
              <a:t>Organized display</a:t>
            </a:r>
          </a:p>
          <a:p>
            <a:r>
              <a:rPr lang="en-US" dirty="0"/>
              <a:t>Control decimal precision</a:t>
            </a:r>
          </a:p>
          <a:p>
            <a:r>
              <a:rPr lang="en-US" dirty="0"/>
              <a:t>Useful for reports and tables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7CC223-FDA0-8BE2-EE1C-78CBB6987D05}"/>
              </a:ext>
            </a:extLst>
          </p:cNvPr>
          <p:cNvSpPr txBox="1"/>
          <p:nvPr/>
        </p:nvSpPr>
        <p:spPr>
          <a:xfrm>
            <a:off x="136663" y="3835712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What is Typecasting?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B1F0FC-C9A3-7085-881E-ABA846DA2B9C}"/>
              </a:ext>
            </a:extLst>
          </p:cNvPr>
          <p:cNvSpPr txBox="1"/>
          <p:nvPr/>
        </p:nvSpPr>
        <p:spPr>
          <a:xfrm>
            <a:off x="136663" y="4205044"/>
            <a:ext cx="61970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converting </a:t>
            </a:r>
            <a:r>
              <a:rPr lang="en-US" b="1" dirty="0"/>
              <a:t>one data type into another data type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</a:t>
            </a:r>
            <a:br>
              <a:rPr lang="en-US" dirty="0"/>
            </a:br>
            <a:r>
              <a:rPr lang="en-US" dirty="0"/>
              <a:t>Convert</a:t>
            </a:r>
          </a:p>
          <a:p>
            <a:pPr>
              <a:buNone/>
            </a:pPr>
            <a:r>
              <a:rPr lang="en-US" dirty="0">
                <a:latin typeface="+mj-lt"/>
              </a:rPr>
              <a:t>int → double</a:t>
            </a:r>
          </a:p>
          <a:p>
            <a:r>
              <a:rPr lang="en-US" dirty="0">
                <a:latin typeface="+mj-lt"/>
              </a:rPr>
              <a:t>double → int</a:t>
            </a:r>
          </a:p>
          <a:p>
            <a:r>
              <a:rPr lang="en-US" dirty="0">
                <a:latin typeface="+mj-lt"/>
              </a:rPr>
              <a:t>float → int</a:t>
            </a:r>
          </a:p>
          <a:p>
            <a:pPr>
              <a:buNone/>
            </a:pPr>
            <a:r>
              <a:rPr lang="en-US" dirty="0"/>
              <a:t>So typecasting = </a:t>
            </a:r>
            <a:r>
              <a:rPr lang="en-US" b="1" dirty="0"/>
              <a:t>changing the data type of a variable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1882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BE136D-69B3-06AF-4DD4-AD79456B383B}"/>
              </a:ext>
            </a:extLst>
          </p:cNvPr>
          <p:cNvSpPr txBox="1"/>
          <p:nvPr/>
        </p:nvSpPr>
        <p:spPr>
          <a:xfrm>
            <a:off x="243509" y="254040"/>
            <a:ext cx="60976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Typecasting is Needed</a:t>
            </a:r>
          </a:p>
          <a:p>
            <a:pPr>
              <a:buNone/>
            </a:pPr>
            <a:r>
              <a:rPr lang="en-US" dirty="0"/>
              <a:t>Sometimes in programs we must </a:t>
            </a:r>
            <a:r>
              <a:rPr lang="en-US" b="1" dirty="0"/>
              <a:t>convert values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Price calculation</a:t>
            </a:r>
          </a:p>
          <a:p>
            <a:r>
              <a:rPr lang="en-US" dirty="0"/>
              <a:t>Marks percentage</a:t>
            </a:r>
          </a:p>
          <a:p>
            <a:r>
              <a:rPr lang="en-US" dirty="0"/>
              <a:t>Temperature conversion</a:t>
            </a:r>
          </a:p>
          <a:p>
            <a:r>
              <a:rPr lang="en-US" dirty="0"/>
              <a:t>Average calculation</a:t>
            </a:r>
          </a:p>
          <a:p>
            <a:pPr>
              <a:buNone/>
            </a:pPr>
            <a:r>
              <a:rPr lang="en-US" dirty="0"/>
              <a:t>So Java allows </a:t>
            </a:r>
            <a:r>
              <a:rPr lang="en-US" b="1" dirty="0"/>
              <a:t>type conversion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B5B1A-9218-6289-9241-4C85A01D77EC}"/>
              </a:ext>
            </a:extLst>
          </p:cNvPr>
          <p:cNvSpPr txBox="1"/>
          <p:nvPr/>
        </p:nvSpPr>
        <p:spPr>
          <a:xfrm>
            <a:off x="275811" y="2875439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Typecasting in Java</a:t>
            </a:r>
            <a:endParaRPr lang="en-IN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5CCBBA-624C-1762-6AD9-6C1F6CB0E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888272"/>
              </p:ext>
            </p:extLst>
          </p:nvPr>
        </p:nvGraphicFramePr>
        <p:xfrm>
          <a:off x="275811" y="3474330"/>
          <a:ext cx="7600122" cy="731520"/>
        </p:xfrm>
        <a:graphic>
          <a:graphicData uri="http://schemas.openxmlformats.org/drawingml/2006/table">
            <a:tbl>
              <a:tblPr/>
              <a:tblGrid>
                <a:gridCol w="489502">
                  <a:extLst>
                    <a:ext uri="{9D8B030D-6E8A-4147-A177-3AD203B41FA5}">
                      <a16:colId xmlns:a16="http://schemas.microsoft.com/office/drawing/2014/main" val="1981292857"/>
                    </a:ext>
                  </a:extLst>
                </a:gridCol>
                <a:gridCol w="7110620">
                  <a:extLst>
                    <a:ext uri="{9D8B030D-6E8A-4147-A177-3AD203B41FA5}">
                      <a16:colId xmlns:a16="http://schemas.microsoft.com/office/drawing/2014/main" val="25599874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Widening Typecasting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80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Narrowing Typecasting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85335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889F768-34D6-8AD0-C30C-2A156C4ECCE6}"/>
              </a:ext>
            </a:extLst>
          </p:cNvPr>
          <p:cNvSpPr txBox="1"/>
          <p:nvPr/>
        </p:nvSpPr>
        <p:spPr>
          <a:xfrm>
            <a:off x="206237" y="429563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Widening Typecasting (Automatic)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5B6CE-27A0-253A-BCAF-13739E4143F0}"/>
              </a:ext>
            </a:extLst>
          </p:cNvPr>
          <p:cNvSpPr txBox="1"/>
          <p:nvPr/>
        </p:nvSpPr>
        <p:spPr>
          <a:xfrm>
            <a:off x="206237" y="4725598"/>
            <a:ext cx="6097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Also called </a:t>
            </a:r>
            <a:r>
              <a:rPr lang="en-IN" b="1" dirty="0"/>
              <a:t>Implicit Casting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Small data type → Bigger data type.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byte → short → int → long → float → double</a:t>
            </a:r>
          </a:p>
          <a:p>
            <a:pPr>
              <a:buNone/>
            </a:pPr>
            <a:r>
              <a:rPr lang="en-IN" dirty="0"/>
              <a:t>Java converts </a:t>
            </a:r>
            <a:r>
              <a:rPr lang="en-IN" b="1" dirty="0"/>
              <a:t>automatically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0582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5C17B1-64F3-1D37-5582-5914A985B6B7}"/>
              </a:ext>
            </a:extLst>
          </p:cNvPr>
          <p:cNvSpPr txBox="1"/>
          <p:nvPr/>
        </p:nvSpPr>
        <p:spPr>
          <a:xfrm>
            <a:off x="216176" y="20296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C1299-84A9-23B9-52E3-A093C5237469}"/>
              </a:ext>
            </a:extLst>
          </p:cNvPr>
          <p:cNvSpPr txBox="1"/>
          <p:nvPr/>
        </p:nvSpPr>
        <p:spPr>
          <a:xfrm>
            <a:off x="216176" y="646766"/>
            <a:ext cx="60976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Widening Example {</a:t>
            </a:r>
          </a:p>
          <a:p>
            <a:r>
              <a:rPr lang="en-IN" dirty="0"/>
              <a:t>    public static void main(String </a:t>
            </a:r>
            <a:r>
              <a:rPr lang="en-IN" dirty="0" err="1"/>
              <a:t>args</a:t>
            </a:r>
            <a:r>
              <a:rPr lang="en-IN" dirty="0"/>
              <a:t>[]) {</a:t>
            </a:r>
          </a:p>
          <a:p>
            <a:endParaRPr lang="en-IN" dirty="0"/>
          </a:p>
          <a:p>
            <a:r>
              <a:rPr lang="en-IN" dirty="0"/>
              <a:t>        int </a:t>
            </a:r>
            <a:r>
              <a:rPr lang="en-IN" dirty="0" err="1"/>
              <a:t>num</a:t>
            </a:r>
            <a:r>
              <a:rPr lang="en-IN" dirty="0"/>
              <a:t> = 10;</a:t>
            </a:r>
          </a:p>
          <a:p>
            <a:r>
              <a:rPr lang="en-IN" dirty="0"/>
              <a:t>        double value = </a:t>
            </a:r>
            <a:r>
              <a:rPr lang="en-IN" dirty="0" err="1"/>
              <a:t>num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("Integer value: " + </a:t>
            </a:r>
            <a:r>
              <a:rPr lang="en-IN" dirty="0" err="1"/>
              <a:t>num</a:t>
            </a:r>
            <a:r>
              <a:rPr lang="en-IN" dirty="0"/>
              <a:t>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("Double value: " + value);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4849E-7D5B-9F94-81D8-CDDC5B9927F5}"/>
              </a:ext>
            </a:extLst>
          </p:cNvPr>
          <p:cNvSpPr txBox="1"/>
          <p:nvPr/>
        </p:nvSpPr>
        <p:spPr>
          <a:xfrm>
            <a:off x="525117" y="3786087"/>
            <a:ext cx="8032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Session 1 over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73896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EDA857-DC46-73B0-E733-7DC7602BFE66}"/>
              </a:ext>
            </a:extLst>
          </p:cNvPr>
          <p:cNvSpPr txBox="1"/>
          <p:nvPr/>
        </p:nvSpPr>
        <p:spPr>
          <a:xfrm>
            <a:off x="0" y="83691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Arithmetic Operators in Java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E4E12-D70D-DB79-CFD5-F71D86B24F72}"/>
              </a:ext>
            </a:extLst>
          </p:cNvPr>
          <p:cNvSpPr txBox="1"/>
          <p:nvPr/>
        </p:nvSpPr>
        <p:spPr>
          <a:xfrm>
            <a:off x="0" y="680687"/>
            <a:ext cx="11837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Arithmetic operators are used to </a:t>
            </a:r>
            <a:r>
              <a:rPr lang="en-US" b="1" dirty="0"/>
              <a:t>perform mathematical calculations</a:t>
            </a:r>
            <a:r>
              <a:rPr lang="en-US" dirty="0"/>
              <a:t> like addition, subtraction, multiplication, etc.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E4C2A-56B2-46E6-F501-683F90291DFE}"/>
              </a:ext>
            </a:extLst>
          </p:cNvPr>
          <p:cNvSpPr txBox="1"/>
          <p:nvPr/>
        </p:nvSpPr>
        <p:spPr>
          <a:xfrm>
            <a:off x="174763" y="1230508"/>
            <a:ext cx="6147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a = 10;</a:t>
            </a:r>
          </a:p>
          <a:p>
            <a:r>
              <a:rPr lang="en-IN" dirty="0"/>
              <a:t>int b = 5;</a:t>
            </a:r>
          </a:p>
          <a:p>
            <a:r>
              <a:rPr lang="en-IN" dirty="0"/>
              <a:t>int result = a + b;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C1C657-37F8-3F4F-F468-41D4B5B94178}"/>
              </a:ext>
            </a:extLst>
          </p:cNvPr>
          <p:cNvSpPr txBox="1"/>
          <p:nvPr/>
        </p:nvSpPr>
        <p:spPr>
          <a:xfrm>
            <a:off x="191328" y="2108680"/>
            <a:ext cx="6147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O/P</a:t>
            </a:r>
          </a:p>
          <a:p>
            <a:r>
              <a:rPr lang="en-IN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169B-4B23-354A-6C45-9B928B38D261}"/>
              </a:ext>
            </a:extLst>
          </p:cNvPr>
          <p:cNvSpPr txBox="1"/>
          <p:nvPr/>
        </p:nvSpPr>
        <p:spPr>
          <a:xfrm>
            <a:off x="81996" y="2816566"/>
            <a:ext cx="6147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What are Arithmetic Operators?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BDA978-AA0E-6A66-FFF2-44E3EDAE8E28}"/>
              </a:ext>
            </a:extLst>
          </p:cNvPr>
          <p:cNvSpPr txBox="1"/>
          <p:nvPr/>
        </p:nvSpPr>
        <p:spPr>
          <a:xfrm>
            <a:off x="81996" y="3278231"/>
            <a:ext cx="128090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Arithmetic operators are used to </a:t>
            </a:r>
            <a:r>
              <a:rPr lang="en-US" b="1" dirty="0"/>
              <a:t>perform basic mathematical operations on numbers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They work with </a:t>
            </a:r>
            <a:r>
              <a:rPr lang="en-US" b="1" dirty="0"/>
              <a:t>numeric data types</a:t>
            </a:r>
            <a:r>
              <a:rPr lang="en-US" dirty="0"/>
              <a:t> like</a:t>
            </a:r>
          </a:p>
          <a:p>
            <a:r>
              <a:rPr lang="en-US" dirty="0"/>
              <a:t>byte</a:t>
            </a:r>
          </a:p>
          <a:p>
            <a:r>
              <a:rPr lang="en-US" dirty="0"/>
              <a:t>short</a:t>
            </a:r>
          </a:p>
          <a:p>
            <a:r>
              <a:rPr lang="en-US" dirty="0"/>
              <a:t>int</a:t>
            </a:r>
          </a:p>
          <a:p>
            <a:r>
              <a:rPr lang="en-US" dirty="0"/>
              <a:t>long</a:t>
            </a:r>
          </a:p>
          <a:p>
            <a:r>
              <a:rPr lang="en-US" dirty="0"/>
              <a:t>float</a:t>
            </a:r>
          </a:p>
          <a:p>
            <a:r>
              <a:rPr lang="en-US" dirty="0"/>
              <a:t>double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0E069D-4A5E-41CA-1CB1-DB80B1121774}"/>
              </a:ext>
            </a:extLst>
          </p:cNvPr>
          <p:cNvSpPr txBox="1"/>
          <p:nvPr/>
        </p:nvSpPr>
        <p:spPr>
          <a:xfrm>
            <a:off x="19387" y="5648110"/>
            <a:ext cx="6491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a = 20;</a:t>
            </a:r>
          </a:p>
          <a:p>
            <a:r>
              <a:rPr lang="en-IN" dirty="0"/>
              <a:t>int b = 10;</a:t>
            </a:r>
          </a:p>
          <a:p>
            <a:r>
              <a:rPr lang="en-IN" dirty="0" err="1"/>
              <a:t>System.out.println</a:t>
            </a:r>
            <a:r>
              <a:rPr lang="en-IN" dirty="0"/>
              <a:t>(a + b);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A0EBB0-13AA-223B-DBF9-8EA3F69C5D99}"/>
              </a:ext>
            </a:extLst>
          </p:cNvPr>
          <p:cNvSpPr txBox="1"/>
          <p:nvPr/>
        </p:nvSpPr>
        <p:spPr>
          <a:xfrm>
            <a:off x="6933363" y="5463444"/>
            <a:ext cx="6491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Output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35340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4F501B-9B87-6356-6E2F-93638289470B}"/>
              </a:ext>
            </a:extLst>
          </p:cNvPr>
          <p:cNvSpPr txBox="1"/>
          <p:nvPr/>
        </p:nvSpPr>
        <p:spPr>
          <a:xfrm>
            <a:off x="136662" y="93629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Types of Arithmetic Operators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0E7EF-1C49-C486-7C3D-BBFE019840DB}"/>
              </a:ext>
            </a:extLst>
          </p:cNvPr>
          <p:cNvSpPr txBox="1"/>
          <p:nvPr/>
        </p:nvSpPr>
        <p:spPr>
          <a:xfrm>
            <a:off x="136662" y="46296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Java has </a:t>
            </a:r>
            <a:r>
              <a:rPr lang="en-US" b="1" dirty="0"/>
              <a:t>5 main arithmetic operators</a:t>
            </a:r>
            <a:r>
              <a:rPr lang="en-US" dirty="0"/>
              <a:t>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092282-AB97-3783-06A4-3246879CE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4526"/>
              </p:ext>
            </p:extLst>
          </p:nvPr>
        </p:nvGraphicFramePr>
        <p:xfrm>
          <a:off x="131691" y="837481"/>
          <a:ext cx="10515600" cy="234076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393231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845188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71217676"/>
                    </a:ext>
                  </a:extLst>
                </a:gridCol>
              </a:tblGrid>
              <a:tr h="29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276502"/>
                  </a:ext>
                </a:extLst>
              </a:tr>
              <a:tr h="308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+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128963"/>
                  </a:ext>
                </a:extLst>
              </a:tr>
              <a:tr h="511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-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392875"/>
                  </a:ext>
                </a:extLst>
              </a:tr>
              <a:tr h="31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*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677385"/>
                  </a:ext>
                </a:extLst>
              </a:tr>
              <a:tr h="29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/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7472"/>
                  </a:ext>
                </a:extLst>
              </a:tr>
              <a:tr h="31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Modulus (remainder)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 %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1541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2D125CD-812B-22A7-5BD9-46D417C5DCBD}"/>
              </a:ext>
            </a:extLst>
          </p:cNvPr>
          <p:cNvSpPr txBox="1"/>
          <p:nvPr/>
        </p:nvSpPr>
        <p:spPr>
          <a:xfrm>
            <a:off x="136662" y="354758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Addition Operator (+)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4CA18-39D0-F4F3-7A56-57DE3254FA6B}"/>
              </a:ext>
            </a:extLst>
          </p:cNvPr>
          <p:cNvSpPr txBox="1"/>
          <p:nvPr/>
        </p:nvSpPr>
        <p:spPr>
          <a:xfrm>
            <a:off x="136662" y="391950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Used to </a:t>
            </a:r>
            <a:r>
              <a:rPr lang="en-US" b="1" dirty="0"/>
              <a:t>add two numbers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46A496-A90D-1DAD-8955-7EC2E366749F}"/>
              </a:ext>
            </a:extLst>
          </p:cNvPr>
          <p:cNvSpPr txBox="1"/>
          <p:nvPr/>
        </p:nvSpPr>
        <p:spPr>
          <a:xfrm>
            <a:off x="342898" y="4288839"/>
            <a:ext cx="60976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class Add Example {</a:t>
            </a:r>
          </a:p>
          <a:p>
            <a:r>
              <a:rPr lang="en-IN" sz="1200" dirty="0"/>
              <a:t>    public static void main(String </a:t>
            </a:r>
            <a:r>
              <a:rPr lang="en-IN" sz="1200" dirty="0" err="1"/>
              <a:t>args</a:t>
            </a:r>
            <a:r>
              <a:rPr lang="en-IN" sz="1200" dirty="0"/>
              <a:t>[]) {</a:t>
            </a:r>
          </a:p>
          <a:p>
            <a:endParaRPr lang="en-IN" sz="1200" dirty="0"/>
          </a:p>
          <a:p>
            <a:r>
              <a:rPr lang="en-IN" sz="1200" dirty="0"/>
              <a:t>        int a = 10;</a:t>
            </a:r>
          </a:p>
          <a:p>
            <a:r>
              <a:rPr lang="en-IN" sz="1200" dirty="0"/>
              <a:t>        int b = 5;</a:t>
            </a:r>
          </a:p>
          <a:p>
            <a:endParaRPr lang="en-IN" sz="1200" dirty="0"/>
          </a:p>
          <a:p>
            <a:r>
              <a:rPr lang="en-IN" sz="1200" dirty="0"/>
              <a:t>        int result = a + b;</a:t>
            </a:r>
          </a:p>
          <a:p>
            <a:endParaRPr lang="en-IN" sz="1200" dirty="0"/>
          </a:p>
          <a:p>
            <a:r>
              <a:rPr lang="en-IN" sz="1200" dirty="0"/>
              <a:t>        </a:t>
            </a:r>
            <a:r>
              <a:rPr lang="en-IN" sz="1200" dirty="0" err="1"/>
              <a:t>System.out.println</a:t>
            </a:r>
            <a:r>
              <a:rPr lang="en-IN" sz="1200" dirty="0"/>
              <a:t>("Addition: " + result);</a:t>
            </a:r>
          </a:p>
          <a:p>
            <a:endParaRPr lang="en-IN" sz="1200" dirty="0"/>
          </a:p>
          <a:p>
            <a:r>
              <a:rPr lang="en-IN" sz="1200" dirty="0"/>
              <a:t>    }</a:t>
            </a:r>
          </a:p>
          <a:p>
            <a:r>
              <a:rPr lang="en-IN" sz="1200" dirty="0"/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702BA8-14F8-E126-DE26-C6BDC03D18E6}"/>
              </a:ext>
            </a:extLst>
          </p:cNvPr>
          <p:cNvSpPr txBox="1"/>
          <p:nvPr/>
        </p:nvSpPr>
        <p:spPr>
          <a:xfrm>
            <a:off x="6546576" y="3650830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Addition: 15</a:t>
            </a:r>
          </a:p>
          <a:p>
            <a:pPr>
              <a:buNone/>
            </a:pPr>
            <a:r>
              <a:rPr lang="en-US" dirty="0"/>
              <a:t>Real-time example</a:t>
            </a:r>
            <a:br>
              <a:rPr lang="en-US" dirty="0"/>
            </a:br>
            <a:r>
              <a:rPr lang="en-US" dirty="0"/>
              <a:t>Adding </a:t>
            </a:r>
            <a:r>
              <a:rPr lang="en-US" b="1" dirty="0"/>
              <a:t>student marks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1920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295222-E78C-38AB-0160-2289674AF521}"/>
              </a:ext>
            </a:extLst>
          </p:cNvPr>
          <p:cNvSpPr txBox="1"/>
          <p:nvPr/>
        </p:nvSpPr>
        <p:spPr>
          <a:xfrm>
            <a:off x="275811" y="31170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Subtraction Operator (-)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38F5C-F925-ACD7-7F54-2FB73B466340}"/>
              </a:ext>
            </a:extLst>
          </p:cNvPr>
          <p:cNvSpPr txBox="1"/>
          <p:nvPr/>
        </p:nvSpPr>
        <p:spPr>
          <a:xfrm>
            <a:off x="355324" y="681037"/>
            <a:ext cx="60976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Used to </a:t>
            </a:r>
            <a:r>
              <a:rPr lang="en-US" b="1" dirty="0"/>
              <a:t>subtract numbers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int a = 20;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int b = 8;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int result = a - b;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 err="1">
                <a:latin typeface="+mj-lt"/>
              </a:rPr>
              <a:t>System.out.println</a:t>
            </a:r>
            <a:r>
              <a:rPr lang="en-US" dirty="0">
                <a:latin typeface="+mj-lt"/>
              </a:rPr>
              <a:t>("Subtraction: " + result);</a:t>
            </a:r>
          </a:p>
          <a:p>
            <a:pPr>
              <a:buNone/>
            </a:pPr>
            <a:r>
              <a:rPr lang="en-US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12</a:t>
            </a:r>
          </a:p>
          <a:p>
            <a:pPr>
              <a:buNone/>
            </a:pPr>
            <a:r>
              <a:rPr lang="en-US" dirty="0"/>
              <a:t>Real-time example</a:t>
            </a:r>
            <a:br>
              <a:rPr lang="en-US" dirty="0"/>
            </a:br>
            <a:r>
              <a:rPr lang="en-US" dirty="0"/>
              <a:t>Bank </a:t>
            </a:r>
            <a:r>
              <a:rPr lang="en-US" b="1" dirty="0"/>
              <a:t>balance deduction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6E96B-2655-0B96-9514-D2FDD6DD2D6E}"/>
              </a:ext>
            </a:extLst>
          </p:cNvPr>
          <p:cNvSpPr txBox="1"/>
          <p:nvPr/>
        </p:nvSpPr>
        <p:spPr>
          <a:xfrm>
            <a:off x="7105249" y="31170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Multiplication Operator (*)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53E3E-A324-D221-1457-C47EB21AF5CE}"/>
              </a:ext>
            </a:extLst>
          </p:cNvPr>
          <p:cNvSpPr txBox="1"/>
          <p:nvPr/>
        </p:nvSpPr>
        <p:spPr>
          <a:xfrm>
            <a:off x="7105249" y="654894"/>
            <a:ext cx="60976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Used to </a:t>
            </a:r>
            <a:r>
              <a:rPr lang="en-US" b="1" dirty="0"/>
              <a:t>multiply numbers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int a = 4;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int b = 5;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int result = a * b;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 err="1">
                <a:latin typeface="+mj-lt"/>
              </a:rPr>
              <a:t>System.out.println</a:t>
            </a:r>
            <a:r>
              <a:rPr lang="en-US" dirty="0">
                <a:latin typeface="+mj-lt"/>
              </a:rPr>
              <a:t>("Multiplication: " + result);</a:t>
            </a:r>
          </a:p>
          <a:p>
            <a:pPr>
              <a:buNone/>
            </a:pPr>
            <a:r>
              <a:rPr lang="en-US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20</a:t>
            </a:r>
          </a:p>
          <a:p>
            <a:pPr>
              <a:buNone/>
            </a:pPr>
            <a:r>
              <a:rPr lang="en-US" dirty="0"/>
              <a:t>Real-time example</a:t>
            </a:r>
            <a:br>
              <a:rPr lang="en-US" dirty="0"/>
            </a:br>
            <a:r>
              <a:rPr lang="en-US" dirty="0"/>
              <a:t>Price × Quantity in shopping.</a:t>
            </a:r>
          </a:p>
        </p:txBody>
      </p:sp>
    </p:spTree>
    <p:extLst>
      <p:ext uri="{BB962C8B-B14F-4D97-AF65-F5344CB8AC3E}">
        <p14:creationId xmlns:p14="http://schemas.microsoft.com/office/powerpoint/2010/main" val="1361071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BACFB9D-BE06-CF13-D3E4-5D3C2AD12EE9}"/>
              </a:ext>
            </a:extLst>
          </p:cNvPr>
          <p:cNvSpPr txBox="1"/>
          <p:nvPr/>
        </p:nvSpPr>
        <p:spPr>
          <a:xfrm>
            <a:off x="208304" y="151916"/>
            <a:ext cx="660176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Division Operator (/)</a:t>
            </a:r>
          </a:p>
          <a:p>
            <a:pPr>
              <a:buNone/>
            </a:pPr>
            <a:r>
              <a:rPr lang="en-US" dirty="0"/>
              <a:t>Used to </a:t>
            </a:r>
            <a:r>
              <a:rPr lang="en-US" b="1" dirty="0"/>
              <a:t>divide numbers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int a = 20;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int b = 4;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int result = a / b;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 err="1">
                <a:latin typeface="+mj-lt"/>
              </a:rPr>
              <a:t>System.out.println</a:t>
            </a:r>
            <a:r>
              <a:rPr lang="en-US" dirty="0">
                <a:latin typeface="+mj-lt"/>
              </a:rPr>
              <a:t>("Division: " + result)</a:t>
            </a:r>
            <a:r>
              <a:rPr lang="en-US" dirty="0">
                <a:latin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US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5</a:t>
            </a:r>
          </a:p>
          <a:p>
            <a:pPr>
              <a:buNone/>
            </a:pPr>
            <a:r>
              <a:rPr lang="en-US" dirty="0"/>
              <a:t>Real-time example</a:t>
            </a:r>
            <a:br>
              <a:rPr lang="en-US" dirty="0"/>
            </a:br>
            <a:r>
              <a:rPr lang="en-US" dirty="0"/>
              <a:t>Average calculation.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BD241-514F-6C70-32EB-1413279B5B5C}"/>
              </a:ext>
            </a:extLst>
          </p:cNvPr>
          <p:cNvSpPr txBox="1"/>
          <p:nvPr/>
        </p:nvSpPr>
        <p:spPr>
          <a:xfrm>
            <a:off x="5871654" y="2402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Modulus Operator (%)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98437-8116-AE22-B6F4-1B307555F497}"/>
              </a:ext>
            </a:extLst>
          </p:cNvPr>
          <p:cNvSpPr txBox="1"/>
          <p:nvPr/>
        </p:nvSpPr>
        <p:spPr>
          <a:xfrm>
            <a:off x="5887696" y="586003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Returns the </a:t>
            </a:r>
            <a:r>
              <a:rPr lang="en-US" b="1" dirty="0"/>
              <a:t>remainder</a:t>
            </a:r>
            <a:r>
              <a:rPr lang="en-US" dirty="0"/>
              <a:t> after division.</a:t>
            </a:r>
          </a:p>
          <a:p>
            <a:pPr>
              <a:buNone/>
            </a:pPr>
            <a:r>
              <a:rPr lang="en-US" dirty="0"/>
              <a:t>Example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 a = 10;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int b = 3;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int result = a % b;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 err="1">
                <a:latin typeface="+mj-lt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("Remainder: " + result);</a:t>
            </a:r>
          </a:p>
          <a:p>
            <a:pPr>
              <a:buNone/>
            </a:pPr>
            <a:r>
              <a:rPr lang="en-US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</a:t>
            </a:r>
          </a:p>
          <a:p>
            <a:pPr>
              <a:buNone/>
            </a:pPr>
            <a:r>
              <a:rPr lang="en-US" dirty="0"/>
              <a:t>Real-time example</a:t>
            </a:r>
            <a:br>
              <a:rPr lang="en-US" dirty="0"/>
            </a:br>
            <a:r>
              <a:rPr lang="en-US" dirty="0"/>
              <a:t>Check </a:t>
            </a:r>
            <a:r>
              <a:rPr lang="en-US" b="1" dirty="0"/>
              <a:t>even or odd numbers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0851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C5176-28AE-895A-2388-4637F294F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182" y="613827"/>
            <a:ext cx="10515600" cy="3665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class Arithmetic Example {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public static void main(String </a:t>
            </a:r>
            <a:r>
              <a:rPr lang="en-US" sz="1600" dirty="0" err="1"/>
              <a:t>args</a:t>
            </a:r>
            <a:r>
              <a:rPr lang="en-US" sz="1600" dirty="0"/>
              <a:t>[]) {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int a = 10;</a:t>
            </a:r>
            <a:br>
              <a:rPr lang="en-US" sz="1600" dirty="0"/>
            </a:br>
            <a:r>
              <a:rPr lang="en-US" sz="1600" dirty="0"/>
              <a:t>        int b = 3;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("Addition: " + (a + b));</a:t>
            </a:r>
            <a:br>
              <a:rPr lang="en-US" sz="1600" dirty="0"/>
            </a:br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("Subtraction: " + (a - b));</a:t>
            </a:r>
            <a:br>
              <a:rPr lang="en-US" sz="1600" dirty="0"/>
            </a:br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("Multiplication: " + (a * b));</a:t>
            </a:r>
            <a:br>
              <a:rPr lang="en-US" sz="1600" dirty="0"/>
            </a:br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("Division: " + (a / b));</a:t>
            </a:r>
            <a:br>
              <a:rPr lang="en-US" sz="1600" dirty="0"/>
            </a:br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("Modulus: " + (a % b));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}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}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Output:</a:t>
            </a:r>
          </a:p>
          <a:p>
            <a:pPr marL="0" indent="0">
              <a:buNone/>
            </a:pPr>
            <a:r>
              <a:rPr lang="en-US" sz="1600" dirty="0"/>
              <a:t>Addition: 13</a:t>
            </a:r>
            <a:br>
              <a:rPr lang="en-US" sz="1600" dirty="0"/>
            </a:br>
            <a:r>
              <a:rPr lang="en-US" sz="1600" dirty="0"/>
              <a:t>Subtraction: 7</a:t>
            </a:r>
            <a:br>
              <a:rPr lang="en-US" sz="1600" dirty="0"/>
            </a:br>
            <a:r>
              <a:rPr lang="en-US" sz="1600" dirty="0"/>
              <a:t>Multiplication: 30</a:t>
            </a:r>
            <a:br>
              <a:rPr lang="en-US" sz="1600" dirty="0"/>
            </a:br>
            <a:r>
              <a:rPr lang="en-US" sz="1600" dirty="0"/>
              <a:t>Division: 3</a:t>
            </a:r>
            <a:br>
              <a:rPr lang="en-US" sz="1600" dirty="0"/>
            </a:br>
            <a:r>
              <a:rPr lang="en-US" sz="1600" dirty="0"/>
              <a:t>Modulus: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C38E1-D5CE-EDE0-0B00-7CFD73982367}"/>
              </a:ext>
            </a:extLst>
          </p:cNvPr>
          <p:cNvSpPr txBox="1"/>
          <p:nvPr/>
        </p:nvSpPr>
        <p:spPr>
          <a:xfrm>
            <a:off x="128336" y="120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Combined Example Program</a:t>
            </a:r>
          </a:p>
        </p:txBody>
      </p:sp>
    </p:spTree>
    <p:extLst>
      <p:ext uri="{BB962C8B-B14F-4D97-AF65-F5344CB8AC3E}">
        <p14:creationId xmlns:p14="http://schemas.microsoft.com/office/powerpoint/2010/main" val="3584204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98B0D-8094-1F44-1D73-95FED8AFE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93" y="1492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+mj-lt"/>
              </a:rPr>
              <a:t>Real Time Example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Shopping bill calculation.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int price = 200;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int quantity = 3;</a:t>
            </a:r>
            <a:br>
              <a:rPr lang="en-US" sz="1800" dirty="0">
                <a:latin typeface="+mj-lt"/>
              </a:rPr>
            </a:b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int total = price * quantity;</a:t>
            </a:r>
            <a:br>
              <a:rPr lang="en-US" sz="1800" dirty="0">
                <a:latin typeface="+mj-lt"/>
              </a:rPr>
            </a:br>
            <a:br>
              <a:rPr lang="en-US" sz="1800" dirty="0">
                <a:latin typeface="+mj-lt"/>
              </a:rPr>
            </a:br>
            <a:r>
              <a:rPr lang="en-US" sz="1800" dirty="0" err="1">
                <a:latin typeface="+mj-lt"/>
              </a:rPr>
              <a:t>System.out.println</a:t>
            </a:r>
            <a:r>
              <a:rPr lang="en-US" sz="1800" dirty="0">
                <a:latin typeface="+mj-lt"/>
              </a:rPr>
              <a:t>("Total price: " + total);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Output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Total price: 600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D2432-A7E4-A54F-728B-041DC23AF167}"/>
              </a:ext>
            </a:extLst>
          </p:cNvPr>
          <p:cNvSpPr txBox="1"/>
          <p:nvPr/>
        </p:nvSpPr>
        <p:spPr>
          <a:xfrm>
            <a:off x="123093" y="32999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Used for </a:t>
            </a:r>
            <a:r>
              <a:rPr lang="en-US" b="1" dirty="0"/>
              <a:t>mathematical calculations</a:t>
            </a:r>
            <a:endParaRPr lang="en-US" dirty="0"/>
          </a:p>
          <a:p>
            <a:r>
              <a:rPr lang="en-US" dirty="0"/>
              <a:t>Simple and fast operations</a:t>
            </a:r>
          </a:p>
          <a:p>
            <a:r>
              <a:rPr lang="en-US" dirty="0"/>
              <a:t>Used in </a:t>
            </a:r>
            <a:r>
              <a:rPr lang="en-US" b="1" dirty="0"/>
              <a:t>banking, billing, and reports</a:t>
            </a:r>
            <a:endParaRPr lang="en-US" dirty="0"/>
          </a:p>
          <a:p>
            <a:r>
              <a:rPr lang="en-US" dirty="0"/>
              <a:t>Important in </a:t>
            </a:r>
            <a:r>
              <a:rPr lang="en-US" b="1" dirty="0"/>
              <a:t>program logic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684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05216-99BA-EC99-F113-47B8AE6B6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215" y="582861"/>
            <a:ext cx="10515600" cy="21837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Assignment operators are used to </a:t>
            </a:r>
            <a:r>
              <a:rPr lang="en-US" sz="1800" b="1" dirty="0"/>
              <a:t>assign values to variables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Example:</a:t>
            </a:r>
          </a:p>
          <a:p>
            <a:pPr marL="0" indent="0">
              <a:buNone/>
            </a:pPr>
            <a:r>
              <a:rPr lang="en-US" sz="1800" dirty="0"/>
              <a:t>int a = 10;</a:t>
            </a:r>
          </a:p>
          <a:p>
            <a:pPr marL="0" indent="0">
              <a:buNone/>
            </a:pPr>
            <a:r>
              <a:rPr lang="en-US" sz="1800" dirty="0"/>
              <a:t>Here:</a:t>
            </a:r>
          </a:p>
          <a:p>
            <a:pPr marL="0" indent="0">
              <a:buNone/>
            </a:pPr>
            <a:r>
              <a:rPr lang="en-US" sz="1800" dirty="0"/>
              <a:t>= → assignment operator</a:t>
            </a:r>
          </a:p>
          <a:p>
            <a:pPr marL="0" indent="0">
              <a:buNone/>
            </a:pPr>
            <a:r>
              <a:rPr lang="en-US" sz="1800" dirty="0"/>
              <a:t>10 → value assigned to variable a0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A6531-E52E-2736-5AEA-6A3FA7A45EF9}"/>
              </a:ext>
            </a:extLst>
          </p:cNvPr>
          <p:cNvSpPr txBox="1"/>
          <p:nvPr/>
        </p:nvSpPr>
        <p:spPr>
          <a:xfrm>
            <a:off x="152400" y="18275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Assignment Operators in Java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E62B0-EC9D-FA48-32E9-66422593912D}"/>
              </a:ext>
            </a:extLst>
          </p:cNvPr>
          <p:cNvSpPr txBox="1"/>
          <p:nvPr/>
        </p:nvSpPr>
        <p:spPr>
          <a:xfrm>
            <a:off x="287215" y="279869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an Assignment Operator?</a:t>
            </a:r>
          </a:p>
          <a:p>
            <a:pPr>
              <a:buNone/>
            </a:pPr>
            <a:r>
              <a:rPr lang="en-US" dirty="0"/>
              <a:t>An assignment operator is used to </a:t>
            </a:r>
            <a:r>
              <a:rPr lang="en-US" b="1" dirty="0"/>
              <a:t>store a value in a variable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Syntax: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variable = value;</a:t>
            </a:r>
          </a:p>
          <a:p>
            <a:pPr>
              <a:buNone/>
            </a:pPr>
            <a:r>
              <a:rPr lang="en-US" dirty="0">
                <a:latin typeface="+mj-lt"/>
              </a:rPr>
              <a:t>Example: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int number = 50;</a:t>
            </a:r>
          </a:p>
          <a:p>
            <a:pPr>
              <a:buNone/>
            </a:pPr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The value </a:t>
            </a:r>
            <a:r>
              <a:rPr lang="en-US" b="1" dirty="0"/>
              <a:t>50 is stored in the variable number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32795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D0BBE-AA57-7210-4D2D-6E4E1DCE754C}"/>
              </a:ext>
            </a:extLst>
          </p:cNvPr>
          <p:cNvSpPr txBox="1"/>
          <p:nvPr/>
        </p:nvSpPr>
        <p:spPr>
          <a:xfrm>
            <a:off x="4853988" y="320041"/>
            <a:ext cx="6707084" cy="38926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Types of Assignment Operators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Java provides </a:t>
            </a:r>
            <a:r>
              <a:rPr lang="en-US" sz="5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several assignment operators</a:t>
            </a:r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4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69CC32-3468-21E3-4DD1-9DE13CE76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419544"/>
              </p:ext>
            </p:extLst>
          </p:nvPr>
        </p:nvGraphicFramePr>
        <p:xfrm>
          <a:off x="320040" y="1107063"/>
          <a:ext cx="4087369" cy="4325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5526">
                  <a:extLst>
                    <a:ext uri="{9D8B030D-6E8A-4147-A177-3AD203B41FA5}">
                      <a16:colId xmlns:a16="http://schemas.microsoft.com/office/drawing/2014/main" val="2705894090"/>
                    </a:ext>
                  </a:extLst>
                </a:gridCol>
                <a:gridCol w="1588006">
                  <a:extLst>
                    <a:ext uri="{9D8B030D-6E8A-4147-A177-3AD203B41FA5}">
                      <a16:colId xmlns:a16="http://schemas.microsoft.com/office/drawing/2014/main" val="995243187"/>
                    </a:ext>
                  </a:extLst>
                </a:gridCol>
                <a:gridCol w="1243837">
                  <a:extLst>
                    <a:ext uri="{9D8B030D-6E8A-4147-A177-3AD203B41FA5}">
                      <a16:colId xmlns:a16="http://schemas.microsoft.com/office/drawing/2014/main" val="1060958255"/>
                    </a:ext>
                  </a:extLst>
                </a:gridCol>
              </a:tblGrid>
              <a:tr h="41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Operator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Meaning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Example</a:t>
                      </a:r>
                    </a:p>
                  </a:txBody>
                  <a:tcPr marL="96444" marR="96444" marT="48222" marB="48222" anchor="ctr"/>
                </a:tc>
                <a:extLst>
                  <a:ext uri="{0D108BD9-81ED-4DB2-BD59-A6C34878D82A}">
                    <a16:rowId xmlns:a16="http://schemas.microsoft.com/office/drawing/2014/main" val="3777423688"/>
                  </a:ext>
                </a:extLst>
              </a:tr>
              <a:tr h="41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=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Assign value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a = 10</a:t>
                      </a:r>
                    </a:p>
                  </a:txBody>
                  <a:tcPr marL="96444" marR="96444" marT="48222" marB="48222" anchor="ctr"/>
                </a:tc>
                <a:extLst>
                  <a:ext uri="{0D108BD9-81ED-4DB2-BD59-A6C34878D82A}">
                    <a16:rowId xmlns:a16="http://schemas.microsoft.com/office/drawing/2014/main" val="2017063843"/>
                  </a:ext>
                </a:extLst>
              </a:tr>
              <a:tr h="699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+=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Add and assign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a += 5</a:t>
                      </a:r>
                    </a:p>
                  </a:txBody>
                  <a:tcPr marL="96444" marR="96444" marT="48222" marB="48222" anchor="ctr"/>
                </a:tc>
                <a:extLst>
                  <a:ext uri="{0D108BD9-81ED-4DB2-BD59-A6C34878D82A}">
                    <a16:rowId xmlns:a16="http://schemas.microsoft.com/office/drawing/2014/main" val="2810514554"/>
                  </a:ext>
                </a:extLst>
              </a:tr>
              <a:tr h="699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-=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Subtract and assign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a -= 5</a:t>
                      </a:r>
                    </a:p>
                  </a:txBody>
                  <a:tcPr marL="96444" marR="96444" marT="48222" marB="48222" anchor="ctr"/>
                </a:tc>
                <a:extLst>
                  <a:ext uri="{0D108BD9-81ED-4DB2-BD59-A6C34878D82A}">
                    <a16:rowId xmlns:a16="http://schemas.microsoft.com/office/drawing/2014/main" val="1824873746"/>
                  </a:ext>
                </a:extLst>
              </a:tr>
              <a:tr h="699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*=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Multiply and assign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a *= 5</a:t>
                      </a:r>
                    </a:p>
                  </a:txBody>
                  <a:tcPr marL="96444" marR="96444" marT="48222" marB="48222" anchor="ctr"/>
                </a:tc>
                <a:extLst>
                  <a:ext uri="{0D108BD9-81ED-4DB2-BD59-A6C34878D82A}">
                    <a16:rowId xmlns:a16="http://schemas.microsoft.com/office/drawing/2014/main" val="3501728842"/>
                  </a:ext>
                </a:extLst>
              </a:tr>
              <a:tr h="699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/=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Divide and assign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a /= 5</a:t>
                      </a:r>
                    </a:p>
                  </a:txBody>
                  <a:tcPr marL="96444" marR="96444" marT="48222" marB="48222" anchor="ctr"/>
                </a:tc>
                <a:extLst>
                  <a:ext uri="{0D108BD9-81ED-4DB2-BD59-A6C34878D82A}">
                    <a16:rowId xmlns:a16="http://schemas.microsoft.com/office/drawing/2014/main" val="4186762669"/>
                  </a:ext>
                </a:extLst>
              </a:tr>
              <a:tr h="699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%=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Modulus and assign</a:t>
                      </a:r>
                    </a:p>
                  </a:txBody>
                  <a:tcPr marL="96444" marR="96444" marT="48222" marB="48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a %= 5</a:t>
                      </a:r>
                    </a:p>
                  </a:txBody>
                  <a:tcPr marL="96444" marR="96444" marT="48222" marB="48222" anchor="ctr"/>
                </a:tc>
                <a:extLst>
                  <a:ext uri="{0D108BD9-81ED-4DB2-BD59-A6C34878D82A}">
                    <a16:rowId xmlns:a16="http://schemas.microsoft.com/office/drawing/2014/main" val="1141680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444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B4AEF-64EF-B98E-9370-A27EB0246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431" y="125778"/>
            <a:ext cx="10515600" cy="4369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Simple Assignment (=)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4A0F2-5D1C-B875-62E4-67BFF2642A6B}"/>
              </a:ext>
            </a:extLst>
          </p:cNvPr>
          <p:cNvSpPr txBox="1"/>
          <p:nvPr/>
        </p:nvSpPr>
        <p:spPr>
          <a:xfrm>
            <a:off x="193431" y="562707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Used to </a:t>
            </a:r>
            <a:r>
              <a:rPr lang="en-US" b="1" dirty="0"/>
              <a:t>assign a value to a variable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class </a:t>
            </a:r>
            <a:r>
              <a:rPr lang="en-US" dirty="0" err="1">
                <a:latin typeface="+mj-lt"/>
              </a:rPr>
              <a:t>AssignExample</a:t>
            </a:r>
            <a:r>
              <a:rPr lang="en-US" dirty="0">
                <a:latin typeface="+mj-lt"/>
              </a:rPr>
              <a:t> {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public static void main(String </a:t>
            </a:r>
            <a:r>
              <a:rPr lang="en-US" dirty="0" err="1">
                <a:latin typeface="+mj-lt"/>
              </a:rPr>
              <a:t>args</a:t>
            </a:r>
            <a:r>
              <a:rPr lang="en-US" dirty="0">
                <a:latin typeface="+mj-lt"/>
              </a:rPr>
              <a:t>[]) {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    int a;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    a = 10;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    </a:t>
            </a:r>
            <a:r>
              <a:rPr lang="en-US" dirty="0" err="1">
                <a:latin typeface="+mj-lt"/>
              </a:rPr>
              <a:t>System.out.println</a:t>
            </a:r>
            <a:r>
              <a:rPr lang="en-US" dirty="0">
                <a:latin typeface="+mj-lt"/>
              </a:rPr>
              <a:t>(a);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}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}</a:t>
            </a:r>
          </a:p>
          <a:p>
            <a:pPr rtl="0">
              <a:buNone/>
            </a:pPr>
            <a:endParaRPr lang="en-US" dirty="0">
              <a:latin typeface="+mj-lt"/>
            </a:endParaRPr>
          </a:p>
          <a:p>
            <a:pPr>
              <a:buNone/>
            </a:pPr>
            <a:r>
              <a:rPr lang="en-US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10</a:t>
            </a:r>
          </a:p>
          <a:p>
            <a:pPr>
              <a:buNone/>
            </a:pPr>
            <a:r>
              <a:rPr lang="en-US" dirty="0"/>
              <a:t>Explanation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</a:rPr>
              <a:t>10</a:t>
            </a:r>
            <a:r>
              <a:rPr lang="en-US" dirty="0"/>
              <a:t> is stored inside variable </a:t>
            </a:r>
            <a:r>
              <a:rPr lang="en-US" dirty="0">
                <a:latin typeface="Courier New" panose="02070309020205020404" pitchFamily="49" charset="0"/>
              </a:rPr>
              <a:t>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81908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AA268-0BDE-4FB1-3096-CFBA0437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362ED6-8FD0-169E-F401-88CFD7A8AB68}"/>
              </a:ext>
            </a:extLst>
          </p:cNvPr>
          <p:cNvSpPr txBox="1"/>
          <p:nvPr/>
        </p:nvSpPr>
        <p:spPr>
          <a:xfrm>
            <a:off x="93785" y="130856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Addition Assignment (+=)</a:t>
            </a:r>
          </a:p>
          <a:p>
            <a:pPr>
              <a:buNone/>
            </a:pPr>
            <a:r>
              <a:rPr lang="en-US" dirty="0"/>
              <a:t>Adds a value and assigns the result.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int a = 10;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a += 5;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 err="1">
                <a:latin typeface="+mj-lt"/>
              </a:rPr>
              <a:t>System.out.println</a:t>
            </a:r>
            <a:r>
              <a:rPr lang="en-US" dirty="0">
                <a:latin typeface="+mj-lt"/>
              </a:rPr>
              <a:t>(a);</a:t>
            </a:r>
          </a:p>
          <a:p>
            <a:pPr rtl="0">
              <a:buNone/>
            </a:pPr>
            <a:endParaRPr lang="en-US" dirty="0">
              <a:latin typeface="+mj-lt"/>
            </a:endParaRPr>
          </a:p>
          <a:p>
            <a:pPr>
              <a:buNone/>
            </a:pPr>
            <a:r>
              <a:rPr lang="en-US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15</a:t>
            </a:r>
          </a:p>
          <a:p>
            <a:pPr>
              <a:buNone/>
            </a:pPr>
            <a:r>
              <a:rPr lang="en-US" dirty="0"/>
              <a:t>Explanation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 += 5</a:t>
            </a:r>
          </a:p>
          <a:p>
            <a:pPr>
              <a:buNone/>
            </a:pPr>
            <a:r>
              <a:rPr lang="en-US" dirty="0"/>
              <a:t>means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 = a + 5</a:t>
            </a:r>
          </a:p>
        </p:txBody>
      </p:sp>
    </p:spTree>
    <p:extLst>
      <p:ext uri="{BB962C8B-B14F-4D97-AF65-F5344CB8AC3E}">
        <p14:creationId xmlns:p14="http://schemas.microsoft.com/office/powerpoint/2010/main" val="160110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51C3D-670F-9B87-98CA-1C6CE817C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67" y="420443"/>
            <a:ext cx="11107617" cy="367249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/>
              <a:t>Subtraction Assignment (-=)</a:t>
            </a:r>
          </a:p>
          <a:p>
            <a:pPr marL="0" indent="0">
              <a:buNone/>
            </a:pPr>
            <a:r>
              <a:rPr lang="en-US" sz="7200" dirty="0"/>
              <a:t>Subtracts a value and assigns the result.</a:t>
            </a:r>
          </a:p>
          <a:p>
            <a:pPr marL="0" indent="0">
              <a:buNone/>
            </a:pPr>
            <a:r>
              <a:rPr lang="en-US" sz="7200" dirty="0"/>
              <a:t>Example:</a:t>
            </a:r>
          </a:p>
          <a:p>
            <a:pPr marL="0" indent="0">
              <a:buNone/>
            </a:pPr>
            <a:r>
              <a:rPr lang="en-US" sz="7200" dirty="0"/>
              <a:t>int a = 20;</a:t>
            </a:r>
            <a:br>
              <a:rPr lang="en-US" sz="7200" dirty="0"/>
            </a:br>
            <a:br>
              <a:rPr lang="en-US" sz="7200" dirty="0"/>
            </a:br>
            <a:r>
              <a:rPr lang="en-US" sz="7200" dirty="0"/>
              <a:t>a -= 5;</a:t>
            </a:r>
            <a:br>
              <a:rPr lang="en-US" sz="7200" dirty="0"/>
            </a:br>
            <a:br>
              <a:rPr lang="en-US" sz="7200" dirty="0"/>
            </a:br>
            <a:r>
              <a:rPr lang="en-US" sz="7200" dirty="0" err="1"/>
              <a:t>System.out.println</a:t>
            </a:r>
            <a:r>
              <a:rPr lang="en-US" sz="7200" dirty="0"/>
              <a:t>(a);</a:t>
            </a:r>
          </a:p>
          <a:p>
            <a:pPr marL="0" indent="0">
              <a:buNone/>
            </a:pPr>
            <a:r>
              <a:rPr lang="en-US" sz="7200" b="1" dirty="0"/>
              <a:t>Output</a:t>
            </a:r>
          </a:p>
          <a:p>
            <a:pPr marL="0" indent="0">
              <a:buNone/>
            </a:pPr>
            <a:r>
              <a:rPr lang="en-US" sz="7200" dirty="0"/>
              <a:t>15</a:t>
            </a:r>
          </a:p>
          <a:p>
            <a:pPr marL="0" indent="0">
              <a:buNone/>
            </a:pPr>
            <a:r>
              <a:rPr lang="en-US" sz="7200" b="1" dirty="0"/>
              <a:t>Explanation</a:t>
            </a:r>
          </a:p>
          <a:p>
            <a:pPr marL="0" indent="0">
              <a:buNone/>
            </a:pPr>
            <a:r>
              <a:rPr lang="en-US" sz="7200" dirty="0"/>
              <a:t>a -= 5</a:t>
            </a:r>
          </a:p>
          <a:p>
            <a:pPr marL="0" indent="0">
              <a:buNone/>
            </a:pPr>
            <a:r>
              <a:rPr lang="en-US" sz="7200" dirty="0"/>
              <a:t>means</a:t>
            </a:r>
          </a:p>
          <a:p>
            <a:pPr marL="0" indent="0">
              <a:buNone/>
            </a:pPr>
            <a:r>
              <a:rPr lang="en-US" sz="7200" dirty="0"/>
              <a:t>a = a - 5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2159C-C522-B2D8-D698-3499EC3BB2C8}"/>
              </a:ext>
            </a:extLst>
          </p:cNvPr>
          <p:cNvSpPr txBox="1"/>
          <p:nvPr/>
        </p:nvSpPr>
        <p:spPr>
          <a:xfrm>
            <a:off x="6893170" y="283256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Multiplication Assignment (*=)</a:t>
            </a:r>
          </a:p>
          <a:p>
            <a:pPr>
              <a:buNone/>
            </a:pPr>
            <a:r>
              <a:rPr lang="en-US" dirty="0"/>
              <a:t>Multiplies a value and assigns the result.</a:t>
            </a:r>
          </a:p>
          <a:p>
            <a:pPr>
              <a:buNone/>
            </a:pPr>
            <a:r>
              <a:rPr lang="en-US" dirty="0"/>
              <a:t>Example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int a = 4;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a *= 5;</a:t>
            </a:r>
            <a:br>
              <a:rPr lang="en-US" dirty="0">
                <a:latin typeface="+mj-lt"/>
              </a:rPr>
            </a:br>
            <a:r>
              <a:rPr lang="en-US" dirty="0" err="1">
                <a:latin typeface="+mj-lt"/>
              </a:rPr>
              <a:t>System.out.println</a:t>
            </a:r>
            <a:r>
              <a:rPr lang="en-US" dirty="0">
                <a:latin typeface="+mj-lt"/>
              </a:rPr>
              <a:t>(a);</a:t>
            </a:r>
          </a:p>
          <a:p>
            <a:pPr rtl="0">
              <a:buNone/>
            </a:pPr>
            <a:endParaRPr lang="en-US" dirty="0">
              <a:latin typeface="+mj-lt"/>
            </a:endParaRP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20</a:t>
            </a:r>
          </a:p>
          <a:p>
            <a:pPr>
              <a:buNone/>
            </a:pPr>
            <a:r>
              <a:rPr lang="en-US" b="1" dirty="0">
                <a:latin typeface="+mj-lt"/>
              </a:rPr>
              <a:t>Explanation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a *= 5</a:t>
            </a:r>
          </a:p>
          <a:p>
            <a:pPr>
              <a:buNone/>
            </a:pPr>
            <a:r>
              <a:rPr lang="en-US" dirty="0">
                <a:latin typeface="+mj-lt"/>
              </a:rPr>
              <a:t>means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a = a * 5</a:t>
            </a:r>
          </a:p>
        </p:txBody>
      </p:sp>
    </p:spTree>
    <p:extLst>
      <p:ext uri="{BB962C8B-B14F-4D97-AF65-F5344CB8AC3E}">
        <p14:creationId xmlns:p14="http://schemas.microsoft.com/office/powerpoint/2010/main" val="613861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7A2B2-4DCD-1CA1-9D81-5D8AF136C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2" y="219564"/>
            <a:ext cx="11916508" cy="410625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Division Assignment (/=)</a:t>
            </a:r>
          </a:p>
          <a:p>
            <a:pPr marL="0" indent="0">
              <a:buNone/>
            </a:pPr>
            <a:r>
              <a:rPr lang="en-US" dirty="0"/>
              <a:t>Divides a value and assigns the result.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int a = 20;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 /= 4;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System.out.println</a:t>
            </a:r>
            <a:r>
              <a:rPr lang="en-US" dirty="0"/>
              <a:t>(a);</a:t>
            </a:r>
          </a:p>
          <a:p>
            <a:pPr marL="0" indent="0">
              <a:buNone/>
            </a:pPr>
            <a:r>
              <a:rPr lang="en-US" b="1" dirty="0"/>
              <a:t>Output</a:t>
            </a:r>
          </a:p>
          <a:p>
            <a:pPr marL="0" indent="0">
              <a:buNone/>
            </a:pPr>
            <a:r>
              <a:rPr lang="en-US" dirty="0"/>
              <a:t>5</a:t>
            </a:r>
          </a:p>
          <a:p>
            <a:pPr marL="0" indent="0">
              <a:buNone/>
            </a:pPr>
            <a:r>
              <a:rPr lang="en-US" dirty="0"/>
              <a:t>Explanation</a:t>
            </a:r>
          </a:p>
          <a:p>
            <a:pPr marL="0" indent="0">
              <a:buNone/>
            </a:pPr>
            <a:r>
              <a:rPr lang="en-US" dirty="0"/>
              <a:t>a /= 4</a:t>
            </a:r>
          </a:p>
          <a:p>
            <a:pPr marL="0" indent="0">
              <a:buNone/>
            </a:pPr>
            <a:r>
              <a:rPr lang="en-US" dirty="0"/>
              <a:t>means</a:t>
            </a:r>
          </a:p>
          <a:p>
            <a:pPr marL="0" indent="0">
              <a:buNone/>
            </a:pPr>
            <a:r>
              <a:rPr lang="en-US" dirty="0"/>
              <a:t>a = a / 4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97C4BE-866A-FE75-DEA7-ABB049ABA995}"/>
              </a:ext>
            </a:extLst>
          </p:cNvPr>
          <p:cNvSpPr txBox="1"/>
          <p:nvPr/>
        </p:nvSpPr>
        <p:spPr>
          <a:xfrm>
            <a:off x="6916615" y="219564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Modulus Assignment (%=)</a:t>
            </a:r>
          </a:p>
          <a:p>
            <a:pPr>
              <a:buNone/>
            </a:pPr>
            <a:r>
              <a:rPr lang="en-US" dirty="0"/>
              <a:t>Returns remainder and assigns it.</a:t>
            </a:r>
          </a:p>
          <a:p>
            <a:pPr>
              <a:buNone/>
            </a:pPr>
            <a:r>
              <a:rPr lang="en-US" b="1" dirty="0"/>
              <a:t>Example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int a = 10;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a %= 3;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 err="1">
                <a:latin typeface="+mj-lt"/>
              </a:rPr>
              <a:t>System.out.println</a:t>
            </a:r>
            <a:r>
              <a:rPr lang="en-US" dirty="0">
                <a:latin typeface="+mj-lt"/>
              </a:rPr>
              <a:t>(a);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</a:t>
            </a:r>
          </a:p>
          <a:p>
            <a:pPr>
              <a:buNone/>
            </a:pPr>
            <a:r>
              <a:rPr lang="en-US" dirty="0"/>
              <a:t>Explanation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 %= 3</a:t>
            </a:r>
          </a:p>
          <a:p>
            <a:pPr>
              <a:buNone/>
            </a:pPr>
            <a:r>
              <a:rPr lang="en-US" dirty="0"/>
              <a:t>means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 = a % 3</a:t>
            </a:r>
          </a:p>
        </p:txBody>
      </p:sp>
    </p:spTree>
    <p:extLst>
      <p:ext uri="{BB962C8B-B14F-4D97-AF65-F5344CB8AC3E}">
        <p14:creationId xmlns:p14="http://schemas.microsoft.com/office/powerpoint/2010/main" val="4737948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203B26-542F-93C9-C7FC-BFCA2BE96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446" y="336794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Combined Example Program</a:t>
            </a:r>
          </a:p>
          <a:p>
            <a:pPr marL="0" indent="0">
              <a:buNone/>
            </a:pPr>
            <a:r>
              <a:rPr lang="en-US" sz="1600" dirty="0"/>
              <a:t>class </a:t>
            </a:r>
            <a:r>
              <a:rPr lang="en-US" sz="1600" dirty="0" err="1"/>
              <a:t>AssignmentExample</a:t>
            </a:r>
            <a:r>
              <a:rPr lang="en-US" sz="1600" dirty="0"/>
              <a:t> {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public static void main(String </a:t>
            </a:r>
            <a:r>
              <a:rPr lang="en-US" sz="1600" dirty="0" err="1"/>
              <a:t>args</a:t>
            </a:r>
            <a:r>
              <a:rPr lang="en-US" sz="1600" dirty="0"/>
              <a:t>[]) {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int a = 10;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a += 5;</a:t>
            </a:r>
            <a:br>
              <a:rPr lang="en-US" sz="1600" dirty="0"/>
            </a:br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("Add Assign: " + a);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a -= 3;</a:t>
            </a:r>
            <a:br>
              <a:rPr lang="en-US" sz="1600" dirty="0"/>
            </a:br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("Subtract Assign: " + a);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a *= 2;</a:t>
            </a:r>
            <a:br>
              <a:rPr lang="en-US" sz="1600" dirty="0"/>
            </a:br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("Multiply Assign: " + a);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a /= 4;</a:t>
            </a:r>
            <a:br>
              <a:rPr lang="en-US" sz="1600" dirty="0"/>
            </a:br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("Divide Assign: " + a);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}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b="1" dirty="0"/>
              <a:t>Output</a:t>
            </a:r>
          </a:p>
          <a:p>
            <a:pPr marL="0" indent="0">
              <a:buNone/>
            </a:pPr>
            <a:r>
              <a:rPr lang="en-US" sz="1600" dirty="0"/>
              <a:t>Add Assign: 15</a:t>
            </a:r>
            <a:br>
              <a:rPr lang="en-US" sz="1600" dirty="0"/>
            </a:br>
            <a:r>
              <a:rPr lang="en-US" sz="1600" dirty="0"/>
              <a:t>Subtract Assign: 12</a:t>
            </a:r>
            <a:br>
              <a:rPr lang="en-US" sz="1600" dirty="0"/>
            </a:br>
            <a:r>
              <a:rPr lang="en-US" sz="1600" dirty="0"/>
              <a:t>Multiply Assign: 24</a:t>
            </a:r>
            <a:br>
              <a:rPr lang="en-US" sz="1600" dirty="0"/>
            </a:br>
            <a:r>
              <a:rPr lang="en-US" sz="1600" dirty="0"/>
              <a:t>Divide Assign: 6</a:t>
            </a:r>
          </a:p>
        </p:txBody>
      </p:sp>
    </p:spTree>
    <p:extLst>
      <p:ext uri="{BB962C8B-B14F-4D97-AF65-F5344CB8AC3E}">
        <p14:creationId xmlns:p14="http://schemas.microsoft.com/office/powerpoint/2010/main" val="3298045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2D04E-4AFE-E118-1610-63F5AD9D1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154" y="172671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/>
              <a:t>Real Time Example</a:t>
            </a:r>
          </a:p>
          <a:p>
            <a:pPr marL="0" indent="0">
              <a:buNone/>
            </a:pPr>
            <a:r>
              <a:rPr lang="en-US" sz="7200" dirty="0"/>
              <a:t>Bank account balance update.</a:t>
            </a:r>
          </a:p>
          <a:p>
            <a:pPr marL="0" indent="0">
              <a:buNone/>
            </a:pPr>
            <a:r>
              <a:rPr lang="en-US" sz="7200" dirty="0"/>
              <a:t>Example:</a:t>
            </a:r>
          </a:p>
          <a:p>
            <a:pPr marL="0" indent="0">
              <a:buNone/>
            </a:pPr>
            <a:r>
              <a:rPr lang="en-US" sz="7200" dirty="0"/>
              <a:t>int balance = 1000;</a:t>
            </a:r>
            <a:br>
              <a:rPr lang="en-US" sz="7200" dirty="0"/>
            </a:br>
            <a:br>
              <a:rPr lang="en-US" sz="7200" dirty="0"/>
            </a:br>
            <a:r>
              <a:rPr lang="en-US" sz="7200" dirty="0"/>
              <a:t>balance += 500;</a:t>
            </a:r>
          </a:p>
          <a:p>
            <a:pPr marL="0" indent="0">
              <a:buNone/>
            </a:pPr>
            <a:r>
              <a:rPr lang="en-US" sz="7200" dirty="0"/>
              <a:t>Meaning</a:t>
            </a:r>
          </a:p>
          <a:p>
            <a:pPr marL="0" indent="0">
              <a:buNone/>
            </a:pPr>
            <a:r>
              <a:rPr lang="en-US" sz="7200" dirty="0"/>
              <a:t>Deposit </a:t>
            </a:r>
            <a:r>
              <a:rPr lang="en-US" sz="7200" b="1" dirty="0"/>
              <a:t>500</a:t>
            </a:r>
            <a:r>
              <a:rPr lang="en-US" sz="7200" dirty="0"/>
              <a:t> into the account.</a:t>
            </a:r>
          </a:p>
          <a:p>
            <a:pPr marL="0" indent="0">
              <a:buNone/>
            </a:pPr>
            <a:r>
              <a:rPr lang="en-US" sz="7200" dirty="0"/>
              <a:t>New balance</a:t>
            </a:r>
          </a:p>
          <a:p>
            <a:pPr marL="0" indent="0">
              <a:buNone/>
            </a:pPr>
            <a:r>
              <a:rPr lang="en-US" sz="7200" dirty="0"/>
              <a:t>1500</a:t>
            </a:r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b="1" dirty="0"/>
              <a:t>Slide 12 – Advantages</a:t>
            </a:r>
          </a:p>
          <a:p>
            <a:pPr marL="0" indent="0">
              <a:buNone/>
            </a:pPr>
            <a:r>
              <a:rPr lang="en-US" sz="7200" dirty="0"/>
              <a:t>Makes code </a:t>
            </a:r>
            <a:r>
              <a:rPr lang="en-US" sz="7200" b="1" dirty="0"/>
              <a:t>shorter</a:t>
            </a:r>
            <a:endParaRPr lang="en-US" sz="7200" dirty="0"/>
          </a:p>
          <a:p>
            <a:pPr marL="0" indent="0">
              <a:buNone/>
            </a:pPr>
            <a:r>
              <a:rPr lang="en-US" sz="7200" dirty="0"/>
              <a:t>Improves </a:t>
            </a:r>
            <a:r>
              <a:rPr lang="en-US" sz="7200" b="1" dirty="0"/>
              <a:t>readability</a:t>
            </a:r>
            <a:endParaRPr lang="en-US" sz="7200" dirty="0"/>
          </a:p>
          <a:p>
            <a:pPr marL="0" indent="0">
              <a:buNone/>
            </a:pPr>
            <a:r>
              <a:rPr lang="en-US" sz="7200" dirty="0"/>
              <a:t>Reduces </a:t>
            </a:r>
            <a:r>
              <a:rPr lang="en-US" sz="7200" b="1" dirty="0"/>
              <a:t>repetition</a:t>
            </a:r>
            <a:endParaRPr lang="en-US" sz="7200" dirty="0"/>
          </a:p>
          <a:p>
            <a:pPr marL="0" indent="0">
              <a:buNone/>
            </a:pPr>
            <a:r>
              <a:rPr lang="en-US" sz="7200" dirty="0"/>
              <a:t>Useful in calculations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124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2F9404-5403-8833-59BC-AE9F7F63840E}"/>
              </a:ext>
            </a:extLst>
          </p:cNvPr>
          <p:cNvSpPr txBox="1"/>
          <p:nvPr/>
        </p:nvSpPr>
        <p:spPr>
          <a:xfrm>
            <a:off x="316524" y="18756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Logical Operation?</a:t>
            </a:r>
          </a:p>
          <a:p>
            <a:r>
              <a:rPr lang="en-US" b="1" dirty="0"/>
              <a:t>Logical operation</a:t>
            </a:r>
            <a:r>
              <a:rPr lang="en-US" dirty="0"/>
              <a:t> is used to </a:t>
            </a:r>
            <a:r>
              <a:rPr lang="en-US" b="1" dirty="0"/>
              <a:t>check conditions</a:t>
            </a:r>
            <a:r>
              <a:rPr lang="en-US" dirty="0"/>
              <a:t>.</a:t>
            </a:r>
          </a:p>
          <a:p>
            <a:r>
              <a:rPr lang="en-US" dirty="0"/>
              <a:t>It always gives the result:</a:t>
            </a:r>
          </a:p>
          <a:p>
            <a:r>
              <a:rPr lang="en-US" b="1" dirty="0"/>
              <a:t>True</a:t>
            </a:r>
            <a:r>
              <a:rPr lang="en-US" dirty="0"/>
              <a:t> </a:t>
            </a:r>
          </a:p>
          <a:p>
            <a:r>
              <a:rPr lang="en-US" b="1" dirty="0"/>
              <a:t>False</a:t>
            </a:r>
            <a:r>
              <a:rPr lang="en-US" dirty="0"/>
              <a:t> </a:t>
            </a:r>
          </a:p>
          <a:p>
            <a:r>
              <a:rPr lang="en-US" dirty="0"/>
              <a:t>We use logical operations mainly in </a:t>
            </a:r>
            <a:r>
              <a:rPr lang="en-US" b="1" dirty="0"/>
              <a:t>decision making</a:t>
            </a:r>
            <a:r>
              <a:rPr lang="en-US" dirty="0"/>
              <a:t> like:</a:t>
            </a:r>
          </a:p>
          <a:p>
            <a:r>
              <a:rPr lang="en-US" dirty="0"/>
              <a:t>if</a:t>
            </a:r>
          </a:p>
          <a:p>
            <a:r>
              <a:rPr lang="en-US" dirty="0"/>
              <a:t>while</a:t>
            </a:r>
          </a:p>
          <a:p>
            <a:r>
              <a:rPr lang="en-US" dirty="0"/>
              <a:t>for</a:t>
            </a:r>
          </a:p>
          <a:p>
            <a:r>
              <a:rPr lang="en-US" dirty="0"/>
              <a:t>Example idea:</a:t>
            </a:r>
          </a:p>
          <a:p>
            <a:r>
              <a:rPr lang="en-US" dirty="0"/>
              <a:t>If </a:t>
            </a:r>
            <a:r>
              <a:rPr lang="en-US" b="1" dirty="0"/>
              <a:t>age is greater than 18</a:t>
            </a:r>
            <a:r>
              <a:rPr lang="en-US" dirty="0"/>
              <a:t>, allow voting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9D146-C1F0-9BBB-A772-00F48691CC00}"/>
              </a:ext>
            </a:extLst>
          </p:cNvPr>
          <p:cNvSpPr txBox="1"/>
          <p:nvPr/>
        </p:nvSpPr>
        <p:spPr>
          <a:xfrm>
            <a:off x="316524" y="361561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Types of Logical Operators</a:t>
            </a:r>
          </a:p>
          <a:p>
            <a:pPr>
              <a:buNone/>
            </a:pPr>
            <a:r>
              <a:rPr lang="en-US" dirty="0"/>
              <a:t>Java has </a:t>
            </a:r>
            <a:r>
              <a:rPr lang="en-US" b="1" dirty="0"/>
              <a:t>3 main logical operators</a:t>
            </a:r>
            <a:r>
              <a:rPr lang="en-US" dirty="0"/>
              <a:t>.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1FBDA0A0-5CDE-F3A4-7581-7843FC382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267195"/>
              </p:ext>
            </p:extLst>
          </p:nvPr>
        </p:nvGraphicFramePr>
        <p:xfrm>
          <a:off x="316524" y="4474737"/>
          <a:ext cx="10515600" cy="1737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22164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904980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440718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589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&amp;&amp;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Logical AND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True if both conditions are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54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||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Logical 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True if at least one condition is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96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!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Logical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Reverses the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036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6986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218550-48B3-AD19-D5E1-C5C53BC61B58}"/>
              </a:ext>
            </a:extLst>
          </p:cNvPr>
          <p:cNvSpPr txBox="1"/>
          <p:nvPr/>
        </p:nvSpPr>
        <p:spPr>
          <a:xfrm>
            <a:off x="181709" y="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Logical AND Operator (&amp;&amp;)</a:t>
            </a:r>
          </a:p>
          <a:p>
            <a:r>
              <a:rPr lang="en-US" b="1" dirty="0"/>
              <a:t>Rule</a:t>
            </a:r>
          </a:p>
          <a:p>
            <a:r>
              <a:rPr lang="en-US" dirty="0"/>
              <a:t>Both conditions must be </a:t>
            </a:r>
            <a:r>
              <a:rPr lang="en-US" b="1" dirty="0"/>
              <a:t>true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true &amp;&amp; true  = true</a:t>
            </a:r>
            <a:br>
              <a:rPr lang="en-US" dirty="0"/>
            </a:br>
            <a:r>
              <a:rPr lang="en-US" dirty="0" err="1"/>
              <a:t>true</a:t>
            </a:r>
            <a:r>
              <a:rPr lang="en-US" dirty="0"/>
              <a:t> &amp;&amp; false = false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4F390C-D119-34F3-194A-943FAC71313C}"/>
              </a:ext>
            </a:extLst>
          </p:cNvPr>
          <p:cNvSpPr txBox="1"/>
          <p:nvPr/>
        </p:nvSpPr>
        <p:spPr>
          <a:xfrm>
            <a:off x="181709" y="2170672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LogicalAndExample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endParaRPr lang="en-US" dirty="0"/>
          </a:p>
          <a:p>
            <a:r>
              <a:rPr lang="en-US" dirty="0"/>
              <a:t>        int age = 20;</a:t>
            </a:r>
          </a:p>
          <a:p>
            <a:r>
              <a:rPr lang="en-US" dirty="0"/>
              <a:t>        int mark = 60;</a:t>
            </a:r>
          </a:p>
          <a:p>
            <a:endParaRPr lang="en-US" dirty="0"/>
          </a:p>
          <a:p>
            <a:r>
              <a:rPr lang="en-US" dirty="0"/>
              <a:t>        if(age &gt; 18 &amp;&amp; mark &gt;= 50)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("Eligible");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390648-E1B6-C988-3A10-C5E40694CD5B}"/>
              </a:ext>
            </a:extLst>
          </p:cNvPr>
          <p:cNvSpPr txBox="1"/>
          <p:nvPr/>
        </p:nvSpPr>
        <p:spPr>
          <a:xfrm>
            <a:off x="181709" y="17543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Program</a:t>
            </a:r>
          </a:p>
        </p:txBody>
      </p:sp>
    </p:spTree>
    <p:extLst>
      <p:ext uri="{BB962C8B-B14F-4D97-AF65-F5344CB8AC3E}">
        <p14:creationId xmlns:p14="http://schemas.microsoft.com/office/powerpoint/2010/main" val="30757762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FAAF9-2103-6804-750E-9B1573353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23" y="0"/>
            <a:ext cx="10515600" cy="22156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Logical OR Operator (||)</a:t>
            </a:r>
          </a:p>
          <a:p>
            <a:pPr marL="0" indent="0">
              <a:buNone/>
            </a:pPr>
            <a:r>
              <a:rPr lang="en-US" sz="2000" b="1" dirty="0"/>
              <a:t>Rule</a:t>
            </a:r>
          </a:p>
          <a:p>
            <a:pPr marL="0" indent="0">
              <a:buNone/>
            </a:pPr>
            <a:r>
              <a:rPr lang="en-US" sz="2000" dirty="0"/>
              <a:t>If </a:t>
            </a:r>
            <a:r>
              <a:rPr lang="en-US" sz="2000" b="1" dirty="0"/>
              <a:t>any one condition is true</a:t>
            </a:r>
            <a:r>
              <a:rPr lang="en-US" sz="2000" dirty="0"/>
              <a:t>, result is </a:t>
            </a:r>
            <a:r>
              <a:rPr lang="en-US" sz="2000" b="1" dirty="0"/>
              <a:t>true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pPr marL="0" indent="0">
              <a:buNone/>
            </a:pPr>
            <a:r>
              <a:rPr lang="en-US" sz="2000" dirty="0"/>
              <a:t>true || false = true</a:t>
            </a:r>
            <a:br>
              <a:rPr lang="en-US" sz="2000" dirty="0"/>
            </a:br>
            <a:r>
              <a:rPr lang="en-US" sz="2000" dirty="0"/>
              <a:t>false || false = false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E9AAD-525F-1B1F-8854-52C68B3A22BD}"/>
              </a:ext>
            </a:extLst>
          </p:cNvPr>
          <p:cNvSpPr txBox="1"/>
          <p:nvPr/>
        </p:nvSpPr>
        <p:spPr>
          <a:xfrm>
            <a:off x="87923" y="221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86B2F-5622-6A0C-C7B4-99176A40B340}"/>
              </a:ext>
            </a:extLst>
          </p:cNvPr>
          <p:cNvSpPr txBox="1"/>
          <p:nvPr/>
        </p:nvSpPr>
        <p:spPr>
          <a:xfrm>
            <a:off x="211015" y="2584994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LogicalOrExample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endParaRPr lang="en-US" dirty="0"/>
          </a:p>
          <a:p>
            <a:r>
              <a:rPr lang="en-US" dirty="0"/>
              <a:t>        int age = 65;</a:t>
            </a:r>
          </a:p>
          <a:p>
            <a:endParaRPr lang="en-US" dirty="0"/>
          </a:p>
          <a:p>
            <a:r>
              <a:rPr lang="en-US" dirty="0"/>
              <a:t>        if(age &lt; 12 || age &gt; 60)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("Free Ticket");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29573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28A892-3FC5-F244-5246-4CBCDAE6D873}"/>
              </a:ext>
            </a:extLst>
          </p:cNvPr>
          <p:cNvSpPr txBox="1"/>
          <p:nvPr/>
        </p:nvSpPr>
        <p:spPr>
          <a:xfrm>
            <a:off x="257907" y="0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Logical NOT Operator (</a:t>
            </a:r>
            <a:r>
              <a:rPr lang="en-US" b="1" dirty="0">
                <a:latin typeface="Courier New" panose="02070309020205020404" pitchFamily="49" charset="0"/>
              </a:rPr>
              <a:t>!</a:t>
            </a:r>
            <a:r>
              <a:rPr lang="en-US" b="1" dirty="0"/>
              <a:t>)</a:t>
            </a:r>
          </a:p>
          <a:p>
            <a:pPr>
              <a:buNone/>
            </a:pPr>
            <a:r>
              <a:rPr lang="en-US" b="1" dirty="0"/>
              <a:t>Rule</a:t>
            </a:r>
          </a:p>
          <a:p>
            <a:pPr>
              <a:buNone/>
            </a:pPr>
            <a:r>
              <a:rPr lang="en-US" dirty="0"/>
              <a:t>It </a:t>
            </a:r>
            <a:r>
              <a:rPr lang="en-US" b="1" dirty="0"/>
              <a:t>reverses the result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!true = false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!false = true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 Code</a:t>
            </a:r>
          </a:p>
          <a:p>
            <a:pPr rtl="0">
              <a:buNone/>
            </a:pPr>
            <a:r>
              <a:rPr lang="en-US" dirty="0">
                <a:latin typeface="+mj-lt"/>
              </a:rPr>
              <a:t>public class </a:t>
            </a:r>
            <a:r>
              <a:rPr lang="en-US" dirty="0" err="1">
                <a:latin typeface="+mj-lt"/>
              </a:rPr>
              <a:t>LogicalNotExample</a:t>
            </a:r>
            <a:r>
              <a:rPr lang="en-US" dirty="0">
                <a:latin typeface="+mj-lt"/>
              </a:rPr>
              <a:t> {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public static void main(String[] </a:t>
            </a:r>
            <a:r>
              <a:rPr lang="en-US" dirty="0" err="1">
                <a:latin typeface="+mj-lt"/>
              </a:rPr>
              <a:t>args</a:t>
            </a:r>
            <a:r>
              <a:rPr lang="en-US" dirty="0">
                <a:latin typeface="+mj-lt"/>
              </a:rPr>
              <a:t>) {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    </a:t>
            </a:r>
            <a:r>
              <a:rPr lang="en-US" dirty="0" err="1">
                <a:latin typeface="+mj-lt"/>
              </a:rPr>
              <a:t>boolean</a:t>
            </a:r>
            <a:r>
              <a:rPr lang="en-US" dirty="0">
                <a:latin typeface="+mj-lt"/>
              </a:rPr>
              <a:t> rain = false;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    if(!rain)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    {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        </a:t>
            </a:r>
            <a:r>
              <a:rPr lang="en-US" dirty="0" err="1">
                <a:latin typeface="+mj-lt"/>
              </a:rPr>
              <a:t>System.out.println</a:t>
            </a:r>
            <a:r>
              <a:rPr lang="en-US" dirty="0">
                <a:latin typeface="+mj-lt"/>
              </a:rPr>
              <a:t>("Go Outside");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    }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    }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02346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8E65D88D-7FF3-7729-4584-9DB6CFA3A21C}"/>
              </a:ext>
            </a:extLst>
          </p:cNvPr>
          <p:cNvSpPr txBox="1"/>
          <p:nvPr/>
        </p:nvSpPr>
        <p:spPr>
          <a:xfrm>
            <a:off x="0" y="7187"/>
            <a:ext cx="13716000" cy="73866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Relational Operators in Java</a:t>
            </a:r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16C3E3-C008-E7EF-EE3F-C600551054CA}"/>
              </a:ext>
            </a:extLst>
          </p:cNvPr>
          <p:cNvSpPr txBox="1"/>
          <p:nvPr/>
        </p:nvSpPr>
        <p:spPr>
          <a:xfrm>
            <a:off x="215660" y="553528"/>
            <a:ext cx="12407659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Introduction</a:t>
            </a:r>
          </a:p>
          <a:p>
            <a:r>
              <a:rPr lang="en-US" sz="2000"/>
              <a:t>Relational operators are used to </a:t>
            </a:r>
            <a:r>
              <a:rPr lang="en-US" sz="2000" b="1"/>
              <a:t>compare two values</a:t>
            </a:r>
            <a:r>
              <a:rPr lang="en-US" sz="2000"/>
              <a:t> in Java.</a:t>
            </a:r>
          </a:p>
          <a:p>
            <a:r>
              <a:rPr lang="en-US" sz="2000"/>
              <a:t>They check the </a:t>
            </a:r>
            <a:r>
              <a:rPr lang="en-US" sz="2000" b="1"/>
              <a:t>relationship between two operands</a:t>
            </a:r>
            <a:r>
              <a:rPr lang="en-US" sz="2000"/>
              <a:t> and return a </a:t>
            </a:r>
            <a:r>
              <a:rPr lang="en-US" sz="2000" b="1"/>
              <a:t>Boolean value</a:t>
            </a:r>
            <a:r>
              <a:rPr lang="en-US" sz="2000"/>
              <a:t>.</a:t>
            </a:r>
          </a:p>
          <a:p>
            <a:r>
              <a:rPr lang="en-US" sz="2000"/>
              <a:t>Return values:</a:t>
            </a:r>
          </a:p>
          <a:p>
            <a:r>
              <a:rPr lang="en-US" sz="2000"/>
              <a:t>true</a:t>
            </a:r>
          </a:p>
          <a:p>
            <a:r>
              <a:rPr lang="en-US" sz="2000"/>
              <a:t>false</a:t>
            </a:r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1E40A-5424-D2C4-497A-BEA9775F0E4C}"/>
              </a:ext>
            </a:extLst>
          </p:cNvPr>
          <p:cNvSpPr txBox="1"/>
          <p:nvPr/>
        </p:nvSpPr>
        <p:spPr>
          <a:xfrm>
            <a:off x="215660" y="2523226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Example</a:t>
            </a:r>
          </a:p>
          <a:p>
            <a:r>
              <a:rPr lang="en-US" dirty="0"/>
              <a:t>int a = 10;</a:t>
            </a:r>
            <a:br>
              <a:rPr lang="en-US" dirty="0"/>
            </a:br>
            <a:r>
              <a:rPr lang="en-US" dirty="0"/>
              <a:t>int b = 20;</a:t>
            </a:r>
            <a:br>
              <a:rPr lang="en-US" dirty="0"/>
            </a:br>
            <a:r>
              <a:rPr lang="en-US" dirty="0" err="1"/>
              <a:t>System.out.println</a:t>
            </a:r>
            <a:r>
              <a:rPr lang="en-US" dirty="0"/>
              <a:t>(a &lt; b); // true</a:t>
            </a:r>
          </a:p>
          <a:p>
            <a:r>
              <a:rPr lang="en-US"/>
              <a:t>Here Java checks whether </a:t>
            </a:r>
            <a:r>
              <a:rPr lang="en-US" b="1"/>
              <a:t>10 is less than 20</a:t>
            </a:r>
            <a:r>
              <a:rPr lang="en-US"/>
              <a:t>.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549B0-D3D9-0A01-5578-ED9B3BE0F429}"/>
              </a:ext>
            </a:extLst>
          </p:cNvPr>
          <p:cNvSpPr txBox="1"/>
          <p:nvPr/>
        </p:nvSpPr>
        <p:spPr>
          <a:xfrm>
            <a:off x="215661" y="4464170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 Types of Relational Operators</a:t>
            </a:r>
          </a:p>
          <a:p>
            <a:r>
              <a:rPr lang="en-US"/>
              <a:t>There are </a:t>
            </a:r>
            <a:r>
              <a:rPr lang="en-US" b="1"/>
              <a:t>6 relational operators in Java</a:t>
            </a:r>
            <a:r>
              <a:rPr lang="en-US"/>
              <a:t>.</a:t>
            </a:r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400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BA59A0-44F1-0AA1-5F7D-261615FE5A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6412" y="847343"/>
          <a:ext cx="10579176" cy="51633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94685">
                  <a:extLst>
                    <a:ext uri="{9D8B030D-6E8A-4147-A177-3AD203B41FA5}">
                      <a16:colId xmlns:a16="http://schemas.microsoft.com/office/drawing/2014/main" val="3465616468"/>
                    </a:ext>
                  </a:extLst>
                </a:gridCol>
                <a:gridCol w="7084491">
                  <a:extLst>
                    <a:ext uri="{9D8B030D-6E8A-4147-A177-3AD203B41FA5}">
                      <a16:colId xmlns:a16="http://schemas.microsoft.com/office/drawing/2014/main" val="1078556247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Operator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Meaning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276775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latin typeface="Courier New" panose="02070309020205020404" pitchFamily="49" charset="0"/>
                        </a:rPr>
                        <a:t>==</a:t>
                      </a: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Equal to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45866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latin typeface="Courier New" panose="02070309020205020404" pitchFamily="49" charset="0"/>
                        </a:rPr>
                        <a:t>!=</a:t>
                      </a: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Not equal to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33745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latin typeface="Courier New" panose="02070309020205020404" pitchFamily="49" charset="0"/>
                        </a:rPr>
                        <a:t>&gt;</a:t>
                      </a: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Greater than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161877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latin typeface="Courier New" panose="02070309020205020404" pitchFamily="49" charset="0"/>
                        </a:rPr>
                        <a:t>&lt;</a:t>
                      </a: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Less than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17790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latin typeface="Courier New" panose="02070309020205020404" pitchFamily="49" charset="0"/>
                        </a:rPr>
                        <a:t>&gt;=</a:t>
                      </a: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Greater than or equal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215595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latin typeface="Courier New" panose="02070309020205020404" pitchFamily="49" charset="0"/>
                        </a:rPr>
                        <a:t>&lt;=</a:t>
                      </a: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Less than or equal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387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5146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280CE-D91D-DBCD-1A71-E9BD6941E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728" y="229738"/>
            <a:ext cx="10961298" cy="44951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/>
              <a:t>Example</a:t>
            </a:r>
            <a:br>
              <a:rPr lang="en-US" sz="1800" dirty="0"/>
            </a:br>
            <a:r>
              <a:rPr lang="en-US" sz="1800"/>
              <a:t>Equal</a:t>
            </a:r>
            <a:r>
              <a:rPr lang="en-US" sz="1800" dirty="0"/>
              <a:t> To Operator (==)</a:t>
            </a:r>
          </a:p>
          <a:p>
            <a:pPr marL="0" indent="0">
              <a:buNone/>
            </a:pPr>
            <a:r>
              <a:rPr lang="en-US" sz="1800"/>
              <a:t>Concept</a:t>
            </a:r>
            <a:endParaRPr lang="en-US" sz="1800" dirty="0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Checks whether </a:t>
            </a:r>
            <a:r>
              <a:rPr lang="en-US" sz="1800" b="1">
                <a:ea typeface="+mn-lt"/>
                <a:cs typeface="+mn-lt"/>
              </a:rPr>
              <a:t>two values are equal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 dirty="0"/>
          </a:p>
          <a:p>
            <a:pPr marL="0" indent="0">
              <a:buNone/>
            </a:pPr>
            <a:r>
              <a:rPr lang="en-US" sz="1800"/>
              <a:t>Syntax</a:t>
            </a:r>
            <a:endParaRPr lang="en-US" sz="1800" dirty="0"/>
          </a:p>
          <a:p>
            <a:pPr marL="0" indent="0">
              <a:buNone/>
            </a:pPr>
            <a:r>
              <a:rPr lang="en-US" sz="1800">
                <a:latin typeface="Consolas"/>
              </a:rPr>
              <a:t>value1 == value2</a:t>
            </a:r>
            <a:endParaRPr lang="en-US" sz="1800" dirty="0"/>
          </a:p>
          <a:p>
            <a:pPr marL="0" indent="0">
              <a:buNone/>
            </a:pPr>
            <a:r>
              <a:rPr lang="en-US" sz="1800"/>
              <a:t>Example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public class </a:t>
            </a:r>
            <a:r>
              <a:rPr lang="en-US" sz="1800" dirty="0" err="1">
                <a:latin typeface="Consolas"/>
              </a:rPr>
              <a:t>EqualExample</a:t>
            </a:r>
            <a:r>
              <a:rPr lang="en-US" sz="1800" dirty="0">
                <a:latin typeface="Consolas"/>
              </a:rPr>
              <a:t> {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  public static void main(String[] </a:t>
            </a:r>
            <a:r>
              <a:rPr lang="en-US" sz="1800" dirty="0" err="1">
                <a:latin typeface="Consolas"/>
              </a:rPr>
              <a:t>args</a:t>
            </a:r>
            <a:r>
              <a:rPr lang="en-US" sz="1800" dirty="0">
                <a:latin typeface="Consolas"/>
              </a:rPr>
              <a:t>) {</a:t>
            </a:r>
            <a:br>
              <a:rPr lang="en-US" sz="1800" dirty="0">
                <a:latin typeface="Consolas"/>
              </a:rPr>
            </a:b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      int a = 10;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      int b = 10;</a:t>
            </a:r>
            <a:br>
              <a:rPr lang="en-US" sz="1800" dirty="0">
                <a:latin typeface="Consolas"/>
              </a:rPr>
            </a:b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      </a:t>
            </a:r>
            <a:r>
              <a:rPr lang="en-US" sz="1800" dirty="0" err="1">
                <a:latin typeface="Consolas"/>
              </a:rPr>
              <a:t>System.out.println</a:t>
            </a:r>
            <a:r>
              <a:rPr lang="en-US" sz="1800" dirty="0">
                <a:latin typeface="Consolas"/>
              </a:rPr>
              <a:t>(a == b);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  }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}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023224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41BC6-696C-5218-E0D5-926D9A5DD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08" y="301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/>
              <a:t>Output</a:t>
            </a:r>
            <a:endParaRPr lang="en-US" b="1"/>
          </a:p>
          <a:p>
            <a:pPr marL="0" indent="0">
              <a:buNone/>
            </a:pPr>
            <a:r>
              <a:rPr lang="en-US" sz="1800">
                <a:latin typeface="Consolas"/>
              </a:rPr>
              <a:t>true</a:t>
            </a:r>
          </a:p>
          <a:p>
            <a:pPr marL="0" indent="0">
              <a:buNone/>
            </a:pPr>
            <a:r>
              <a:rPr lang="en-US" sz="1800"/>
              <a:t>Line by Line Explanation</a:t>
            </a:r>
          </a:p>
          <a:p>
            <a:pPr marL="0" indent="0">
              <a:buNone/>
            </a:pPr>
            <a:r>
              <a:rPr lang="en-US" sz="1800">
                <a:latin typeface="Consolas"/>
              </a:rPr>
              <a:t>int a = 10;</a:t>
            </a: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 Variable </a:t>
            </a:r>
            <a:r>
              <a:rPr lang="en-US" sz="1800" b="1"/>
              <a:t>a</a:t>
            </a:r>
            <a:r>
              <a:rPr lang="en-US" sz="1800"/>
              <a:t> stores value 10.</a:t>
            </a:r>
          </a:p>
          <a:p>
            <a:pPr marL="0" indent="0">
              <a:buNone/>
            </a:pPr>
            <a:r>
              <a:rPr lang="en-US" sz="1800">
                <a:latin typeface="Consolas"/>
              </a:rPr>
              <a:t>int b = 10;</a:t>
            </a: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 Variable </a:t>
            </a:r>
            <a:r>
              <a:rPr lang="en-US" sz="1800" b="1"/>
              <a:t>b</a:t>
            </a:r>
            <a:r>
              <a:rPr lang="en-US" sz="1800"/>
              <a:t> stores value 10.</a:t>
            </a:r>
          </a:p>
          <a:p>
            <a:pPr marL="0" indent="0">
              <a:buNone/>
            </a:pPr>
            <a:r>
              <a:rPr lang="en-US" sz="1800">
                <a:latin typeface="Consolas"/>
              </a:rPr>
              <a:t>a == b</a:t>
            </a: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 Java checks </a:t>
            </a:r>
            <a:r>
              <a:rPr lang="en-US" sz="1800" b="1"/>
              <a:t>10 equals 10</a:t>
            </a:r>
            <a:r>
              <a:rPr lang="en-US" sz="1800"/>
              <a:t>.</a:t>
            </a:r>
          </a:p>
          <a:p>
            <a:pPr marL="0" indent="0">
              <a:buNone/>
            </a:pPr>
            <a:r>
              <a:rPr lang="en-US" sz="1800"/>
              <a:t>Result → </a:t>
            </a:r>
            <a:r>
              <a:rPr lang="en-US" sz="1800" b="1"/>
              <a:t>true</a:t>
            </a:r>
            <a:endParaRPr lang="en-US" sz="1800"/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21F92-9B44-30BE-B8FA-8C0D39B9D353}"/>
              </a:ext>
            </a:extLst>
          </p:cNvPr>
          <p:cNvSpPr txBox="1"/>
          <p:nvPr/>
        </p:nvSpPr>
        <p:spPr>
          <a:xfrm>
            <a:off x="575094" y="3759679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Real Time Example</a:t>
            </a:r>
          </a:p>
          <a:p>
            <a:r>
              <a:rPr lang="en-US" dirty="0"/>
              <a:t>Login system</a:t>
            </a:r>
          </a:p>
          <a:p>
            <a:endParaRPr lang="en-US" dirty="0"/>
          </a:p>
          <a:p>
            <a:r>
              <a:rPr lang="en-US" dirty="0"/>
              <a:t>if(password == </a:t>
            </a:r>
            <a:r>
              <a:rPr lang="en-US" dirty="0" err="1"/>
              <a:t>enteredPassword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System checks if </a:t>
            </a:r>
            <a:r>
              <a:rPr lang="en-US" b="1" dirty="0"/>
              <a:t>entered password equals stored password</a:t>
            </a:r>
            <a:r>
              <a:rPr lang="en-US" dirty="0"/>
              <a:t>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723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C6A18-E985-49B1-E067-6D1D54B5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2" y="120710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/>
              <a:t>Not Equal Operator (!=)</a:t>
            </a:r>
          </a:p>
          <a:p>
            <a:r>
              <a:rPr lang="en-US" sz="2000">
                <a:ea typeface="+mj-lt"/>
                <a:cs typeface="+mj-lt"/>
              </a:rPr>
              <a:t>Checks whether </a:t>
            </a:r>
            <a:r>
              <a:rPr lang="en-US" sz="2000" b="1">
                <a:ea typeface="+mj-lt"/>
                <a:cs typeface="+mj-lt"/>
              </a:rPr>
              <a:t>two values are not equal</a:t>
            </a:r>
            <a:r>
              <a:rPr lang="en-US" sz="2000">
                <a:ea typeface="+mj-lt"/>
                <a:cs typeface="+mj-lt"/>
              </a:rPr>
              <a:t>.</a:t>
            </a:r>
            <a:endParaRPr lang="en-US" sz="180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5C7EE-0BB2-2407-103D-301E24301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2" y="962984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>
                <a:latin typeface="Aptos"/>
              </a:rPr>
              <a:t>S</a:t>
            </a:r>
            <a:r>
              <a:rPr lang="en-US" sz="1800">
                <a:latin typeface="Aptos"/>
              </a:rPr>
              <a:t>yntax</a:t>
            </a:r>
            <a:endParaRPr lang="en-US" sz="1800" dirty="0">
              <a:latin typeface="Aptos"/>
            </a:endParaRPr>
          </a:p>
          <a:p>
            <a:pPr marL="0" indent="0">
              <a:buNone/>
            </a:pPr>
            <a:r>
              <a:rPr lang="en-US" sz="1800">
                <a:latin typeface="Consolas"/>
              </a:rPr>
              <a:t>value1 != value2</a:t>
            </a:r>
            <a:endParaRPr lang="en-US" sz="1800" dirty="0">
              <a:latin typeface="Aptos"/>
            </a:endParaRPr>
          </a:p>
          <a:p>
            <a:pPr marL="0" indent="0">
              <a:buNone/>
            </a:pPr>
            <a:r>
              <a:rPr lang="en-US" sz="1800">
                <a:latin typeface="Aptos"/>
              </a:rPr>
              <a:t>Example</a:t>
            </a:r>
            <a:endParaRPr lang="en-US" sz="1800" dirty="0">
              <a:latin typeface="Aptos"/>
            </a:endParaRP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public class NotEqualExample {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  public static void main(String[] args) {</a:t>
            </a:r>
            <a:br>
              <a:rPr lang="en-US" sz="1800" dirty="0">
                <a:latin typeface="Consolas"/>
              </a:rPr>
            </a:b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      int a = 10;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      int b = 5;</a:t>
            </a:r>
            <a:br>
              <a:rPr lang="en-US" sz="1800" dirty="0">
                <a:latin typeface="Consolas"/>
              </a:rPr>
            </a:b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      System.out.println(a != b);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    }</a:t>
            </a:r>
            <a:br>
              <a:rPr lang="en-US" sz="1800" dirty="0">
                <a:latin typeface="Consolas"/>
              </a:rPr>
            </a:br>
            <a:r>
              <a:rPr lang="en-US" sz="1800" dirty="0">
                <a:latin typeface="Consolas"/>
              </a:rPr>
              <a:t>}</a:t>
            </a:r>
            <a:endParaRPr lang="en-US" sz="1800" dirty="0">
              <a:latin typeface="Aptos"/>
            </a:endParaRPr>
          </a:p>
          <a:p>
            <a:pPr marL="0" indent="0">
              <a:buNone/>
            </a:pPr>
            <a:r>
              <a:rPr lang="en-US" sz="1800">
                <a:latin typeface="Aptos"/>
              </a:rPr>
              <a:t>Output</a:t>
            </a:r>
            <a:endParaRPr lang="en-US" sz="1800" dirty="0">
              <a:latin typeface="Aptos"/>
            </a:endParaRPr>
          </a:p>
          <a:p>
            <a:pPr marL="0" indent="0">
              <a:buNone/>
            </a:pPr>
            <a:r>
              <a:rPr lang="en-US" sz="1800">
                <a:latin typeface="Consolas"/>
              </a:rPr>
              <a:t>true</a:t>
            </a:r>
            <a:endParaRPr lang="en-US" sz="1800" dirty="0">
              <a:latin typeface="Aptos"/>
            </a:endParaRPr>
          </a:p>
          <a:p>
            <a:pPr marL="0" indent="0">
              <a:buNone/>
            </a:pPr>
            <a:endParaRPr lang="en-US" sz="18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650667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3FC5-2110-6809-BF91-DD5850270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728" y="129097"/>
            <a:ext cx="10515600" cy="207971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/>
              <a:t>Explanation</a:t>
            </a:r>
            <a:endParaRPr lang="en-US" b="1"/>
          </a:p>
          <a:p>
            <a:pPr marL="0" indent="0">
              <a:buNone/>
            </a:pPr>
            <a:r>
              <a:rPr lang="en-US" sz="1800">
                <a:latin typeface="Consolas"/>
              </a:rPr>
              <a:t>10 != 5</a:t>
            </a: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 10 is not equal to 5 → </a:t>
            </a:r>
            <a:r>
              <a:rPr lang="en-US" sz="1800" b="1"/>
              <a:t>true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Real Time Example</a:t>
            </a:r>
            <a:endParaRPr lang="en-US" sz="1800" dirty="0"/>
          </a:p>
          <a:p>
            <a:pPr marL="0" indent="0">
              <a:buNone/>
            </a:pPr>
            <a:r>
              <a:rPr lang="en-US" sz="1800"/>
              <a:t>OTP validation</a:t>
            </a:r>
          </a:p>
          <a:p>
            <a:pPr marL="0" indent="0">
              <a:buNone/>
            </a:pPr>
            <a:r>
              <a:rPr lang="en-US" sz="1800"/>
              <a:t>If entered OTP </a:t>
            </a:r>
            <a:r>
              <a:rPr lang="en-US" sz="1800" b="1"/>
              <a:t>!=</a:t>
            </a:r>
            <a:r>
              <a:rPr lang="en-US" sz="1800"/>
              <a:t> stored OTP → show error.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726F4E-E608-CD2F-1758-BC7CB55CAEDB}"/>
              </a:ext>
            </a:extLst>
          </p:cNvPr>
          <p:cNvSpPr txBox="1"/>
          <p:nvPr/>
        </p:nvSpPr>
        <p:spPr>
          <a:xfrm>
            <a:off x="402566" y="2206924"/>
            <a:ext cx="6096000" cy="136652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Greater Than Operator (&gt;)</a:t>
            </a:r>
          </a:p>
          <a:p>
            <a:r>
              <a:rPr lang="en-US" b="1"/>
              <a:t>Concept</a:t>
            </a:r>
          </a:p>
          <a:p>
            <a:r>
              <a:rPr lang="en-US"/>
              <a:t>Checks whether </a:t>
            </a:r>
            <a:r>
              <a:rPr lang="en-US" b="1"/>
              <a:t>left value is greater than right value</a:t>
            </a:r>
            <a:r>
              <a:rPr lang="en-US"/>
              <a:t>.</a:t>
            </a:r>
          </a:p>
          <a:p>
            <a:r>
              <a:rPr lang="en-US" b="1"/>
              <a:t>Syntax</a:t>
            </a:r>
          </a:p>
          <a:p>
            <a:endParaRPr lang="en-US"/>
          </a:p>
          <a:p>
            <a:r>
              <a:rPr lang="en-US"/>
              <a:t>value1 &gt; value2</a:t>
            </a:r>
          </a:p>
          <a:p>
            <a:r>
              <a:rPr lang="en-US" b="1"/>
              <a:t>Example</a:t>
            </a:r>
          </a:p>
          <a:p>
            <a:endParaRPr lang="en-US"/>
          </a:p>
          <a:p>
            <a:r>
              <a:rPr lang="en-US" dirty="0"/>
              <a:t>public class Greater Example {</a:t>
            </a:r>
            <a:br>
              <a:rPr lang="en-US" dirty="0"/>
            </a:b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 marks = 85;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System.out.println</a:t>
            </a:r>
            <a:r>
              <a:rPr lang="en-US" dirty="0"/>
              <a:t>(marks &gt; 50);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b="1"/>
              <a:t>Output</a:t>
            </a:r>
          </a:p>
          <a:p>
            <a:endParaRPr lang="en-US"/>
          </a:p>
          <a:p>
            <a:r>
              <a:rPr lang="en-US"/>
              <a:t>true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b="1"/>
              <a:t>Real Time Example</a:t>
            </a:r>
          </a:p>
          <a:p>
            <a:r>
              <a:rPr lang="en-US"/>
              <a:t>Student pass condition</a:t>
            </a:r>
          </a:p>
          <a:p>
            <a:endParaRPr lang="en-US"/>
          </a:p>
          <a:p>
            <a:r>
              <a:rPr lang="en-US"/>
              <a:t>marks &gt; 35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If true → </a:t>
            </a:r>
            <a:r>
              <a:rPr lang="en-US" b="1"/>
              <a:t>Pass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720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1E3B3-1BFD-CF8B-D8C3-EC3681D2E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244116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/>
              <a:t>Less Than Operator (&lt;)</a:t>
            </a:r>
          </a:p>
          <a:p>
            <a:pPr marL="0" indent="0">
              <a:buNone/>
            </a:pPr>
            <a:r>
              <a:rPr lang="en-US" sz="1600"/>
              <a:t>Concept</a:t>
            </a:r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Checks whether </a:t>
            </a:r>
            <a:r>
              <a:rPr lang="en-US" sz="1600" b="1">
                <a:ea typeface="+mn-lt"/>
                <a:cs typeface="+mn-lt"/>
              </a:rPr>
              <a:t>left value is smaller than right value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Syntax</a:t>
            </a:r>
          </a:p>
          <a:p>
            <a:pPr marL="0" indent="0">
              <a:buNone/>
            </a:pPr>
            <a:r>
              <a:rPr lang="en-US" sz="1600">
                <a:latin typeface="Consolas"/>
              </a:rPr>
              <a:t>value1 &lt; value2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Example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public class </a:t>
            </a:r>
            <a:r>
              <a:rPr lang="en-US" sz="1600" dirty="0" err="1">
                <a:latin typeface="Consolas"/>
              </a:rPr>
              <a:t>LessExample</a:t>
            </a:r>
            <a:r>
              <a:rPr lang="en-US" sz="1600" dirty="0">
                <a:latin typeface="Consolas"/>
              </a:rPr>
              <a:t> {</a:t>
            </a: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    public static void main(String[] </a:t>
            </a:r>
            <a:r>
              <a:rPr lang="en-US" sz="1600" dirty="0" err="1">
                <a:latin typeface="Consolas"/>
              </a:rPr>
              <a:t>args</a:t>
            </a:r>
            <a:r>
              <a:rPr lang="en-US" sz="1600" dirty="0">
                <a:latin typeface="Consolas"/>
              </a:rPr>
              <a:t>) {</a:t>
            </a:r>
            <a:br>
              <a:rPr lang="en-US" sz="1600" dirty="0">
                <a:latin typeface="Consolas"/>
              </a:rPr>
            </a:b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        int age = 16;</a:t>
            </a:r>
            <a:br>
              <a:rPr lang="en-US" sz="1600" dirty="0">
                <a:latin typeface="Consolas"/>
              </a:rPr>
            </a:b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        </a:t>
            </a:r>
            <a:r>
              <a:rPr lang="en-US" sz="1600" dirty="0" err="1">
                <a:latin typeface="Consolas"/>
              </a:rPr>
              <a:t>System.out.println</a:t>
            </a:r>
            <a:r>
              <a:rPr lang="en-US" sz="1600" dirty="0">
                <a:latin typeface="Consolas"/>
              </a:rPr>
              <a:t>(age &lt; 18);</a:t>
            </a: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    }</a:t>
            </a: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}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Output</a:t>
            </a:r>
          </a:p>
          <a:p>
            <a:pPr marL="0" indent="0">
              <a:buNone/>
            </a:pPr>
            <a:r>
              <a:rPr lang="en-US" sz="1600">
                <a:latin typeface="Consolas"/>
              </a:rPr>
              <a:t>true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Real Time Example</a:t>
            </a:r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Voting eligibility</a:t>
            </a:r>
            <a:endParaRPr lang="en-US" sz="1600"/>
          </a:p>
          <a:p>
            <a:pPr marL="0" indent="0">
              <a:buNone/>
            </a:pPr>
            <a:r>
              <a:rPr lang="en-US" sz="1600">
                <a:latin typeface="Consolas"/>
              </a:rPr>
              <a:t>age &lt; 18</a:t>
            </a:r>
            <a:endParaRPr lang="en-US" sz="1600"/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Person </a:t>
            </a:r>
            <a:r>
              <a:rPr lang="en-US" sz="1600" b="1">
                <a:ea typeface="+mn-lt"/>
                <a:cs typeface="+mn-lt"/>
              </a:rPr>
              <a:t>not eligible to vote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504727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4DDA5-608E-0914-0F28-EBE14118A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502" y="186606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/>
              <a:t>Greater Than or Equal To (&gt;=)</a:t>
            </a:r>
            <a:endParaRPr lang="en-US" sz="1600" dirty="0"/>
          </a:p>
          <a:p>
            <a:pPr marL="0" indent="0">
              <a:buNone/>
            </a:pPr>
            <a:r>
              <a:rPr lang="en-US" sz="1600"/>
              <a:t>Concept</a:t>
            </a:r>
            <a:endParaRPr lang="en-US" sz="1600" dirty="0"/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Checks whether </a:t>
            </a:r>
            <a:r>
              <a:rPr lang="en-US" sz="1600" b="1">
                <a:ea typeface="+mn-lt"/>
                <a:cs typeface="+mn-lt"/>
              </a:rPr>
              <a:t>value is greater than or equal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 dirty="0"/>
          </a:p>
          <a:p>
            <a:pPr marL="0" indent="0">
              <a:buNone/>
            </a:pPr>
            <a:r>
              <a:rPr lang="en-US" sz="1600"/>
              <a:t>Syntax</a:t>
            </a:r>
            <a:endParaRPr lang="en-US" sz="1600" dirty="0"/>
          </a:p>
          <a:p>
            <a:pPr marL="0" indent="0">
              <a:buNone/>
            </a:pPr>
            <a:r>
              <a:rPr lang="en-US" sz="1600">
                <a:latin typeface="Consolas"/>
              </a:rPr>
              <a:t>value1 &gt;= value2</a:t>
            </a:r>
            <a:endParaRPr lang="en-US" sz="1600" dirty="0"/>
          </a:p>
          <a:p>
            <a:pPr marL="0" indent="0">
              <a:buNone/>
            </a:pPr>
            <a:r>
              <a:rPr lang="en-US" sz="1600"/>
              <a:t>Example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public class </a:t>
            </a:r>
            <a:r>
              <a:rPr lang="en-US" sz="1600" dirty="0" err="1">
                <a:latin typeface="Consolas"/>
              </a:rPr>
              <a:t>GreaterEqualExample</a:t>
            </a:r>
            <a:r>
              <a:rPr lang="en-US" sz="1600" dirty="0">
                <a:latin typeface="Consolas"/>
              </a:rPr>
              <a:t> {</a:t>
            </a: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    public static void main(String[] </a:t>
            </a:r>
            <a:r>
              <a:rPr lang="en-US" sz="1600" dirty="0" err="1">
                <a:latin typeface="Consolas"/>
              </a:rPr>
              <a:t>args</a:t>
            </a:r>
            <a:r>
              <a:rPr lang="en-US" sz="1600" dirty="0">
                <a:latin typeface="Consolas"/>
              </a:rPr>
              <a:t>) {</a:t>
            </a:r>
            <a:br>
              <a:rPr lang="en-US" sz="1600" dirty="0">
                <a:latin typeface="Consolas"/>
              </a:rPr>
            </a:b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        int marks = 40;</a:t>
            </a:r>
            <a:br>
              <a:rPr lang="en-US" sz="1600" dirty="0">
                <a:latin typeface="Consolas"/>
              </a:rPr>
            </a:b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        </a:t>
            </a:r>
            <a:r>
              <a:rPr lang="en-US" sz="1600" dirty="0" err="1">
                <a:latin typeface="Consolas"/>
              </a:rPr>
              <a:t>System.out.println</a:t>
            </a:r>
            <a:r>
              <a:rPr lang="en-US" sz="1600" dirty="0">
                <a:latin typeface="Consolas"/>
              </a:rPr>
              <a:t>(marks &gt;= 35);</a:t>
            </a: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    }</a:t>
            </a:r>
            <a:br>
              <a:rPr lang="en-US" sz="1600" dirty="0">
                <a:latin typeface="Consolas"/>
              </a:rPr>
            </a:br>
            <a:r>
              <a:rPr lang="en-US" sz="1600" dirty="0">
                <a:latin typeface="Consolas"/>
              </a:rPr>
              <a:t>}</a:t>
            </a:r>
            <a:endParaRPr lang="en-US" sz="1600" dirty="0"/>
          </a:p>
          <a:p>
            <a:pPr marL="0" indent="0">
              <a:buNone/>
            </a:pPr>
            <a:r>
              <a:rPr lang="en-US" sz="1600"/>
              <a:t>Output</a:t>
            </a:r>
            <a:endParaRPr lang="en-US" sz="1600" dirty="0"/>
          </a:p>
          <a:p>
            <a:pPr marL="0" indent="0">
              <a:buNone/>
            </a:pPr>
            <a:r>
              <a:rPr lang="en-US" sz="1600">
                <a:latin typeface="Consolas"/>
              </a:rPr>
              <a:t>true</a:t>
            </a:r>
            <a:endParaRPr lang="en-US" sz="1600" dirty="0"/>
          </a:p>
          <a:p>
            <a:pPr marL="0" indent="0">
              <a:buNone/>
            </a:pPr>
            <a:r>
              <a:rPr lang="en-US" sz="1600"/>
              <a:t>Real Time Example</a:t>
            </a:r>
            <a:endParaRPr lang="en-US" sz="1600" dirty="0"/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Exam pass condition</a:t>
            </a:r>
            <a:endParaRPr lang="en-US" sz="1600" dirty="0"/>
          </a:p>
          <a:p>
            <a:pPr marL="0" indent="0">
              <a:buNone/>
            </a:pPr>
            <a:r>
              <a:rPr lang="en-US" sz="1600">
                <a:latin typeface="Consolas"/>
              </a:rPr>
              <a:t>marks &gt;= 35</a:t>
            </a:r>
            <a:endParaRPr lang="en-US" sz="1600" dirty="0"/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Student </a:t>
            </a:r>
            <a:r>
              <a:rPr lang="en-US" sz="1600" b="1">
                <a:ea typeface="+mn-lt"/>
                <a:cs typeface="+mn-lt"/>
              </a:rPr>
              <a:t>passed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431181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C3B3A-A95F-84D7-C50D-BCD6B07EC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727" y="244116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/>
              <a:t>Less Than or Equal To (&lt;=)</a:t>
            </a:r>
          </a:p>
          <a:p>
            <a:pPr marL="0" indent="0">
              <a:buNone/>
            </a:pPr>
            <a:r>
              <a:rPr lang="en-US" sz="1400"/>
              <a:t>Concept</a:t>
            </a:r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Checks whether </a:t>
            </a:r>
            <a:r>
              <a:rPr lang="en-US" sz="1400" b="1">
                <a:ea typeface="+mn-lt"/>
                <a:cs typeface="+mn-lt"/>
              </a:rPr>
              <a:t>value is less than or equal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0" indent="0">
              <a:buNone/>
            </a:pPr>
            <a:r>
              <a:rPr lang="en-US" sz="1400"/>
              <a:t>Syntax</a:t>
            </a:r>
          </a:p>
          <a:p>
            <a:pPr marL="0" indent="0">
              <a:buNone/>
            </a:pPr>
            <a:r>
              <a:rPr lang="en-US" sz="1400">
                <a:latin typeface="Consolas"/>
              </a:rPr>
              <a:t>value1 &lt;= value2</a:t>
            </a:r>
            <a:endParaRPr lang="en-US" sz="1400"/>
          </a:p>
          <a:p>
            <a:pPr marL="0" indent="0">
              <a:buNone/>
            </a:pPr>
            <a:r>
              <a:rPr lang="en-US" sz="1400"/>
              <a:t>Example</a:t>
            </a: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public class </a:t>
            </a:r>
            <a:r>
              <a:rPr lang="en-US" sz="1400" dirty="0" err="1">
                <a:latin typeface="Consolas"/>
              </a:rPr>
              <a:t>LessEqualExample</a:t>
            </a:r>
            <a:r>
              <a:rPr lang="en-US" sz="1400" dirty="0">
                <a:latin typeface="Consolas"/>
              </a:rPr>
              <a:t> {</a:t>
            </a:r>
            <a:br>
              <a:rPr lang="en-US" sz="1400" dirty="0">
                <a:latin typeface="Consolas"/>
              </a:rPr>
            </a:br>
            <a:r>
              <a:rPr lang="en-US" sz="1400" dirty="0">
                <a:latin typeface="Consolas"/>
              </a:rPr>
              <a:t>    public static void main(String[] </a:t>
            </a:r>
            <a:r>
              <a:rPr lang="en-US" sz="1400" dirty="0" err="1">
                <a:latin typeface="Consolas"/>
              </a:rPr>
              <a:t>args</a:t>
            </a:r>
            <a:r>
              <a:rPr lang="en-US" sz="1400" dirty="0">
                <a:latin typeface="Consolas"/>
              </a:rPr>
              <a:t>) {</a:t>
            </a:r>
            <a:br>
              <a:rPr lang="en-US" sz="1400" dirty="0">
                <a:latin typeface="Consolas"/>
              </a:rPr>
            </a:br>
            <a:br>
              <a:rPr lang="en-US" sz="1400" dirty="0">
                <a:latin typeface="Consolas"/>
              </a:rPr>
            </a:br>
            <a:r>
              <a:rPr lang="en-US" sz="1400" dirty="0">
                <a:latin typeface="Consolas"/>
              </a:rPr>
              <a:t>        int </a:t>
            </a:r>
            <a:r>
              <a:rPr lang="en-US" sz="1400" dirty="0" err="1">
                <a:latin typeface="Consolas"/>
              </a:rPr>
              <a:t>ticketAge</a:t>
            </a:r>
            <a:r>
              <a:rPr lang="en-US" sz="1400" dirty="0">
                <a:latin typeface="Consolas"/>
              </a:rPr>
              <a:t> = 5;</a:t>
            </a:r>
            <a:br>
              <a:rPr lang="en-US" sz="1400" dirty="0">
                <a:latin typeface="Consolas"/>
              </a:rPr>
            </a:br>
            <a:br>
              <a:rPr lang="en-US" sz="1400" dirty="0">
                <a:latin typeface="Consolas"/>
              </a:rPr>
            </a:br>
            <a:r>
              <a:rPr lang="en-US" sz="1400" dirty="0">
                <a:latin typeface="Consolas"/>
              </a:rPr>
              <a:t>        </a:t>
            </a:r>
            <a:r>
              <a:rPr lang="en-US" sz="1400" dirty="0" err="1">
                <a:latin typeface="Consolas"/>
              </a:rPr>
              <a:t>System.out.println</a:t>
            </a:r>
            <a:r>
              <a:rPr lang="en-US" sz="1400" dirty="0">
                <a:latin typeface="Consolas"/>
              </a:rPr>
              <a:t>(</a:t>
            </a:r>
            <a:r>
              <a:rPr lang="en-US" sz="1400" dirty="0" err="1">
                <a:latin typeface="Consolas"/>
              </a:rPr>
              <a:t>ticketAge</a:t>
            </a:r>
            <a:r>
              <a:rPr lang="en-US" sz="1400" dirty="0">
                <a:latin typeface="Consolas"/>
              </a:rPr>
              <a:t> &lt;= 5);</a:t>
            </a:r>
            <a:br>
              <a:rPr lang="en-US" sz="1400" dirty="0">
                <a:latin typeface="Consolas"/>
              </a:rPr>
            </a:br>
            <a:r>
              <a:rPr lang="en-US" sz="1400" dirty="0">
                <a:latin typeface="Consolas"/>
              </a:rPr>
              <a:t>    }</a:t>
            </a:r>
            <a:br>
              <a:rPr lang="en-US" sz="1400" dirty="0">
                <a:latin typeface="Consolas"/>
              </a:rPr>
            </a:br>
            <a:r>
              <a:rPr lang="en-US" sz="1400" dirty="0">
                <a:latin typeface="Consolas"/>
              </a:rPr>
              <a:t>}</a:t>
            </a:r>
            <a:endParaRPr lang="en-US" sz="1400"/>
          </a:p>
          <a:p>
            <a:pPr marL="0" indent="0">
              <a:buNone/>
            </a:pPr>
            <a:r>
              <a:rPr lang="en-US" sz="1400"/>
              <a:t>Output</a:t>
            </a:r>
          </a:p>
          <a:p>
            <a:pPr marL="0" indent="0">
              <a:buNone/>
            </a:pPr>
            <a:r>
              <a:rPr lang="en-US" sz="1400">
                <a:latin typeface="Consolas"/>
              </a:rPr>
              <a:t>true</a:t>
            </a:r>
            <a:endParaRPr lang="en-US" sz="1400"/>
          </a:p>
          <a:p>
            <a:pPr marL="0" indent="0">
              <a:buNone/>
            </a:pPr>
            <a:r>
              <a:rPr lang="en-US" sz="1400"/>
              <a:t>Real Time Example</a:t>
            </a:r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Child ticket rule</a:t>
            </a:r>
            <a:endParaRPr lang="en-US" sz="1400"/>
          </a:p>
          <a:p>
            <a:pPr marL="0" indent="0">
              <a:buNone/>
            </a:pPr>
            <a:r>
              <a:rPr lang="en-US" sz="1400">
                <a:latin typeface="Consolas"/>
              </a:rPr>
              <a:t>age &lt;= 5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Child </a:t>
            </a:r>
            <a:r>
              <a:rPr lang="en-US" sz="1400" b="1">
                <a:ea typeface="+mn-lt"/>
                <a:cs typeface="+mn-lt"/>
              </a:rPr>
              <a:t>gets free ticket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68436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ECCA9-DA00-B2C0-977B-0F59FAA93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21352"/>
            <a:ext cx="10515600" cy="678583"/>
          </a:xfrm>
        </p:spPr>
        <p:txBody>
          <a:bodyPr>
            <a:normAutofit fontScale="90000"/>
          </a:bodyPr>
          <a:lstStyle/>
          <a:p>
            <a:r>
              <a:rPr lang="en-US"/>
              <a:t>Bitwise Operators in Java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0194-1E4F-3387-32DD-26870FB33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219" y="689814"/>
            <a:ext cx="10515600" cy="27554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Bitwise operators are used to </a:t>
            </a:r>
            <a:r>
              <a:rPr lang="en-US" sz="1800" b="1">
                <a:ea typeface="+mn-lt"/>
                <a:cs typeface="+mn-lt"/>
              </a:rPr>
              <a:t>perform operations on binary numbers (bits)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Computers store numbers in </a:t>
            </a:r>
            <a:r>
              <a:rPr lang="en-US" sz="1800" b="1">
                <a:ea typeface="+mn-lt"/>
                <a:cs typeface="+mn-lt"/>
              </a:rPr>
              <a:t>binary format (0 and 1)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Bitwise operators work </a:t>
            </a:r>
            <a:r>
              <a:rPr lang="en-US" sz="1800" b="1">
                <a:ea typeface="+mn-lt"/>
                <a:cs typeface="+mn-lt"/>
              </a:rPr>
              <a:t>bit by bit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Example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>
                <a:ea typeface="+mn-lt"/>
                <a:cs typeface="+mn-lt"/>
              </a:rPr>
              <a:t> Decimal → Bina</a:t>
            </a:r>
            <a:endParaRPr lang="en-US" sz="1800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10 → </a:t>
            </a:r>
            <a:r>
              <a:rPr lang="en-US" sz="1800">
                <a:latin typeface="Consolas"/>
              </a:rPr>
              <a:t>1010</a:t>
            </a: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 5 → 0101</a:t>
            </a:r>
            <a:endParaRPr lang="en-US" sz="1800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Bitwise operators compare </a:t>
            </a:r>
            <a:r>
              <a:rPr lang="en-US" sz="1800" b="1">
                <a:ea typeface="+mn-lt"/>
                <a:cs typeface="+mn-lt"/>
              </a:rPr>
              <a:t>each bit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01816-67FE-1A03-D64B-3715FAF326B2}"/>
              </a:ext>
            </a:extLst>
          </p:cNvPr>
          <p:cNvSpPr txBox="1"/>
          <p:nvPr/>
        </p:nvSpPr>
        <p:spPr>
          <a:xfrm>
            <a:off x="186906" y="3572774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Types of Bitwise Operators in Java</a:t>
            </a:r>
          </a:p>
          <a:p>
            <a:endParaRPr lang="en-US"/>
          </a:p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9D86EC-0DED-3AF6-DE61-AE72FD132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087198"/>
              </p:ext>
            </p:extLst>
          </p:nvPr>
        </p:nvGraphicFramePr>
        <p:xfrm>
          <a:off x="0" y="4032274"/>
          <a:ext cx="11445874" cy="2560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22937">
                  <a:extLst>
                    <a:ext uri="{9D8B030D-6E8A-4147-A177-3AD203B41FA5}">
                      <a16:colId xmlns:a16="http://schemas.microsoft.com/office/drawing/2014/main" val="2815220237"/>
                    </a:ext>
                  </a:extLst>
                </a:gridCol>
                <a:gridCol w="5722937">
                  <a:extLst>
                    <a:ext uri="{9D8B030D-6E8A-4147-A177-3AD203B41FA5}">
                      <a16:colId xmlns:a16="http://schemas.microsoft.com/office/drawing/2014/main" val="531574553"/>
                    </a:ext>
                  </a:extLst>
                </a:gridCol>
              </a:tblGrid>
              <a:tr h="32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570988"/>
                  </a:ext>
                </a:extLst>
              </a:tr>
              <a:tr h="32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&amp;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Bitwise 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275549"/>
                  </a:ext>
                </a:extLst>
              </a:tr>
              <a:tr h="32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976981"/>
                  </a:ext>
                </a:extLst>
              </a:tr>
              <a:tr h="32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^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Bitwise XOR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60860"/>
                  </a:ext>
                </a:extLst>
              </a:tr>
              <a:tr h="32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~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Bitwise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028400"/>
                  </a:ext>
                </a:extLst>
              </a:tr>
              <a:tr h="32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&lt;&lt;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Left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2756"/>
                  </a:ext>
                </a:extLst>
              </a:tr>
              <a:tr h="32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&gt;&gt;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Right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047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7652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3A86B-68F1-30E3-DAF3-AFACDE69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748D7-8BB4-AE1C-0640-0D0CD102A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483" y="445399"/>
            <a:ext cx="10515600" cy="9582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/>
              <a:t>Concept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Returns </a:t>
            </a:r>
            <a:r>
              <a:rPr lang="en-US" sz="2000" b="1">
                <a:ea typeface="+mn-lt"/>
                <a:cs typeface="+mn-lt"/>
              </a:rPr>
              <a:t>1 only if both bits are 1</a:t>
            </a:r>
            <a:r>
              <a:rPr lang="en-US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5C3DB-F8C1-08C9-5CEF-E3D02143691E}"/>
              </a:ext>
            </a:extLst>
          </p:cNvPr>
          <p:cNvSpPr txBox="1"/>
          <p:nvPr/>
        </p:nvSpPr>
        <p:spPr>
          <a:xfrm>
            <a:off x="273170" y="122208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Bitwise AND (&amp;)</a:t>
            </a:r>
          </a:p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5F2990-4759-78C1-5165-CF58CDE3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026895"/>
              </p:ext>
            </p:extLst>
          </p:nvPr>
        </p:nvGraphicFramePr>
        <p:xfrm>
          <a:off x="0" y="1407543"/>
          <a:ext cx="121920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3088587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987108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0142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&amp;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747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583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304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105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8254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6F80F4B-B4AC-DCC5-8111-20D40DEA32E8}"/>
              </a:ext>
            </a:extLst>
          </p:cNvPr>
          <p:cNvSpPr txBox="1"/>
          <p:nvPr/>
        </p:nvSpPr>
        <p:spPr>
          <a:xfrm>
            <a:off x="0" y="3544019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Example</a:t>
            </a:r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1CF36-2F1D-F633-C086-236F70EB4987}"/>
              </a:ext>
            </a:extLst>
          </p:cNvPr>
          <p:cNvSpPr txBox="1"/>
          <p:nvPr/>
        </p:nvSpPr>
        <p:spPr>
          <a:xfrm>
            <a:off x="961429" y="3621658"/>
            <a:ext cx="649856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public class </a:t>
            </a:r>
            <a:r>
              <a:rPr lang="en-US" dirty="0" err="1">
                <a:latin typeface="Consolas"/>
              </a:rPr>
              <a:t>BitwiseAndExample</a:t>
            </a:r>
            <a:r>
              <a:rPr lang="en-US" dirty="0">
                <a:latin typeface="Consolas"/>
              </a:rPr>
              <a:t> {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public static void main(String[] </a:t>
            </a:r>
            <a:r>
              <a:rPr lang="en-US" dirty="0" err="1">
                <a:latin typeface="Consolas"/>
              </a:rPr>
              <a:t>args</a:t>
            </a:r>
            <a:r>
              <a:rPr lang="en-US" dirty="0">
                <a:latin typeface="Consolas"/>
              </a:rPr>
              <a:t>) {</a:t>
            </a:r>
            <a:br>
              <a:rPr lang="en-US" dirty="0">
                <a:latin typeface="Consolas"/>
              </a:rPr>
            </a:b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    int a = 5;pub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    int b = 3;</a:t>
            </a:r>
            <a:br>
              <a:rPr lang="en-US" dirty="0">
                <a:latin typeface="Consolas"/>
              </a:rPr>
            </a:b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    </a:t>
            </a:r>
            <a:r>
              <a:rPr lang="en-US" dirty="0" err="1">
                <a:latin typeface="Consolas"/>
              </a:rPr>
              <a:t>System.out.println</a:t>
            </a:r>
            <a:r>
              <a:rPr lang="en-US" dirty="0">
                <a:latin typeface="Consolas"/>
              </a:rPr>
              <a:t>(a &amp; b);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}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}</a:t>
            </a:r>
          </a:p>
          <a:p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6984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318A8-5028-9A67-A217-774D9CBC6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520" y="330380"/>
            <a:ext cx="10515600" cy="180654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Binary conversion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latin typeface="Consolas"/>
              </a:rPr>
              <a:t>5 = 101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3 = 011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---------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    001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1364D-20F7-C9E1-FD9C-54D52B0147AF}"/>
              </a:ext>
            </a:extLst>
          </p:cNvPr>
          <p:cNvSpPr txBox="1"/>
          <p:nvPr/>
        </p:nvSpPr>
        <p:spPr>
          <a:xfrm>
            <a:off x="4428226" y="150963"/>
            <a:ext cx="908649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Output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1E67F9-4D4B-BAEC-FC9E-27681B1DE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177272"/>
              </p:ext>
            </p:extLst>
          </p:nvPr>
        </p:nvGraphicFramePr>
        <p:xfrm>
          <a:off x="503208" y="3557821"/>
          <a:ext cx="10420432" cy="2575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10216">
                  <a:extLst>
                    <a:ext uri="{9D8B030D-6E8A-4147-A177-3AD203B41FA5}">
                      <a16:colId xmlns:a16="http://schemas.microsoft.com/office/drawing/2014/main" val="1065365979"/>
                    </a:ext>
                  </a:extLst>
                </a:gridCol>
                <a:gridCol w="5210216">
                  <a:extLst>
                    <a:ext uri="{9D8B030D-6E8A-4147-A177-3AD203B41FA5}">
                      <a16:colId xmlns:a16="http://schemas.microsoft.com/office/drawing/2014/main" val="16265996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386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&amp;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Bitwise 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836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216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^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Bitwise XOR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968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~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Bitwise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30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&lt;&lt;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Left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24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&gt;&gt;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Right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3009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32B604A-1104-E6F0-F23F-039E49790A41}"/>
              </a:ext>
            </a:extLst>
          </p:cNvPr>
          <p:cNvSpPr txBox="1"/>
          <p:nvPr/>
        </p:nvSpPr>
        <p:spPr>
          <a:xfrm>
            <a:off x="503207" y="2667000"/>
            <a:ext cx="6096000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rtl="0"/>
            <a:r>
              <a:rPr lang="en-US" sz="1700" baseline="0">
                <a:latin typeface="Aptos"/>
                <a:ea typeface="Arial"/>
                <a:cs typeface="Arial"/>
              </a:rPr>
              <a:t>T</a:t>
            </a:r>
            <a:r>
              <a:rPr lang="en-US" sz="1700" b="1" baseline="0">
                <a:latin typeface="Aptos"/>
                <a:ea typeface="Arial"/>
                <a:cs typeface="Arial"/>
              </a:rPr>
              <a:t>ypes of Bitwise Operators in Java</a:t>
            </a:r>
            <a:r>
              <a:rPr lang="en-US" sz="1700">
                <a:latin typeface="Aptos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135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6F2E-A6EC-2060-C1EC-F5B1C08F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294" y="135087"/>
            <a:ext cx="10515600" cy="1325563"/>
          </a:xfrm>
        </p:spPr>
        <p:txBody>
          <a:bodyPr/>
          <a:lstStyle/>
          <a:p>
            <a:r>
              <a:rPr lang="en-US" sz="2400" b="1"/>
              <a:t>Bitwise AND (</a:t>
            </a:r>
            <a:r>
              <a:rPr lang="en-US" sz="2400" b="1">
                <a:latin typeface="Consolas"/>
              </a:rPr>
              <a:t>&amp;</a:t>
            </a:r>
            <a:r>
              <a:rPr lang="en-US" sz="2400" b="1"/>
              <a:t>)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B65A0-2918-9595-B125-204CEFFED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294" y="80483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Concept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Returns </a:t>
            </a:r>
            <a:r>
              <a:rPr lang="en-US" sz="2000" b="1">
                <a:ea typeface="+mn-lt"/>
                <a:cs typeface="+mn-lt"/>
              </a:rPr>
              <a:t>1 only if both bits are 1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90EB73-9A24-CCCA-040B-D0AA3D509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358909"/>
              </p:ext>
            </p:extLst>
          </p:nvPr>
        </p:nvGraphicFramePr>
        <p:xfrm>
          <a:off x="503208" y="1867619"/>
          <a:ext cx="121920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5307613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4872296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27171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&amp;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182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040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585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68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2699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5E9FF23-FAC9-1B63-75F9-C530BBF91C2A}"/>
              </a:ext>
            </a:extLst>
          </p:cNvPr>
          <p:cNvSpPr txBox="1"/>
          <p:nvPr/>
        </p:nvSpPr>
        <p:spPr>
          <a:xfrm>
            <a:off x="503208" y="3989717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Example</a:t>
            </a:r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71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6C086-EA09-A39E-88B5-13C9CB8B1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143" y="517285"/>
            <a:ext cx="10515600" cy="5559036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buNone/>
            </a:pPr>
            <a:r>
              <a:rPr lang="en-US" sz="3200" b="1">
                <a:latin typeface="Aptos"/>
              </a:rPr>
              <a:t>Example</a:t>
            </a:r>
            <a:endParaRPr lang="en-US" sz="3200" b="1" dirty="0">
              <a:latin typeface="Aptos"/>
            </a:endParaRPr>
          </a:p>
          <a:p>
            <a:pPr>
              <a:buNone/>
            </a:pPr>
            <a:endParaRPr lang="en-US" sz="3200" b="1" dirty="0">
              <a:latin typeface="Aptos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Consolas"/>
              </a:rPr>
              <a:t>public class </a:t>
            </a:r>
            <a:r>
              <a:rPr lang="en-US" sz="3200" dirty="0" err="1">
                <a:latin typeface="Consolas"/>
              </a:rPr>
              <a:t>BitwiseAndExample</a:t>
            </a:r>
            <a:r>
              <a:rPr lang="en-US" sz="3200" dirty="0">
                <a:latin typeface="Consolas"/>
              </a:rPr>
              <a:t> {</a:t>
            </a:r>
            <a:br>
              <a:rPr lang="en-US" sz="3200" dirty="0">
                <a:latin typeface="Consolas"/>
              </a:rPr>
            </a:br>
            <a:r>
              <a:rPr lang="en-US" sz="3200" dirty="0">
                <a:latin typeface="Consolas"/>
              </a:rPr>
              <a:t> public static void main(String[] </a:t>
            </a:r>
            <a:r>
              <a:rPr lang="en-US" sz="3200" dirty="0" err="1">
                <a:latin typeface="Consolas"/>
              </a:rPr>
              <a:t>args</a:t>
            </a:r>
            <a:r>
              <a:rPr lang="en-US" sz="3200" dirty="0">
                <a:latin typeface="Consolas"/>
              </a:rPr>
              <a:t>) {</a:t>
            </a:r>
            <a:br>
              <a:rPr lang="en-US" sz="3200" dirty="0">
                <a:latin typeface="Consolas"/>
              </a:rPr>
            </a:br>
            <a:br>
              <a:rPr lang="en-US" sz="3200" dirty="0">
                <a:latin typeface="Consolas"/>
              </a:rPr>
            </a:br>
            <a:r>
              <a:rPr lang="en-US" sz="3200" dirty="0">
                <a:latin typeface="Consolas"/>
              </a:rPr>
              <a:t> int a = 5;</a:t>
            </a:r>
            <a:br>
              <a:rPr lang="en-US" sz="3200" dirty="0">
                <a:latin typeface="Consolas"/>
              </a:rPr>
            </a:br>
            <a:r>
              <a:rPr lang="en-US" sz="3200" dirty="0">
                <a:latin typeface="Consolas"/>
              </a:rPr>
              <a:t> int b = 3;</a:t>
            </a:r>
            <a:br>
              <a:rPr lang="en-US" sz="3200" dirty="0">
                <a:latin typeface="Consolas"/>
              </a:rPr>
            </a:br>
            <a:br>
              <a:rPr lang="en-US" sz="3200" dirty="0">
                <a:latin typeface="Consolas"/>
              </a:rPr>
            </a:b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System.out.println</a:t>
            </a:r>
            <a:r>
              <a:rPr lang="en-US" sz="3200" dirty="0">
                <a:latin typeface="Consolas"/>
              </a:rPr>
              <a:t>(a &amp; b);</a:t>
            </a:r>
            <a:br>
              <a:rPr lang="en-US" sz="3200" dirty="0">
                <a:latin typeface="Consolas"/>
              </a:rPr>
            </a:br>
            <a:r>
              <a:rPr lang="en-US" sz="3200" dirty="0">
                <a:latin typeface="Consolas"/>
              </a:rPr>
              <a:t> }</a:t>
            </a:r>
            <a:br>
              <a:rPr lang="en-US" sz="3200" dirty="0">
                <a:latin typeface="Consolas"/>
              </a:rPr>
            </a:br>
            <a:r>
              <a:rPr lang="en-US" sz="3200" dirty="0">
                <a:latin typeface="Consolas"/>
              </a:rPr>
              <a:t>}</a:t>
            </a:r>
            <a:endParaRPr lang="en-US" sz="32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/>
              <a:t>Binary conversion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>
                <a:latin typeface="Consolas"/>
              </a:rPr>
              <a:t>5 = 101</a:t>
            </a:r>
            <a:br>
              <a:rPr lang="en-US" sz="3200" dirty="0">
                <a:latin typeface="Consolas"/>
              </a:rPr>
            </a:br>
            <a:r>
              <a:rPr lang="en-US" sz="3200">
                <a:latin typeface="Consolas"/>
              </a:rPr>
              <a:t>3 = 011</a:t>
            </a:r>
            <a:br>
              <a:rPr lang="en-US" sz="3200" dirty="0">
                <a:latin typeface="Consolas"/>
              </a:rPr>
            </a:br>
            <a:endParaRPr lang="en-US" sz="1800">
              <a:latin typeface="Consolas"/>
            </a:endParaRPr>
          </a:p>
          <a:p>
            <a:pPr marL="0" indent="0">
              <a:buNone/>
            </a:pPr>
            <a:r>
              <a:rPr lang="en-US" b="1"/>
              <a:t>Real Time Example</a:t>
            </a:r>
            <a:endParaRPr lang="en-US" sz="1800" b="1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Permission checking in systems</a:t>
            </a:r>
            <a:endParaRPr lang="en-US" dirty="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Example:</a:t>
            </a:r>
            <a:endParaRPr lang="en-US" dirty="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Read permission</a:t>
            </a:r>
            <a:endParaRPr lang="en-US" dirty="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Write permission</a:t>
            </a:r>
            <a:endParaRPr lang="en-US" dirty="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Execute permission</a:t>
            </a:r>
            <a:endParaRPr lang="en-US" dirty="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Using AND we check </a:t>
            </a:r>
            <a:r>
              <a:rPr lang="en-US" b="1">
                <a:ea typeface="+mn-lt"/>
                <a:cs typeface="+mn-lt"/>
              </a:rPr>
              <a:t>whether permission exists</a:t>
            </a:r>
            <a:r>
              <a:rPr lang="en-US">
                <a:ea typeface="+mn-lt"/>
                <a:cs typeface="+mn-lt"/>
              </a:rPr>
              <a:t>.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6978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62D82-886A-75C7-1681-7C8AB75D2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25" y="1063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Truth Table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AB7DE3-8AA0-11CC-12E9-6B2F9B928F3C}"/>
              </a:ext>
            </a:extLst>
          </p:cNvPr>
          <p:cNvSpPr txBox="1"/>
          <p:nvPr/>
        </p:nvSpPr>
        <p:spPr>
          <a:xfrm>
            <a:off x="517585" y="7189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Bitwise OR (|)</a:t>
            </a:r>
          </a:p>
          <a:p>
            <a:r>
              <a:rPr lang="en-US" b="1"/>
              <a:t>Concept</a:t>
            </a:r>
          </a:p>
          <a:p>
            <a:r>
              <a:rPr lang="en-US"/>
              <a:t>Returns </a:t>
            </a:r>
            <a:r>
              <a:rPr lang="en-US" b="1"/>
              <a:t>1 if at least one bit is 1</a:t>
            </a:r>
            <a:r>
              <a:rPr lang="en-US"/>
              <a:t>.</a:t>
            </a:r>
          </a:p>
          <a:p>
            <a:endParaRPr lang="en-US" b="1"/>
          </a:p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BD4DA4-0E82-F536-DB19-BDE33D944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892464"/>
              </p:ext>
            </p:extLst>
          </p:nvPr>
        </p:nvGraphicFramePr>
        <p:xfrm>
          <a:off x="373811" y="1881996"/>
          <a:ext cx="121920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0748336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784304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903175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|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806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060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286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09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9022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C1D229-C986-AD60-3B55-067646533BDF}"/>
              </a:ext>
            </a:extLst>
          </p:cNvPr>
          <p:cNvSpPr txBox="1"/>
          <p:nvPr/>
        </p:nvSpPr>
        <p:spPr>
          <a:xfrm>
            <a:off x="373811" y="374530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Example</a:t>
            </a:r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E0F53C-3C40-6414-4DD0-5FD74CADAA75}"/>
              </a:ext>
            </a:extLst>
          </p:cNvPr>
          <p:cNvSpPr txBox="1"/>
          <p:nvPr/>
        </p:nvSpPr>
        <p:spPr>
          <a:xfrm>
            <a:off x="373811" y="4205378"/>
            <a:ext cx="609600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public class BitwiseOrExample {</a:t>
            </a:r>
            <a:br>
              <a:rPr lang="en-US"/>
            </a:br>
            <a:r>
              <a:rPr lang="en-US"/>
              <a:t>public static void main(String[] args) {</a:t>
            </a:r>
            <a:br>
              <a:rPr lang="en-US"/>
            </a:br>
            <a:br>
              <a:rPr lang="en-US"/>
            </a:br>
            <a:r>
              <a:rPr lang="en-US"/>
              <a:t>int a = 5;</a:t>
            </a:r>
            <a:br>
              <a:rPr lang="en-US"/>
            </a:br>
            <a:r>
              <a:rPr lang="en-US"/>
              <a:t>int b = 3;</a:t>
            </a:r>
            <a:br>
              <a:rPr lang="en-US"/>
            </a:br>
            <a:br>
              <a:rPr lang="en-US"/>
            </a:br>
            <a:r>
              <a:rPr lang="en-US"/>
              <a:t>System.out.println(a | b);</a:t>
            </a:r>
            <a:br>
              <a:rPr lang="en-US"/>
            </a:br>
            <a:r>
              <a:rPr lang="en-US"/>
              <a:t>}</a:t>
            </a:r>
            <a:br>
              <a:rPr lang="en-US"/>
            </a:br>
            <a:r>
              <a:rPr lang="en-US"/>
              <a:t>}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197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F2E24B-F71E-E92C-57A4-9D284638BA31}"/>
              </a:ext>
            </a:extLst>
          </p:cNvPr>
          <p:cNvSpPr txBox="1"/>
          <p:nvPr/>
        </p:nvSpPr>
        <p:spPr>
          <a:xfrm>
            <a:off x="531962" y="165339"/>
            <a:ext cx="6096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Binary</a:t>
            </a:r>
          </a:p>
          <a:p>
            <a:r>
              <a:rPr lang="en-US"/>
              <a:t>5 = 101</a:t>
            </a:r>
            <a:br>
              <a:rPr lang="en-US" dirty="0"/>
            </a:br>
            <a:r>
              <a:rPr lang="en-US"/>
              <a:t>3 = 011</a:t>
            </a:r>
            <a:br>
              <a:rPr lang="en-US" dirty="0"/>
            </a:br>
            <a:r>
              <a:rPr lang="en-US"/>
              <a:t>---------</a:t>
            </a:r>
            <a:br>
              <a:rPr lang="en-US" dirty="0"/>
            </a:br>
            <a:r>
              <a:rPr lang="en-US"/>
              <a:t>111</a:t>
            </a:r>
          </a:p>
          <a:p>
            <a:r>
              <a:rPr lang="en-US" b="1"/>
              <a:t>Output</a:t>
            </a:r>
          </a:p>
          <a:p>
            <a:r>
              <a:rPr lang="en-US"/>
              <a:t>7</a:t>
            </a:r>
          </a:p>
          <a:p>
            <a:r>
              <a:rPr lang="en-US" b="1"/>
              <a:t>Real Time Example</a:t>
            </a:r>
          </a:p>
          <a:p>
            <a:r>
              <a:rPr lang="en-US"/>
              <a:t>Combining </a:t>
            </a:r>
            <a:r>
              <a:rPr lang="en-US" b="1"/>
              <a:t>multiple system permissions</a:t>
            </a:r>
            <a:r>
              <a:rPr lang="en-US"/>
              <a:t>.</a:t>
            </a:r>
          </a:p>
          <a:p>
            <a:r>
              <a:rPr lang="en-US"/>
              <a:t>Example</a:t>
            </a:r>
          </a:p>
          <a:p>
            <a:endParaRPr lang="en-US"/>
          </a:p>
          <a:p>
            <a:r>
              <a:rPr lang="en-US"/>
              <a:t>read | write</a:t>
            </a:r>
          </a:p>
          <a:p>
            <a:r>
              <a:rPr lang="en-US"/>
              <a:t>User gets </a:t>
            </a:r>
            <a:r>
              <a:rPr lang="en-US" b="1"/>
              <a:t>both permissions</a:t>
            </a:r>
            <a:r>
              <a:rPr lang="en-US"/>
              <a:t>.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6F43F-FEE4-844C-55A5-5A6C03EB910E}"/>
              </a:ext>
            </a:extLst>
          </p:cNvPr>
          <p:cNvSpPr txBox="1"/>
          <p:nvPr/>
        </p:nvSpPr>
        <p:spPr>
          <a:xfrm>
            <a:off x="531962" y="4277264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 Bitwise XOR (^)</a:t>
            </a:r>
          </a:p>
          <a:p>
            <a:endParaRPr lang="en-US" b="1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56724-E1ED-6439-8CB3-BCE7A31600E0}"/>
              </a:ext>
            </a:extLst>
          </p:cNvPr>
          <p:cNvSpPr txBox="1"/>
          <p:nvPr/>
        </p:nvSpPr>
        <p:spPr>
          <a:xfrm>
            <a:off x="531962" y="4607943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Concept</a:t>
            </a:r>
          </a:p>
          <a:p>
            <a:r>
              <a:rPr lang="en-US"/>
              <a:t>Returns </a:t>
            </a:r>
            <a:r>
              <a:rPr lang="en-US" b="1"/>
              <a:t>1 if bits are different</a:t>
            </a:r>
            <a:r>
              <a:rPr lang="en-US"/>
              <a:t>.</a:t>
            </a:r>
          </a:p>
          <a:p>
            <a:endParaRPr lang="en-US" b="1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855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230-B7DB-D05F-54EC-C075199C1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28" y="5691"/>
            <a:ext cx="10515600" cy="1325563"/>
          </a:xfrm>
        </p:spPr>
        <p:txBody>
          <a:bodyPr/>
          <a:lstStyle/>
          <a:p>
            <a:r>
              <a:rPr lang="en-US" sz="2000"/>
              <a:t>Truth Table</a:t>
            </a:r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F898AD3-1D0F-5A74-0514-C301181809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470481"/>
              </p:ext>
            </p:extLst>
          </p:nvPr>
        </p:nvGraphicFramePr>
        <p:xfrm>
          <a:off x="435634" y="675436"/>
          <a:ext cx="11388723" cy="215231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96241">
                  <a:extLst>
                    <a:ext uri="{9D8B030D-6E8A-4147-A177-3AD203B41FA5}">
                      <a16:colId xmlns:a16="http://schemas.microsoft.com/office/drawing/2014/main" val="4276561040"/>
                    </a:ext>
                  </a:extLst>
                </a:gridCol>
                <a:gridCol w="3796241">
                  <a:extLst>
                    <a:ext uri="{9D8B030D-6E8A-4147-A177-3AD203B41FA5}">
                      <a16:colId xmlns:a16="http://schemas.microsoft.com/office/drawing/2014/main" val="3887433590"/>
                    </a:ext>
                  </a:extLst>
                </a:gridCol>
                <a:gridCol w="3796241">
                  <a:extLst>
                    <a:ext uri="{9D8B030D-6E8A-4147-A177-3AD203B41FA5}">
                      <a16:colId xmlns:a16="http://schemas.microsoft.com/office/drawing/2014/main" val="371831810"/>
                    </a:ext>
                  </a:extLst>
                </a:gridCol>
              </a:tblGrid>
              <a:tr h="43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^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879176"/>
                  </a:ext>
                </a:extLst>
              </a:tr>
              <a:tr h="43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24115"/>
                  </a:ext>
                </a:extLst>
              </a:tr>
              <a:tr h="43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226110"/>
                  </a:ext>
                </a:extLst>
              </a:tr>
              <a:tr h="43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350144"/>
                  </a:ext>
                </a:extLst>
              </a:tr>
              <a:tr h="43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8010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A126136-75B6-0C06-249D-74DFC4FB87B1}"/>
              </a:ext>
            </a:extLst>
          </p:cNvPr>
          <p:cNvSpPr txBox="1"/>
          <p:nvPr/>
        </p:nvSpPr>
        <p:spPr>
          <a:xfrm>
            <a:off x="431321" y="3788434"/>
            <a:ext cx="609600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public class BitwiseXorExample {</a:t>
            </a:r>
            <a:br>
              <a:rPr lang="en-US"/>
            </a:br>
            <a:r>
              <a:rPr lang="en-US"/>
              <a:t>public static void main(String[] args) {</a:t>
            </a:r>
            <a:br>
              <a:rPr lang="en-US"/>
            </a:br>
            <a:br>
              <a:rPr lang="en-US"/>
            </a:br>
            <a:r>
              <a:rPr lang="en-US"/>
              <a:t>int a = 5;</a:t>
            </a:r>
            <a:br>
              <a:rPr lang="en-US"/>
            </a:br>
            <a:r>
              <a:rPr lang="en-US"/>
              <a:t>int b = 3;</a:t>
            </a:r>
            <a:br>
              <a:rPr lang="en-US"/>
            </a:br>
            <a:br>
              <a:rPr lang="en-US"/>
            </a:br>
            <a:r>
              <a:rPr lang="en-US"/>
              <a:t>System.out.println(a ^ b);</a:t>
            </a:r>
            <a:br>
              <a:rPr lang="en-US"/>
            </a:br>
            <a:r>
              <a:rPr lang="en-US"/>
              <a:t>}</a:t>
            </a:r>
            <a:br>
              <a:rPr lang="en-US"/>
            </a:br>
            <a:r>
              <a:rPr lang="en-US"/>
              <a:t>}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E45B73-3306-2731-130E-97D78B7E7381}"/>
              </a:ext>
            </a:extLst>
          </p:cNvPr>
          <p:cNvSpPr txBox="1"/>
          <p:nvPr/>
        </p:nvSpPr>
        <p:spPr>
          <a:xfrm>
            <a:off x="431321" y="3069566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Example</a:t>
            </a:r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917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C51664-4D17-0916-9549-C35F66416835}"/>
              </a:ext>
            </a:extLst>
          </p:cNvPr>
          <p:cNvSpPr txBox="1"/>
          <p:nvPr/>
        </p:nvSpPr>
        <p:spPr>
          <a:xfrm>
            <a:off x="373811" y="-7188"/>
            <a:ext cx="9316528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Binary</a:t>
            </a:r>
          </a:p>
          <a:p>
            <a:endParaRPr lang="en-US"/>
          </a:p>
          <a:p>
            <a:r>
              <a:rPr lang="en-US"/>
              <a:t>5 = 101</a:t>
            </a:r>
            <a:br>
              <a:rPr lang="en-US" dirty="0"/>
            </a:br>
            <a:r>
              <a:rPr lang="en-US"/>
              <a:t>3 = 011</a:t>
            </a:r>
            <a:br>
              <a:rPr lang="en-US" dirty="0"/>
            </a:br>
            <a:r>
              <a:rPr lang="en-US"/>
              <a:t>---------</a:t>
            </a:r>
            <a:br>
              <a:rPr lang="en-US" dirty="0"/>
            </a:br>
            <a:r>
              <a:rPr lang="en-US"/>
              <a:t>110</a:t>
            </a:r>
          </a:p>
          <a:p>
            <a:endParaRPr lang="en-US"/>
          </a:p>
          <a:p>
            <a:r>
              <a:rPr lang="en-US" b="1"/>
              <a:t>Output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 b="1"/>
              <a:t>Real Time Example</a:t>
            </a:r>
          </a:p>
          <a:p>
            <a:r>
              <a:rPr lang="en-US">
                <a:ea typeface="+mn-lt"/>
                <a:cs typeface="+mn-lt"/>
              </a:rPr>
              <a:t>Used in </a:t>
            </a:r>
            <a:r>
              <a:rPr lang="en-US" b="1">
                <a:ea typeface="+mn-lt"/>
                <a:cs typeface="+mn-lt"/>
              </a:rPr>
              <a:t>encryption and security algorithms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Example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Password masking systems.</a:t>
            </a:r>
            <a:endParaRPr lang="en-US"/>
          </a:p>
          <a:p>
            <a:endParaRPr lang="en-US" dirty="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068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08946-BAAB-FF7F-5C8A-5562FDC97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880" y="258493"/>
            <a:ext cx="10515600" cy="634979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/>
              <a:t>Bitwise NOT (</a:t>
            </a:r>
            <a:r>
              <a:rPr lang="en-US" sz="2000" dirty="0">
                <a:latin typeface="Consolas"/>
              </a:rPr>
              <a:t>~</a:t>
            </a:r>
            <a:r>
              <a:rPr lang="en-US" sz="2000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sz="2000" dirty="0"/>
              <a:t>Concept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Reverses the bits.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0 becomes </a:t>
            </a:r>
            <a:r>
              <a:rPr lang="en-US" sz="2000" b="1" dirty="0">
                <a:ea typeface="+mn-lt"/>
                <a:cs typeface="+mn-lt"/>
              </a:rPr>
              <a:t>1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1 becomes 0</a:t>
            </a:r>
            <a:br>
              <a:rPr lang="en-US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Example</a:t>
            </a:r>
          </a:p>
          <a:p>
            <a:pPr marL="0" indent="0">
              <a:buNone/>
            </a:pPr>
            <a:r>
              <a:rPr lang="en-US" sz="2000" dirty="0">
                <a:latin typeface="Consolas"/>
              </a:rPr>
              <a:t>public class </a:t>
            </a:r>
            <a:r>
              <a:rPr lang="en-US" sz="2000" dirty="0" err="1">
                <a:latin typeface="Consolas"/>
              </a:rPr>
              <a:t>BitwiseNotExample</a:t>
            </a:r>
            <a:r>
              <a:rPr lang="en-US" sz="2000" dirty="0">
                <a:latin typeface="Consolas"/>
              </a:rPr>
              <a:t> {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public static void main(String[] </a:t>
            </a:r>
            <a:r>
              <a:rPr lang="en-US" sz="2000" dirty="0" err="1">
                <a:latin typeface="Consolas"/>
              </a:rPr>
              <a:t>args</a:t>
            </a:r>
            <a:r>
              <a:rPr lang="en-US" sz="2000" dirty="0">
                <a:latin typeface="Consolas"/>
              </a:rPr>
              <a:t>) {</a:t>
            </a:r>
            <a:br>
              <a:rPr lang="en-US" sz="2000" dirty="0">
                <a:latin typeface="Consolas"/>
              </a:rPr>
            </a:b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    int a = 5;</a:t>
            </a:r>
            <a:br>
              <a:rPr lang="en-US" sz="2000" dirty="0">
                <a:latin typeface="Consolas"/>
              </a:rPr>
            </a:b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    </a:t>
            </a:r>
            <a:r>
              <a:rPr lang="en-US" sz="2000" dirty="0" err="1">
                <a:latin typeface="Consolas"/>
              </a:rPr>
              <a:t>System.out.println</a:t>
            </a:r>
            <a:r>
              <a:rPr lang="en-US" sz="2000" dirty="0">
                <a:latin typeface="Consolas"/>
              </a:rPr>
              <a:t>(~a);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}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Binary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latin typeface="Consolas"/>
              </a:rPr>
              <a:t>5 = 00000101</a:t>
            </a:r>
            <a:endParaRPr lang="en-US" sz="2000" dirty="0">
              <a:latin typeface="Aptos" panose="02110004020202020204"/>
            </a:endParaRPr>
          </a:p>
          <a:p>
            <a:pPr marL="0" indent="0">
              <a:buNone/>
            </a:pPr>
            <a:r>
              <a:rPr lang="en-US" sz="2000" dirty="0">
                <a:latin typeface="Consolas"/>
              </a:rPr>
              <a:t>~5 = 11111010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Output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latin typeface="Consolas"/>
              </a:rPr>
              <a:t>-6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Real Time Example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Used in </a:t>
            </a:r>
            <a:r>
              <a:rPr lang="en-US" sz="2000" b="1" dirty="0">
                <a:ea typeface="+mn-lt"/>
                <a:cs typeface="+mn-lt"/>
              </a:rPr>
              <a:t>low level programming and memory operations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AA615-6775-48BA-D859-463AC00606E8}"/>
              </a:ext>
            </a:extLst>
          </p:cNvPr>
          <p:cNvSpPr txBox="1"/>
          <p:nvPr/>
        </p:nvSpPr>
        <p:spPr>
          <a:xfrm>
            <a:off x="5664680" y="650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ourier New" panose="02070309020205020404" pitchFamily="49" charset="0"/>
              </a:rPr>
              <a:t>~</a:t>
            </a:r>
            <a:r>
              <a:rPr lang="en-IN" dirty="0"/>
              <a:t> (Bitwise NOT Operator)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FA496-39FD-9DFF-3E07-5B21266DF279}"/>
              </a:ext>
            </a:extLst>
          </p:cNvPr>
          <p:cNvSpPr txBox="1"/>
          <p:nvPr/>
        </p:nvSpPr>
        <p:spPr>
          <a:xfrm>
            <a:off x="5775294" y="1404963"/>
            <a:ext cx="72906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Define a class named </a:t>
            </a:r>
            <a:r>
              <a:rPr lang="en-IN" dirty="0" err="1"/>
              <a:t>BitwiseNotExample</a:t>
            </a:r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BitwiseNotExample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// Main method → program execution starts from here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// Declare an integer variable 'a' and assign value 5</a:t>
            </a:r>
          </a:p>
          <a:p>
            <a:r>
              <a:rPr lang="en-IN" dirty="0"/>
              <a:t>        int a = 5;</a:t>
            </a:r>
          </a:p>
          <a:p>
            <a:endParaRPr lang="en-IN" dirty="0"/>
          </a:p>
          <a:p>
            <a:r>
              <a:rPr lang="en-IN" dirty="0"/>
              <a:t>        // Print the result after applying Bitwise NOT (~) on 'a'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(~a);  // ~a = -(a + 1) → -(5 + 1) = -6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15864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8E29C-25A8-9780-10A0-60EC0EC67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766" y="344757"/>
            <a:ext cx="10515600" cy="435133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/>
              <a:t>Left Shift (</a:t>
            </a:r>
            <a:r>
              <a:rPr lang="en-US" sz="2000" b="1">
                <a:latin typeface="Consolas"/>
              </a:rPr>
              <a:t>&lt;&lt;</a:t>
            </a:r>
            <a:r>
              <a:rPr lang="en-US" sz="2000" b="1"/>
              <a:t>)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Moves bits to the </a:t>
            </a:r>
            <a:r>
              <a:rPr lang="en-US" sz="2000" b="1">
                <a:ea typeface="+mn-lt"/>
                <a:cs typeface="+mn-lt"/>
              </a:rPr>
              <a:t>left side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Each shift </a:t>
            </a:r>
            <a:r>
              <a:rPr lang="en-US" sz="2000" b="1">
                <a:ea typeface="+mn-lt"/>
                <a:cs typeface="+mn-lt"/>
              </a:rPr>
              <a:t>multiplies the number by 2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pPr marL="0" indent="0">
              <a:buNone/>
            </a:pPr>
            <a:br>
              <a:rPr lang="en-US" dirty="0"/>
            </a:br>
            <a:endParaRPr lang="en-US" sz="2000"/>
          </a:p>
          <a:p>
            <a:pPr marL="0" indent="0">
              <a:buNone/>
            </a:pPr>
            <a:r>
              <a:rPr lang="en-US" sz="2000"/>
              <a:t>Example</a:t>
            </a:r>
          </a:p>
          <a:p>
            <a:pPr marL="0" indent="0">
              <a:buNone/>
            </a:pPr>
            <a:r>
              <a:rPr lang="en-US" sz="2000" dirty="0">
                <a:latin typeface="Consolas"/>
              </a:rPr>
              <a:t>public class </a:t>
            </a:r>
            <a:r>
              <a:rPr lang="en-US" sz="2000" dirty="0" err="1">
                <a:latin typeface="Consolas"/>
              </a:rPr>
              <a:t>LeftShiftExample</a:t>
            </a:r>
            <a:r>
              <a:rPr lang="en-US" sz="2000" dirty="0">
                <a:latin typeface="Consolas"/>
              </a:rPr>
              <a:t> {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public static void main(String[] </a:t>
            </a:r>
            <a:r>
              <a:rPr lang="en-US" sz="2000" dirty="0" err="1">
                <a:latin typeface="Consolas"/>
              </a:rPr>
              <a:t>args</a:t>
            </a:r>
            <a:r>
              <a:rPr lang="en-US" sz="2000" dirty="0">
                <a:latin typeface="Consolas"/>
              </a:rPr>
              <a:t>) {</a:t>
            </a:r>
            <a:br>
              <a:rPr lang="en-US" sz="2000" dirty="0">
                <a:latin typeface="Consolas"/>
              </a:rPr>
            </a:b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    int a = 5;</a:t>
            </a:r>
            <a:br>
              <a:rPr lang="en-US" sz="2000" dirty="0">
                <a:latin typeface="Consolas"/>
              </a:rPr>
            </a:b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    </a:t>
            </a:r>
            <a:r>
              <a:rPr lang="en-US" sz="2000" dirty="0" err="1">
                <a:latin typeface="Consolas"/>
              </a:rPr>
              <a:t>System.out.println</a:t>
            </a:r>
            <a:r>
              <a:rPr lang="en-US" sz="2000" dirty="0">
                <a:latin typeface="Consolas"/>
              </a:rPr>
              <a:t>(a &lt;&lt; 1);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  }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}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Binary</a:t>
            </a:r>
            <a:endParaRPr lang="en-US" sz="2000"/>
          </a:p>
          <a:p>
            <a:pPr marL="0" indent="0">
              <a:buNone/>
            </a:pPr>
            <a:r>
              <a:rPr lang="en-US" sz="2000">
                <a:latin typeface="Consolas"/>
              </a:rPr>
              <a:t>5 = 101</a:t>
            </a:r>
            <a:br>
              <a:rPr lang="en-US" sz="2000" dirty="0">
                <a:latin typeface="Consolas"/>
              </a:rPr>
            </a:br>
            <a:r>
              <a:rPr lang="en-US" sz="2000">
                <a:latin typeface="Consolas"/>
              </a:rPr>
              <a:t>101 &lt;&lt; 1 = 1010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Output</a:t>
            </a:r>
            <a:endParaRPr lang="en-US" sz="2000"/>
          </a:p>
          <a:p>
            <a:pPr marL="0" indent="0">
              <a:buNone/>
            </a:pPr>
            <a:r>
              <a:rPr lang="en-US" sz="2000">
                <a:latin typeface="Consolas"/>
              </a:rPr>
              <a:t>10</a:t>
            </a:r>
            <a:endParaRPr lang="en-US" sz="2000"/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9C51E-E563-873E-6025-2E7D0519D7AC}"/>
              </a:ext>
            </a:extLst>
          </p:cNvPr>
          <p:cNvSpPr txBox="1"/>
          <p:nvPr/>
        </p:nvSpPr>
        <p:spPr>
          <a:xfrm>
            <a:off x="287547" y="4694208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Time Example</a:t>
            </a:r>
          </a:p>
          <a:p>
            <a:r>
              <a:rPr lang="en-US"/>
              <a:t>Used in </a:t>
            </a:r>
            <a:r>
              <a:rPr lang="en-US" b="1"/>
              <a:t>fast multiplication operations</a:t>
            </a:r>
            <a:r>
              <a:rPr lang="en-US"/>
              <a:t>.</a:t>
            </a:r>
          </a:p>
          <a:p>
            <a:r>
              <a:rPr lang="en-US"/>
              <a:t>Example</a:t>
            </a:r>
          </a:p>
          <a:p>
            <a:endParaRPr lang="en-US"/>
          </a:p>
          <a:p>
            <a:r>
              <a:rPr lang="en-US"/>
              <a:t>salary &lt;&lt; 1</a:t>
            </a:r>
          </a:p>
          <a:p>
            <a:r>
              <a:rPr lang="en-US"/>
              <a:t>Double value.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679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2E11D-9E7D-487F-E21B-EC73ACF7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905474"/>
            <a:ext cx="10515600" cy="4351338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n-US" sz="9600"/>
              <a:t>Right Shift (</a:t>
            </a:r>
            <a:r>
              <a:rPr lang="en-US" sz="9600">
                <a:latin typeface="Consolas"/>
              </a:rPr>
              <a:t>&gt;&gt;</a:t>
            </a:r>
            <a:r>
              <a:rPr lang="en-US" sz="9600"/>
              <a:t>)</a:t>
            </a:r>
          </a:p>
          <a:p>
            <a:r>
              <a:rPr lang="en-US" sz="9600"/>
              <a:t>Concept</a:t>
            </a:r>
          </a:p>
          <a:p>
            <a:r>
              <a:rPr lang="en-US" sz="9600">
                <a:ea typeface="+mn-lt"/>
                <a:cs typeface="+mn-lt"/>
              </a:rPr>
              <a:t>Moves bits to the </a:t>
            </a:r>
            <a:r>
              <a:rPr lang="en-US" sz="9600" b="1">
                <a:ea typeface="+mn-lt"/>
                <a:cs typeface="+mn-lt"/>
              </a:rPr>
              <a:t>right side</a:t>
            </a:r>
            <a:r>
              <a:rPr lang="en-US" sz="9600">
                <a:ea typeface="+mn-lt"/>
                <a:cs typeface="+mn-lt"/>
              </a:rPr>
              <a:t>.</a:t>
            </a:r>
            <a:endParaRPr lang="en-US" sz="9600"/>
          </a:p>
          <a:p>
            <a:r>
              <a:rPr lang="en-US" sz="9600">
                <a:ea typeface="+mn-lt"/>
                <a:cs typeface="+mn-lt"/>
              </a:rPr>
              <a:t>Each shift </a:t>
            </a:r>
            <a:r>
              <a:rPr lang="en-US" sz="9600" b="1">
                <a:ea typeface="+mn-lt"/>
                <a:cs typeface="+mn-lt"/>
              </a:rPr>
              <a:t>divides the number by 2</a:t>
            </a:r>
            <a:r>
              <a:rPr lang="en-US" sz="9600">
                <a:ea typeface="+mn-lt"/>
                <a:cs typeface="+mn-lt"/>
              </a:rPr>
              <a:t>.</a:t>
            </a:r>
            <a:endParaRPr lang="en-US" sz="9600"/>
          </a:p>
          <a:p>
            <a:br>
              <a:rPr lang="en-US" dirty="0"/>
            </a:br>
            <a:endParaRPr lang="en-US" sz="9600"/>
          </a:p>
          <a:p>
            <a:r>
              <a:rPr lang="en-US" sz="9600"/>
              <a:t>Example</a:t>
            </a:r>
          </a:p>
          <a:p>
            <a:r>
              <a:rPr lang="en-US" sz="9600" dirty="0">
                <a:latin typeface="Consolas"/>
              </a:rPr>
              <a:t>public class </a:t>
            </a:r>
            <a:r>
              <a:rPr lang="en-US" sz="9600" dirty="0" err="1">
                <a:latin typeface="Consolas"/>
              </a:rPr>
              <a:t>RightShiftExample</a:t>
            </a:r>
            <a:r>
              <a:rPr lang="en-US" sz="9600" dirty="0">
                <a:latin typeface="Consolas"/>
              </a:rPr>
              <a:t> {</a:t>
            </a:r>
            <a:br>
              <a:rPr lang="en-US" sz="9600" dirty="0">
                <a:latin typeface="Consolas"/>
              </a:rPr>
            </a:br>
            <a:r>
              <a:rPr lang="en-US" sz="9600" dirty="0">
                <a:latin typeface="Consolas"/>
              </a:rPr>
              <a:t>    public static void main(String[] </a:t>
            </a:r>
            <a:r>
              <a:rPr lang="en-US" sz="9600" dirty="0" err="1">
                <a:latin typeface="Consolas"/>
              </a:rPr>
              <a:t>args</a:t>
            </a:r>
            <a:r>
              <a:rPr lang="en-US" sz="9600" dirty="0">
                <a:latin typeface="Consolas"/>
              </a:rPr>
              <a:t>) {</a:t>
            </a:r>
            <a:br>
              <a:rPr lang="en-US" sz="9600" dirty="0">
                <a:latin typeface="Consolas"/>
              </a:rPr>
            </a:br>
            <a:br>
              <a:rPr lang="en-US" sz="9600" dirty="0">
                <a:latin typeface="Consolas"/>
              </a:rPr>
            </a:br>
            <a:r>
              <a:rPr lang="en-US" sz="9600" dirty="0">
                <a:latin typeface="Consolas"/>
              </a:rPr>
              <a:t>        int a = 8;</a:t>
            </a:r>
            <a:br>
              <a:rPr lang="en-US" sz="9600" dirty="0">
                <a:latin typeface="Consolas"/>
              </a:rPr>
            </a:br>
            <a:br>
              <a:rPr lang="en-US" sz="9600" dirty="0">
                <a:latin typeface="Consolas"/>
              </a:rPr>
            </a:br>
            <a:r>
              <a:rPr lang="en-US" sz="9600" dirty="0">
                <a:latin typeface="Consolas"/>
              </a:rPr>
              <a:t>        </a:t>
            </a:r>
            <a:r>
              <a:rPr lang="en-US" sz="9600" dirty="0" err="1">
                <a:latin typeface="Consolas"/>
              </a:rPr>
              <a:t>System.out.println</a:t>
            </a:r>
            <a:r>
              <a:rPr lang="en-US" sz="9600" dirty="0">
                <a:latin typeface="Consolas"/>
              </a:rPr>
              <a:t>(a &gt;&gt; 1);</a:t>
            </a:r>
            <a:br>
              <a:rPr lang="en-US" sz="9600" dirty="0">
                <a:latin typeface="Consolas"/>
              </a:rPr>
            </a:br>
            <a:r>
              <a:rPr lang="en-US" sz="9600" dirty="0">
                <a:latin typeface="Consolas"/>
              </a:rPr>
              <a:t>    }</a:t>
            </a:r>
            <a:br>
              <a:rPr lang="en-US" sz="9600" dirty="0">
                <a:latin typeface="Consolas"/>
              </a:rPr>
            </a:br>
            <a:r>
              <a:rPr lang="en-US" sz="9600" dirty="0">
                <a:latin typeface="Consolas"/>
              </a:rPr>
              <a:t>}</a:t>
            </a:r>
            <a:endParaRPr lang="en-US" sz="9600"/>
          </a:p>
          <a:p>
            <a:r>
              <a:rPr lang="en-US" sz="9600">
                <a:ea typeface="+mn-lt"/>
                <a:cs typeface="+mn-lt"/>
              </a:rPr>
              <a:t>Binary</a:t>
            </a:r>
            <a:endParaRPr lang="en-US" sz="9600"/>
          </a:p>
          <a:p>
            <a:r>
              <a:rPr lang="en-US" sz="9600">
                <a:latin typeface="Consolas"/>
              </a:rPr>
              <a:t>8 = 1000</a:t>
            </a:r>
            <a:br>
              <a:rPr lang="en-US" sz="9600" dirty="0">
                <a:latin typeface="Consolas"/>
              </a:rPr>
            </a:br>
            <a:r>
              <a:rPr lang="en-US" sz="9600">
                <a:latin typeface="Consolas"/>
              </a:rPr>
              <a:t>1000 &gt;&gt; 1 = 0100</a:t>
            </a:r>
            <a:endParaRPr lang="en-US" sz="9600"/>
          </a:p>
          <a:p>
            <a:endParaRPr lang="en-US" sz="96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24405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A92A1-0073-D58B-5ECE-B3AFCB7D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25" y="27287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rtl="0">
              <a:lnSpc>
                <a:spcPts val="1125"/>
              </a:lnSpc>
              <a:buNone/>
            </a:pPr>
            <a:r>
              <a:rPr lang="en-US" sz="2400" b="1" baseline="0">
                <a:latin typeface="Aptos"/>
                <a:ea typeface="Arial"/>
                <a:cs typeface="Arial"/>
              </a:rPr>
              <a:t>Output</a:t>
            </a:r>
            <a:r>
              <a:rPr lang="en-US" sz="2400" b="1">
                <a:latin typeface="Aptos"/>
                <a:ea typeface="Arial"/>
                <a:cs typeface="Arial"/>
              </a:rPr>
              <a:t>​</a:t>
            </a:r>
            <a:endParaRPr lang="en-US" b="1"/>
          </a:p>
          <a:p>
            <a:pPr marL="0" lvl="0" indent="0" rtl="0">
              <a:lnSpc>
                <a:spcPts val="1125"/>
              </a:lnSpc>
              <a:buNone/>
            </a:pPr>
            <a:r>
              <a:rPr lang="en-US" sz="2400" baseline="0">
                <a:latin typeface="Consolas"/>
                <a:ea typeface="Arial"/>
                <a:cs typeface="Arial"/>
              </a:rPr>
              <a:t>4</a:t>
            </a:r>
            <a:r>
              <a:rPr lang="en-US" sz="2400">
                <a:latin typeface="Consolas"/>
                <a:ea typeface="Arial"/>
                <a:cs typeface="Arial"/>
              </a:rPr>
              <a:t>​</a:t>
            </a:r>
          </a:p>
          <a:p>
            <a:pPr marL="228600" lvl="0" indent="-228600" rtl="0">
              <a:lnSpc>
                <a:spcPts val="1125"/>
              </a:lnSpc>
              <a:buFont typeface=""/>
              <a:buChar char="•"/>
            </a:pPr>
            <a:r>
              <a:rPr lang="en-US" sz="700">
                <a:latin typeface="Aptos"/>
                <a:ea typeface="Arial"/>
                <a:cs typeface="Arial"/>
              </a:rPr>
              <a:t>​</a:t>
            </a:r>
            <a:br>
              <a:rPr lang="en-US" sz="700" dirty="0">
                <a:latin typeface="Aptos"/>
                <a:ea typeface="Arial"/>
                <a:cs typeface="Arial"/>
              </a:rPr>
            </a:br>
            <a:r>
              <a:rPr lang="en-US" sz="2400">
                <a:latin typeface="Aptos"/>
                <a:ea typeface="Arial"/>
                <a:cs typeface="Arial"/>
              </a:rPr>
              <a:t>​</a:t>
            </a:r>
          </a:p>
          <a:p>
            <a:pPr marL="0" lvl="0" indent="0" rtl="0">
              <a:lnSpc>
                <a:spcPts val="1125"/>
              </a:lnSpc>
              <a:buNone/>
            </a:pPr>
            <a:r>
              <a:rPr lang="en-US" sz="2400" baseline="0">
                <a:latin typeface="Aptos"/>
                <a:ea typeface="Arial"/>
                <a:cs typeface="Arial"/>
              </a:rPr>
              <a:t>Real Time Example</a:t>
            </a:r>
            <a:r>
              <a:rPr lang="en-US" sz="2400">
                <a:latin typeface="Aptos"/>
                <a:ea typeface="Arial"/>
                <a:cs typeface="Arial"/>
              </a:rPr>
              <a:t>​</a:t>
            </a:r>
          </a:p>
          <a:p>
            <a:pPr marL="0" lvl="0" indent="0" rtl="0">
              <a:lnSpc>
                <a:spcPts val="1125"/>
              </a:lnSpc>
              <a:buNone/>
            </a:pPr>
            <a:r>
              <a:rPr lang="en-US" sz="2400" baseline="0">
                <a:latin typeface="Aptos"/>
                <a:ea typeface="Arial"/>
                <a:cs typeface="Arial"/>
              </a:rPr>
              <a:t>Used in</a:t>
            </a:r>
            <a:r>
              <a:rPr lang="en-US" sz="2400">
                <a:latin typeface="Aptos"/>
                <a:ea typeface="Arial"/>
                <a:cs typeface="Arial"/>
              </a:rPr>
              <a:t>​</a:t>
            </a:r>
          </a:p>
          <a:p>
            <a:pPr marL="0" lvl="0" indent="0" rtl="0">
              <a:lnSpc>
                <a:spcPts val="1125"/>
              </a:lnSpc>
              <a:buNone/>
            </a:pPr>
            <a:r>
              <a:rPr lang="en-US" sz="2400" baseline="0">
                <a:latin typeface="Aptos"/>
                <a:ea typeface="Arial"/>
                <a:cs typeface="Arial"/>
              </a:rPr>
              <a:t>Data compression</a:t>
            </a:r>
            <a:r>
              <a:rPr lang="en-US" sz="2400">
                <a:latin typeface="Aptos"/>
                <a:ea typeface="Arial"/>
                <a:cs typeface="Arial"/>
              </a:rPr>
              <a:t>​</a:t>
            </a:r>
          </a:p>
          <a:p>
            <a:pPr marL="0" lvl="0" indent="0" rtl="0">
              <a:lnSpc>
                <a:spcPts val="1125"/>
              </a:lnSpc>
              <a:buNone/>
            </a:pPr>
            <a:r>
              <a:rPr lang="en-US" sz="2400" baseline="0">
                <a:latin typeface="Aptos"/>
                <a:ea typeface="Arial"/>
                <a:cs typeface="Arial"/>
              </a:rPr>
              <a:t>Image processing</a:t>
            </a:r>
            <a:r>
              <a:rPr lang="en-US" sz="2400">
                <a:latin typeface="Aptos"/>
                <a:ea typeface="Arial"/>
                <a:cs typeface="Arial"/>
              </a:rPr>
              <a:t>​</a:t>
            </a:r>
          </a:p>
          <a:p>
            <a:pPr marL="0" lvl="0" indent="0" rtl="0">
              <a:lnSpc>
                <a:spcPts val="1125"/>
              </a:lnSpc>
              <a:buNone/>
            </a:pPr>
            <a:r>
              <a:rPr lang="en-US" sz="2400" baseline="0">
                <a:latin typeface="Aptos"/>
                <a:ea typeface="Arial"/>
                <a:cs typeface="Arial"/>
              </a:rPr>
              <a:t>Network protocols</a:t>
            </a:r>
            <a:r>
              <a:rPr lang="en-US" sz="2400"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10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51FB-9D1C-7CF9-764D-F5B95E171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25" y="215361"/>
            <a:ext cx="10515600" cy="6637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Simple Bitwise Program</a:t>
            </a:r>
          </a:p>
          <a:p>
            <a:pPr marL="0" indent="0">
              <a:buNone/>
            </a:pPr>
            <a:r>
              <a:rPr lang="en-US" sz="2400" dirty="0">
                <a:latin typeface="Consolas"/>
              </a:rPr>
              <a:t>public class </a:t>
            </a:r>
            <a:r>
              <a:rPr lang="en-US" sz="2400" dirty="0" err="1">
                <a:latin typeface="Consolas"/>
              </a:rPr>
              <a:t>BitwiseDemo</a:t>
            </a:r>
            <a:r>
              <a:rPr lang="en-US" sz="2400" dirty="0">
                <a:latin typeface="Consolas"/>
              </a:rPr>
              <a:t> {</a:t>
            </a:r>
            <a:br>
              <a:rPr lang="en-US" sz="2400" dirty="0">
                <a:latin typeface="Consolas"/>
              </a:rPr>
            </a:b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    public static void main(String[] </a:t>
            </a:r>
            <a:r>
              <a:rPr lang="en-US" sz="2400" dirty="0" err="1">
                <a:latin typeface="Consolas"/>
              </a:rPr>
              <a:t>args</a:t>
            </a:r>
            <a:r>
              <a:rPr lang="en-US" sz="2400" dirty="0">
                <a:latin typeface="Consolas"/>
              </a:rPr>
              <a:t>) {</a:t>
            </a:r>
            <a:br>
              <a:rPr lang="en-US" sz="2400" dirty="0">
                <a:latin typeface="Consolas"/>
              </a:rPr>
            </a:b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        int a = 5;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        int b = 3;</a:t>
            </a:r>
            <a:br>
              <a:rPr lang="en-US" sz="2400" dirty="0">
                <a:latin typeface="Consolas"/>
              </a:rPr>
            </a:b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        </a:t>
            </a:r>
            <a:r>
              <a:rPr lang="en-US" sz="2400" dirty="0" err="1">
                <a:latin typeface="Consolas"/>
              </a:rPr>
              <a:t>System.out.println</a:t>
            </a:r>
            <a:r>
              <a:rPr lang="en-US" sz="2400" dirty="0">
                <a:latin typeface="Consolas"/>
              </a:rPr>
              <a:t>("AND: " + (a &amp; b));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        </a:t>
            </a:r>
            <a:r>
              <a:rPr lang="en-US" sz="2400" dirty="0" err="1">
                <a:latin typeface="Consolas"/>
              </a:rPr>
              <a:t>System.out.println</a:t>
            </a:r>
            <a:r>
              <a:rPr lang="en-US" sz="2400" dirty="0">
                <a:latin typeface="Consolas"/>
              </a:rPr>
              <a:t>("OR: " + (a | b));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        </a:t>
            </a:r>
            <a:r>
              <a:rPr lang="en-US" sz="2400" dirty="0" err="1">
                <a:latin typeface="Consolas"/>
              </a:rPr>
              <a:t>System.out.println</a:t>
            </a:r>
            <a:r>
              <a:rPr lang="en-US" sz="2400" dirty="0">
                <a:latin typeface="Consolas"/>
              </a:rPr>
              <a:t>("XOR: " + (a ^ b));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    }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}</a:t>
            </a:r>
            <a:endParaRPr lang="en-US" sz="2400"/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Output</a:t>
            </a:r>
            <a:endParaRPr lang="en-US" sz="2400"/>
          </a:p>
          <a:p>
            <a:pPr marL="0" indent="0">
              <a:buNone/>
            </a:pPr>
            <a:r>
              <a:rPr lang="en-US" sz="2400">
                <a:latin typeface="Consolas"/>
              </a:rPr>
              <a:t>AND: 1</a:t>
            </a:r>
            <a:br>
              <a:rPr lang="en-US" sz="2400" dirty="0">
                <a:latin typeface="Consolas"/>
              </a:rPr>
            </a:br>
            <a:r>
              <a:rPr lang="en-US" sz="2400">
                <a:latin typeface="Consolas"/>
              </a:rPr>
              <a:t>OR: 7</a:t>
            </a:r>
            <a:br>
              <a:rPr lang="en-US" sz="2400" dirty="0">
                <a:latin typeface="Consolas"/>
              </a:rPr>
            </a:br>
            <a:r>
              <a:rPr lang="en-US" sz="2400">
                <a:latin typeface="Consolas"/>
              </a:rPr>
              <a:t>XOR: 6</a:t>
            </a:r>
            <a:endParaRPr lang="en-US" sz="240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553382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D569-3467-21ED-C046-CA19CC736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709" y="157851"/>
            <a:ext cx="10515600" cy="6996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Summary (Best PPT Slide)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Bitwise operators work on </a:t>
            </a:r>
            <a:r>
              <a:rPr lang="en-US" b="1">
                <a:ea typeface="+mn-lt"/>
                <a:cs typeface="+mn-lt"/>
              </a:rPr>
              <a:t>binary numbers (bits)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Operators:</a:t>
            </a:r>
            <a:endParaRPr lang="en-US"/>
          </a:p>
          <a:p>
            <a:pPr marL="0" indent="0">
              <a:buNone/>
            </a:pPr>
            <a:r>
              <a:rPr lang="en-US">
                <a:latin typeface="Consolas"/>
              </a:rPr>
              <a:t>&amp;  AND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|  OR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^  XOR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~  NOT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&lt;&lt; Left Shift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&gt;&gt; Right Shift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Used in: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Encryption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Security systems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Hardware programming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Network protocols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1845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77326-7252-6B2A-1123-EADE52610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-234792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b="1" dirty="0"/>
              <a:t>Unary Operators (Java)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882C6-7D6B-5298-D307-652F02F8C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871" y="747236"/>
            <a:ext cx="10515600" cy="344471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Unary operators are operators that work on </a:t>
            </a:r>
            <a:r>
              <a:rPr lang="en-US" sz="2000" b="1" dirty="0"/>
              <a:t>only one operand (one variable or value)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Uni” means </a:t>
            </a:r>
            <a:r>
              <a:rPr lang="en-US" sz="2000" b="1" dirty="0"/>
              <a:t>one</a:t>
            </a:r>
            <a:endParaRPr lang="en-US" sz="2000" dirty="0"/>
          </a:p>
          <a:p>
            <a:pPr marL="0" indent="0">
              <a:buNone/>
            </a:pPr>
            <a:r>
              <a:rPr lang="en-IN" dirty="0"/>
              <a:t>Types of Unary Operators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1D44D9-A08D-BDDC-4556-0FDA98AB7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875766"/>
              </p:ext>
            </p:extLst>
          </p:nvPr>
        </p:nvGraphicFramePr>
        <p:xfrm>
          <a:off x="417871" y="2122275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894079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9702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202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+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17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-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618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++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Increment (increase by 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718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--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Decrement (decrease by 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053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!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Logical NOT (reverse true/false)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3628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B894832-72A3-5D8A-318A-A17C97E60AB6}"/>
              </a:ext>
            </a:extLst>
          </p:cNvPr>
          <p:cNvSpPr txBox="1"/>
          <p:nvPr/>
        </p:nvSpPr>
        <p:spPr>
          <a:xfrm>
            <a:off x="250723" y="43168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Ternary Operator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B5E8C1-716D-B690-3CBB-2E375940197D}"/>
              </a:ext>
            </a:extLst>
          </p:cNvPr>
          <p:cNvSpPr txBox="1"/>
          <p:nvPr/>
        </p:nvSpPr>
        <p:spPr>
          <a:xfrm>
            <a:off x="250723" y="4718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Ternary operator is a </a:t>
            </a:r>
            <a:r>
              <a:rPr lang="en-US" b="1" dirty="0"/>
              <a:t>short form of if-else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4A442-D1C1-9283-A9D0-14DE280E3448}"/>
              </a:ext>
            </a:extLst>
          </p:cNvPr>
          <p:cNvSpPr txBox="1"/>
          <p:nvPr/>
        </p:nvSpPr>
        <p:spPr>
          <a:xfrm>
            <a:off x="250723" y="51008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condition ? value1 : value2;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94C4E-95D0-1180-16BB-B4F6281F6FF0}"/>
              </a:ext>
            </a:extLst>
          </p:cNvPr>
          <p:cNvSpPr txBox="1"/>
          <p:nvPr/>
        </p:nvSpPr>
        <p:spPr>
          <a:xfrm>
            <a:off x="250723" y="54964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Shift Operators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34838E-281D-B5C3-370E-325F9C5F3860}"/>
              </a:ext>
            </a:extLst>
          </p:cNvPr>
          <p:cNvSpPr txBox="1"/>
          <p:nvPr/>
        </p:nvSpPr>
        <p:spPr>
          <a:xfrm>
            <a:off x="250723" y="58753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Shift operators move bits </a:t>
            </a:r>
            <a:r>
              <a:rPr lang="en-US" b="1" dirty="0"/>
              <a:t>left or right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40013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32DD-4FDC-08DF-300E-8998A6A4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42" y="1285448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dirty="0"/>
              <a:t>Types of Shift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5F9F1E-4F75-341F-D7BD-15AF8AA431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541217"/>
              </p:ext>
            </p:extLst>
          </p:nvPr>
        </p:nvGraphicFramePr>
        <p:xfrm>
          <a:off x="317090" y="2414367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827037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197461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26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&lt;&lt;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Left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261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&gt;&gt;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Right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77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&gt;&gt;&gt;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Unsigned Right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2355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705360-5EE8-8273-A2F1-7542B23EA68C}"/>
              </a:ext>
            </a:extLst>
          </p:cNvPr>
          <p:cNvSpPr txBox="1"/>
          <p:nvPr/>
        </p:nvSpPr>
        <p:spPr>
          <a:xfrm>
            <a:off x="228600" y="278374"/>
            <a:ext cx="93086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None/>
            </a:pPr>
            <a:r>
              <a:rPr lang="en-US" dirty="0"/>
              <a:t>Shift operators are used to </a:t>
            </a:r>
            <a:r>
              <a:rPr lang="en-US" b="1" dirty="0"/>
              <a:t>move the bits of a number to the left or right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In Java, all numbers are stored in </a:t>
            </a:r>
            <a:r>
              <a:rPr lang="en-US" b="1" dirty="0"/>
              <a:t>binary format (0s and 1s)</a:t>
            </a:r>
            <a:br>
              <a:rPr lang="en-US" dirty="0"/>
            </a:br>
            <a:r>
              <a:rPr lang="en-US" dirty="0"/>
              <a:t> Shift operators work on this binary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633230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A47B-9811-7F86-4276-F6ECD6317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71" y="227473"/>
            <a:ext cx="10515600" cy="677095"/>
          </a:xfrm>
        </p:spPr>
        <p:txBody>
          <a:bodyPr>
            <a:normAutofit fontScale="90000"/>
          </a:bodyPr>
          <a:lstStyle/>
          <a:p>
            <a:r>
              <a:rPr lang="en-IN" dirty="0"/>
              <a:t>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6C9CC-3242-25A8-ACAE-83AF2C32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9045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if is used to check a condition.</a:t>
            </a:r>
            <a:br>
              <a:rPr lang="en-US" sz="3200" dirty="0"/>
            </a:br>
            <a:r>
              <a:rPr lang="en-US" sz="3200" dirty="0"/>
              <a:t>If condition is TRUE → code executes.</a:t>
            </a:r>
          </a:p>
          <a:p>
            <a:pPr marL="0" indent="0">
              <a:buNone/>
            </a:pPr>
            <a:r>
              <a:rPr lang="en-US" sz="3200" b="1" dirty="0"/>
              <a:t>Syntax</a:t>
            </a:r>
          </a:p>
          <a:p>
            <a:pPr marL="0" indent="0">
              <a:buNone/>
            </a:pPr>
            <a:r>
              <a:rPr lang="en-US" sz="3200" dirty="0"/>
              <a:t>if(condition){</a:t>
            </a:r>
            <a:br>
              <a:rPr lang="en-US" sz="3200" dirty="0"/>
            </a:br>
            <a:r>
              <a:rPr lang="en-US" sz="3200" dirty="0"/>
              <a:t>    // code</a:t>
            </a:r>
            <a:br>
              <a:rPr lang="en-US" sz="3200" dirty="0"/>
            </a:br>
            <a:r>
              <a:rPr lang="en-US" sz="3200" dirty="0"/>
              <a:t>}</a:t>
            </a:r>
          </a:p>
          <a:p>
            <a:pPr marL="0" indent="0">
              <a:buNone/>
            </a:pPr>
            <a:r>
              <a:rPr lang="en-US" sz="3200" b="1" dirty="0"/>
              <a:t>Real-time Example</a:t>
            </a:r>
          </a:p>
          <a:p>
            <a:pPr marL="0" indent="0">
              <a:buNone/>
            </a:pPr>
            <a:r>
              <a:rPr lang="en-US" sz="3200" dirty="0"/>
              <a:t>If balance &gt; 1000 → allow withdrawal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1909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E4D77-9E14-DB18-B388-BF6CE1E1E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35" y="104980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Example1(Basic)</a:t>
            </a:r>
          </a:p>
          <a:p>
            <a:pPr marL="0" indent="0">
              <a:buNone/>
            </a:pPr>
            <a:r>
              <a:rPr lang="en-IN" dirty="0"/>
              <a:t>public class Test {</a:t>
            </a: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int age = 20; // declare age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if(age &gt;= 18) { // check condition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("You can vote"); // prints if true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b="1" dirty="0"/>
              <a:t>Line by Line</a:t>
            </a:r>
          </a:p>
          <a:p>
            <a:pPr marL="0" indent="0">
              <a:buNone/>
            </a:pPr>
            <a:r>
              <a:rPr lang="en-IN" dirty="0"/>
              <a:t>int age = 20; → store age</a:t>
            </a:r>
          </a:p>
          <a:p>
            <a:pPr marL="0" indent="0">
              <a:buNone/>
            </a:pPr>
            <a:r>
              <a:rPr lang="en-IN" dirty="0"/>
              <a:t>if(age &gt;= 18) → condition check</a:t>
            </a:r>
          </a:p>
          <a:p>
            <a:pPr marL="0" indent="0">
              <a:buNone/>
            </a:pPr>
            <a:r>
              <a:rPr lang="en-IN" dirty="0"/>
              <a:t>{} → block runs only if TRUE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 → output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A1D37-DCED-88D7-EE0F-A50D12A0133B}"/>
              </a:ext>
            </a:extLst>
          </p:cNvPr>
          <p:cNvSpPr txBox="1"/>
          <p:nvPr/>
        </p:nvSpPr>
        <p:spPr>
          <a:xfrm>
            <a:off x="7391401" y="301626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2 (Even Number)</a:t>
            </a:r>
          </a:p>
          <a:p>
            <a:pPr rtl="0">
              <a:buNone/>
            </a:pPr>
            <a:r>
              <a:rPr lang="en-IN" dirty="0">
                <a:latin typeface="+mj-lt"/>
              </a:rPr>
              <a:t>public class Test {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public static void main(String[] </a:t>
            </a:r>
            <a:r>
              <a:rPr lang="en-IN" dirty="0" err="1">
                <a:latin typeface="+mj-lt"/>
              </a:rPr>
              <a:t>args</a:t>
            </a:r>
            <a:r>
              <a:rPr lang="en-IN" dirty="0">
                <a:latin typeface="+mj-lt"/>
              </a:rPr>
              <a:t>) {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int </a:t>
            </a:r>
            <a:r>
              <a:rPr lang="en-IN" dirty="0" err="1">
                <a:latin typeface="+mj-lt"/>
              </a:rPr>
              <a:t>num</a:t>
            </a:r>
            <a:r>
              <a:rPr lang="en-IN" dirty="0">
                <a:latin typeface="+mj-lt"/>
              </a:rPr>
              <a:t> = 4;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if(</a:t>
            </a:r>
            <a:r>
              <a:rPr lang="en-IN" dirty="0" err="1">
                <a:latin typeface="+mj-lt"/>
              </a:rPr>
              <a:t>num</a:t>
            </a:r>
            <a:r>
              <a:rPr lang="en-IN" dirty="0">
                <a:latin typeface="+mj-lt"/>
              </a:rPr>
              <a:t> % 2 == 0) { // modulus check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</a:t>
            </a:r>
            <a:r>
              <a:rPr lang="en-IN" dirty="0" err="1">
                <a:latin typeface="+mj-lt"/>
              </a:rPr>
              <a:t>System.out.println</a:t>
            </a:r>
            <a:r>
              <a:rPr lang="en-IN" dirty="0">
                <a:latin typeface="+mj-lt"/>
              </a:rPr>
              <a:t>("Even number");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}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}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7673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DCD9F-264D-6573-4042-FB0480307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84" y="11481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Example 3</a:t>
            </a:r>
            <a:br>
              <a:rPr lang="en-US" sz="1800" dirty="0"/>
            </a:br>
            <a:r>
              <a:rPr lang="en-US" sz="1800" dirty="0"/>
              <a:t>public class Test { // Define class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 { // Main method - program starts here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int temp = 35; // Declare a variable 'temp' and assign value 35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// Check if temperature is greater than 30</a:t>
            </a:r>
          </a:p>
          <a:p>
            <a:pPr marL="0" indent="0">
              <a:buNone/>
            </a:pPr>
            <a:r>
              <a:rPr lang="en-US" sz="1800" dirty="0"/>
              <a:t>        if(temp &gt; 30) {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   // If condition is TRUE, this line will execute</a:t>
            </a:r>
          </a:p>
          <a:p>
            <a:pPr marL="0" indent="0">
              <a:buNone/>
            </a:pPr>
            <a:r>
              <a:rPr lang="en-US" sz="1800" dirty="0"/>
              <a:t>           </a:t>
            </a:r>
            <a:r>
              <a:rPr lang="en-US" sz="1800" dirty="0" err="1"/>
              <a:t>System.out.println</a:t>
            </a:r>
            <a:r>
              <a:rPr lang="en-US" sz="1800" dirty="0"/>
              <a:t>("Hot weather"); 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} // End of if block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} // End of main method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} // End of class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822680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BDF65-4C0D-C4A0-F6D6-0022D360D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04980"/>
            <a:ext cx="10515600" cy="3149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ELSE IF STATEMENT</a:t>
            </a:r>
          </a:p>
          <a:p>
            <a:pPr marL="0" indent="0">
              <a:buNone/>
            </a:pPr>
            <a:r>
              <a:rPr lang="en-US" sz="1800" b="1" dirty="0"/>
              <a:t> Concept (Brief)</a:t>
            </a:r>
          </a:p>
          <a:p>
            <a:pPr marL="0" indent="0">
              <a:buNone/>
            </a:pPr>
            <a:r>
              <a:rPr lang="en-US" sz="1800" dirty="0"/>
              <a:t>Used when </a:t>
            </a:r>
            <a:r>
              <a:rPr lang="en-US" sz="1800" b="1" dirty="0"/>
              <a:t>multiple conditions</a:t>
            </a:r>
            <a:r>
              <a:rPr lang="en-US" sz="1800" dirty="0"/>
              <a:t> are there.</a:t>
            </a:r>
          </a:p>
          <a:p>
            <a:pPr marL="0" indent="0">
              <a:buNone/>
            </a:pPr>
            <a:r>
              <a:rPr lang="en-US" sz="1800" b="1" dirty="0"/>
              <a:t> Syntax</a:t>
            </a:r>
          </a:p>
          <a:p>
            <a:pPr marL="0" indent="0">
              <a:buNone/>
            </a:pPr>
            <a:r>
              <a:rPr lang="en-US" sz="1800" dirty="0"/>
              <a:t>if(condition1){</a:t>
            </a:r>
            <a:br>
              <a:rPr lang="en-US" sz="1800" dirty="0"/>
            </a:br>
            <a:r>
              <a:rPr lang="en-US" sz="1800" dirty="0"/>
              <a:t>}</a:t>
            </a:r>
            <a:br>
              <a:rPr lang="en-US" sz="1800" dirty="0"/>
            </a:br>
            <a:r>
              <a:rPr lang="en-US" sz="1800" dirty="0"/>
              <a:t>else if(condition2){</a:t>
            </a:r>
            <a:br>
              <a:rPr lang="en-US" sz="1800" dirty="0"/>
            </a:br>
            <a:r>
              <a:rPr lang="en-US" sz="1800" dirty="0"/>
              <a:t>}</a:t>
            </a:r>
            <a:br>
              <a:rPr lang="en-US" sz="1800" dirty="0"/>
            </a:br>
            <a:r>
              <a:rPr lang="en-US" sz="1800" dirty="0"/>
              <a:t>else{</a:t>
            </a:r>
            <a:br>
              <a:rPr lang="en-US" sz="1800" dirty="0"/>
            </a:br>
            <a:r>
              <a:rPr lang="en-US" sz="1800" dirty="0"/>
              <a:t>}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D84AD-F0BF-EADE-5B07-3B888479254A}"/>
              </a:ext>
            </a:extLst>
          </p:cNvPr>
          <p:cNvSpPr txBox="1"/>
          <p:nvPr/>
        </p:nvSpPr>
        <p:spPr>
          <a:xfrm>
            <a:off x="5771536" y="0"/>
            <a:ext cx="768882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Example 1 (Marks)</a:t>
            </a:r>
          </a:p>
          <a:p>
            <a:pPr rtl="0">
              <a:buNone/>
            </a:pPr>
            <a:r>
              <a:rPr lang="en-IN" dirty="0">
                <a:latin typeface="+mj-lt"/>
              </a:rPr>
              <a:t>public class Test {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public static void main(String[] </a:t>
            </a:r>
            <a:r>
              <a:rPr lang="en-IN" dirty="0" err="1">
                <a:latin typeface="+mj-lt"/>
              </a:rPr>
              <a:t>args</a:t>
            </a:r>
            <a:r>
              <a:rPr lang="en-IN" dirty="0">
                <a:latin typeface="+mj-lt"/>
              </a:rPr>
              <a:t>) {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int marks = 75;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if(marks &gt;= 90) {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</a:t>
            </a:r>
            <a:r>
              <a:rPr lang="en-IN" dirty="0" err="1">
                <a:latin typeface="+mj-lt"/>
              </a:rPr>
              <a:t>System.out.println</a:t>
            </a:r>
            <a:r>
              <a:rPr lang="en-IN" dirty="0">
                <a:latin typeface="+mj-lt"/>
              </a:rPr>
              <a:t>("Grade A");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}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else if(marks &gt;= 70) {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</a:t>
            </a:r>
            <a:r>
              <a:rPr lang="en-IN" dirty="0" err="1">
                <a:latin typeface="+mj-lt"/>
              </a:rPr>
              <a:t>System.out.println</a:t>
            </a:r>
            <a:r>
              <a:rPr lang="en-IN" dirty="0">
                <a:latin typeface="+mj-lt"/>
              </a:rPr>
              <a:t>("Grade B");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}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else {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</a:t>
            </a:r>
            <a:r>
              <a:rPr lang="en-IN" dirty="0" err="1">
                <a:latin typeface="+mj-lt"/>
              </a:rPr>
              <a:t>System.out.println</a:t>
            </a:r>
            <a:r>
              <a:rPr lang="en-IN" dirty="0">
                <a:latin typeface="+mj-lt"/>
              </a:rPr>
              <a:t>("Grade C");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}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}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}</a:t>
            </a:r>
          </a:p>
          <a:p>
            <a:pPr>
              <a:buNone/>
            </a:pPr>
            <a:r>
              <a:rPr lang="en-IN" b="1" dirty="0"/>
              <a:t> Explain</a:t>
            </a:r>
          </a:p>
          <a:p>
            <a:r>
              <a:rPr lang="en-IN" dirty="0"/>
              <a:t>First condition checked</a:t>
            </a:r>
          </a:p>
          <a:p>
            <a:r>
              <a:rPr lang="en-IN" dirty="0"/>
              <a:t>If false → next condition</a:t>
            </a:r>
          </a:p>
          <a:p>
            <a:r>
              <a:rPr lang="en-IN" dirty="0"/>
              <a:t>Last → default</a:t>
            </a:r>
          </a:p>
        </p:txBody>
      </p:sp>
    </p:spTree>
    <p:extLst>
      <p:ext uri="{BB962C8B-B14F-4D97-AF65-F5344CB8AC3E}">
        <p14:creationId xmlns:p14="http://schemas.microsoft.com/office/powerpoint/2010/main" val="14500657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BC840-D73D-8E55-9221-D8F2DC329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84" y="134475"/>
            <a:ext cx="10515600" cy="67235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1" dirty="0"/>
              <a:t>Example 2 (Login)</a:t>
            </a:r>
          </a:p>
          <a:p>
            <a:pPr marL="0" indent="0">
              <a:buNone/>
            </a:pPr>
            <a:r>
              <a:rPr lang="en-IN" sz="1200" dirty="0"/>
              <a:t>public class Test {</a:t>
            </a:r>
            <a:br>
              <a:rPr lang="en-IN" sz="1200" dirty="0"/>
            </a:br>
            <a:r>
              <a:rPr lang="en-IN" sz="1200" dirty="0"/>
              <a:t>    public static void main(String[] </a:t>
            </a:r>
            <a:r>
              <a:rPr lang="en-IN" sz="1200" dirty="0" err="1"/>
              <a:t>args</a:t>
            </a:r>
            <a:r>
              <a:rPr lang="en-IN" sz="1200" dirty="0"/>
              <a:t>) {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        String role = "admin";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        if(</a:t>
            </a:r>
            <a:r>
              <a:rPr lang="en-IN" sz="1200" dirty="0" err="1"/>
              <a:t>role.equals</a:t>
            </a:r>
            <a:r>
              <a:rPr lang="en-IN" sz="1200" dirty="0"/>
              <a:t>("admin")) {</a:t>
            </a:r>
            <a:br>
              <a:rPr lang="en-IN" sz="1200" dirty="0"/>
            </a:br>
            <a:r>
              <a:rPr lang="en-IN" sz="1200" dirty="0"/>
              <a:t>            </a:t>
            </a:r>
            <a:r>
              <a:rPr lang="en-IN" sz="1200" dirty="0" err="1"/>
              <a:t>System.out.println</a:t>
            </a:r>
            <a:r>
              <a:rPr lang="en-IN" sz="1200" dirty="0"/>
              <a:t>("Full access");</a:t>
            </a:r>
            <a:br>
              <a:rPr lang="en-IN" sz="1200" dirty="0"/>
            </a:br>
            <a:r>
              <a:rPr lang="en-IN" sz="1200" dirty="0"/>
              <a:t>        }</a:t>
            </a:r>
            <a:br>
              <a:rPr lang="en-IN" sz="1200" dirty="0"/>
            </a:br>
            <a:r>
              <a:rPr lang="en-IN" sz="1200" dirty="0"/>
              <a:t>        else if(</a:t>
            </a:r>
            <a:r>
              <a:rPr lang="en-IN" sz="1200" dirty="0" err="1"/>
              <a:t>role.equals</a:t>
            </a:r>
            <a:r>
              <a:rPr lang="en-IN" sz="1200" dirty="0"/>
              <a:t>("user")) {</a:t>
            </a:r>
            <a:br>
              <a:rPr lang="en-IN" sz="1200" dirty="0"/>
            </a:br>
            <a:r>
              <a:rPr lang="en-IN" sz="1200" dirty="0"/>
              <a:t>            </a:t>
            </a:r>
            <a:r>
              <a:rPr lang="en-IN" sz="1200" dirty="0" err="1"/>
              <a:t>System.out.println</a:t>
            </a:r>
            <a:r>
              <a:rPr lang="en-IN" sz="1200" dirty="0"/>
              <a:t>("Limited access");</a:t>
            </a:r>
            <a:br>
              <a:rPr lang="en-IN" sz="1200" dirty="0"/>
            </a:br>
            <a:r>
              <a:rPr lang="en-IN" sz="1200" dirty="0"/>
              <a:t>        }</a:t>
            </a:r>
            <a:br>
              <a:rPr lang="en-IN" sz="1200" dirty="0"/>
            </a:br>
            <a:r>
              <a:rPr lang="en-IN" sz="1200" dirty="0"/>
              <a:t>        else {</a:t>
            </a:r>
            <a:br>
              <a:rPr lang="en-IN" sz="1200" dirty="0"/>
            </a:br>
            <a:r>
              <a:rPr lang="en-IN" sz="1200" dirty="0"/>
              <a:t>            </a:t>
            </a:r>
            <a:r>
              <a:rPr lang="en-IN" sz="1200" dirty="0" err="1"/>
              <a:t>System.out.println</a:t>
            </a:r>
            <a:r>
              <a:rPr lang="en-IN" sz="1200" dirty="0"/>
              <a:t>("Guest access");</a:t>
            </a:r>
            <a:br>
              <a:rPr lang="en-IN" sz="1200" dirty="0"/>
            </a:br>
            <a:r>
              <a:rPr lang="en-IN" sz="1200" dirty="0"/>
              <a:t>        }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    }</a:t>
            </a:r>
            <a:br>
              <a:rPr lang="en-IN" sz="1200" dirty="0"/>
            </a:br>
            <a:r>
              <a:rPr lang="en-IN" sz="1200" dirty="0"/>
              <a:t>}</a:t>
            </a:r>
          </a:p>
          <a:p>
            <a:pPr marL="0" indent="0">
              <a:buNone/>
            </a:pPr>
            <a:r>
              <a:rPr lang="en-IN" sz="1200" b="1" dirty="0"/>
              <a:t> Example 3 (Traffic Signal)</a:t>
            </a:r>
          </a:p>
          <a:p>
            <a:pPr marL="0" indent="0">
              <a:buNone/>
            </a:pPr>
            <a:r>
              <a:rPr lang="en-IN" sz="1200" dirty="0"/>
              <a:t>public class Test {</a:t>
            </a:r>
            <a:br>
              <a:rPr lang="en-IN" sz="1200" dirty="0"/>
            </a:br>
            <a:r>
              <a:rPr lang="en-IN" sz="1200" dirty="0"/>
              <a:t>    public static void main(String[] </a:t>
            </a:r>
            <a:r>
              <a:rPr lang="en-IN" sz="1200" dirty="0" err="1"/>
              <a:t>args</a:t>
            </a:r>
            <a:r>
              <a:rPr lang="en-IN" sz="1200" dirty="0"/>
              <a:t>) {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        String light = "red";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        if(</a:t>
            </a:r>
            <a:r>
              <a:rPr lang="en-IN" sz="1200" dirty="0" err="1"/>
              <a:t>light.equals</a:t>
            </a:r>
            <a:r>
              <a:rPr lang="en-IN" sz="1200" dirty="0"/>
              <a:t>("green")) {</a:t>
            </a:r>
            <a:br>
              <a:rPr lang="en-IN" sz="1200" dirty="0"/>
            </a:br>
            <a:r>
              <a:rPr lang="en-IN" sz="1200" dirty="0"/>
              <a:t>            </a:t>
            </a:r>
            <a:r>
              <a:rPr lang="en-IN" sz="1200" dirty="0" err="1"/>
              <a:t>System.out.println</a:t>
            </a:r>
            <a:r>
              <a:rPr lang="en-IN" sz="1200" dirty="0"/>
              <a:t>("Go");</a:t>
            </a:r>
            <a:br>
              <a:rPr lang="en-IN" sz="1200" dirty="0"/>
            </a:br>
            <a:r>
              <a:rPr lang="en-IN" sz="1200" dirty="0"/>
              <a:t>        }</a:t>
            </a:r>
            <a:br>
              <a:rPr lang="en-IN" sz="1200" dirty="0"/>
            </a:br>
            <a:r>
              <a:rPr lang="en-IN" sz="1200" dirty="0"/>
              <a:t>        else if(</a:t>
            </a:r>
            <a:r>
              <a:rPr lang="en-IN" sz="1200" dirty="0" err="1"/>
              <a:t>light.equals</a:t>
            </a:r>
            <a:r>
              <a:rPr lang="en-IN" sz="1200" dirty="0"/>
              <a:t>("yellow")) {</a:t>
            </a:r>
            <a:br>
              <a:rPr lang="en-IN" sz="1200" dirty="0"/>
            </a:br>
            <a:r>
              <a:rPr lang="en-IN" sz="1200" dirty="0"/>
              <a:t>            </a:t>
            </a:r>
            <a:r>
              <a:rPr lang="en-IN" sz="1200" dirty="0" err="1"/>
              <a:t>System.out.println</a:t>
            </a:r>
            <a:r>
              <a:rPr lang="en-IN" sz="1200" dirty="0"/>
              <a:t>("Ready");</a:t>
            </a:r>
            <a:br>
              <a:rPr lang="en-IN" sz="1200" dirty="0"/>
            </a:br>
            <a:r>
              <a:rPr lang="en-IN" sz="1200" dirty="0"/>
              <a:t>        }</a:t>
            </a:r>
            <a:br>
              <a:rPr lang="en-IN" sz="1200" dirty="0"/>
            </a:br>
            <a:r>
              <a:rPr lang="en-IN" sz="1200" dirty="0"/>
              <a:t>        else {</a:t>
            </a:r>
            <a:br>
              <a:rPr lang="en-IN" sz="1200" dirty="0"/>
            </a:br>
            <a:r>
              <a:rPr lang="en-IN" sz="1200" dirty="0"/>
              <a:t>            </a:t>
            </a:r>
            <a:r>
              <a:rPr lang="en-IN" sz="1200" dirty="0" err="1"/>
              <a:t>System.out.println</a:t>
            </a:r>
            <a:r>
              <a:rPr lang="en-IN" sz="1200" dirty="0"/>
              <a:t>("Stop");</a:t>
            </a:r>
            <a:br>
              <a:rPr lang="en-IN" sz="1200" dirty="0"/>
            </a:br>
            <a:r>
              <a:rPr lang="en-IN" sz="1200" dirty="0"/>
              <a:t>        }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    }</a:t>
            </a:r>
            <a:br>
              <a:rPr lang="en-IN" sz="1200" dirty="0"/>
            </a:br>
            <a:r>
              <a:rPr lang="en-IN" sz="1200" dirty="0"/>
              <a:t>}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3904664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0AB44-E2FA-B602-A68E-771BDEE87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80" y="193470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1" dirty="0">
                <a:latin typeface="+mj-lt"/>
              </a:rPr>
              <a:t>NESTED IF</a:t>
            </a:r>
          </a:p>
          <a:p>
            <a:pPr marL="0" indent="0">
              <a:buNone/>
            </a:pPr>
            <a:r>
              <a:rPr lang="en-IN" sz="8000" b="1" dirty="0">
                <a:latin typeface="+mj-lt"/>
              </a:rPr>
              <a:t> Concept (Brief)</a:t>
            </a:r>
          </a:p>
          <a:p>
            <a:pPr marL="0" indent="0">
              <a:buNone/>
            </a:pPr>
            <a:r>
              <a:rPr lang="en-IN" sz="8000" dirty="0">
                <a:latin typeface="+mj-lt"/>
              </a:rPr>
              <a:t> if inside another if</a:t>
            </a:r>
          </a:p>
          <a:p>
            <a:pPr marL="0" indent="0">
              <a:buNone/>
            </a:pPr>
            <a:r>
              <a:rPr lang="en-IN" sz="8000" b="1" dirty="0">
                <a:latin typeface="+mj-lt"/>
              </a:rPr>
              <a:t> Real-time Example</a:t>
            </a:r>
          </a:p>
          <a:p>
            <a:pPr marL="0" indent="0">
              <a:buNone/>
            </a:pPr>
            <a:r>
              <a:rPr lang="en-IN" sz="8000" dirty="0">
                <a:latin typeface="+mj-lt"/>
              </a:rPr>
              <a:t> ATM → check card → then check PIN</a:t>
            </a:r>
          </a:p>
          <a:p>
            <a:pPr marL="0" indent="0">
              <a:buNone/>
            </a:pPr>
            <a:br>
              <a:rPr lang="en-IN" sz="8000" dirty="0">
                <a:latin typeface="+mj-lt"/>
              </a:rPr>
            </a:br>
            <a:endParaRPr lang="en-IN" sz="8000" dirty="0">
              <a:latin typeface="+mj-lt"/>
            </a:endParaRPr>
          </a:p>
          <a:p>
            <a:pPr marL="0" indent="0">
              <a:buNone/>
            </a:pPr>
            <a:r>
              <a:rPr lang="en-IN" sz="8000" b="1" dirty="0">
                <a:latin typeface="+mj-lt"/>
              </a:rPr>
              <a:t> Example 1 (Login System)</a:t>
            </a:r>
          </a:p>
          <a:p>
            <a:pPr marL="0" indent="0">
              <a:buNone/>
            </a:pPr>
            <a:r>
              <a:rPr lang="en-IN" sz="8000" dirty="0">
                <a:latin typeface="+mj-lt"/>
              </a:rPr>
              <a:t>public class Test {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public static void main(String[] </a:t>
            </a:r>
            <a:r>
              <a:rPr lang="en-IN" sz="8000" dirty="0" err="1">
                <a:latin typeface="+mj-lt"/>
              </a:rPr>
              <a:t>args</a:t>
            </a:r>
            <a:r>
              <a:rPr lang="en-IN" sz="8000" dirty="0">
                <a:latin typeface="+mj-lt"/>
              </a:rPr>
              <a:t>) {</a:t>
            </a:r>
            <a:br>
              <a:rPr lang="en-IN" sz="8000" dirty="0">
                <a:latin typeface="+mj-lt"/>
              </a:rPr>
            </a:b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String user = "admin";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String pass = "1234";</a:t>
            </a:r>
            <a:br>
              <a:rPr lang="en-IN" sz="8000" dirty="0">
                <a:latin typeface="+mj-lt"/>
              </a:rPr>
            </a:b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if(</a:t>
            </a:r>
            <a:r>
              <a:rPr lang="en-IN" sz="8000" dirty="0" err="1">
                <a:latin typeface="+mj-lt"/>
              </a:rPr>
              <a:t>user.equals</a:t>
            </a:r>
            <a:r>
              <a:rPr lang="en-IN" sz="8000" dirty="0">
                <a:latin typeface="+mj-lt"/>
              </a:rPr>
              <a:t>("admin")) { // first check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    if(</a:t>
            </a:r>
            <a:r>
              <a:rPr lang="en-IN" sz="8000" dirty="0" err="1">
                <a:latin typeface="+mj-lt"/>
              </a:rPr>
              <a:t>pass.equals</a:t>
            </a:r>
            <a:r>
              <a:rPr lang="en-IN" sz="8000" dirty="0">
                <a:latin typeface="+mj-lt"/>
              </a:rPr>
              <a:t>("1234")) { // second check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        </a:t>
            </a:r>
            <a:r>
              <a:rPr lang="en-IN" sz="8000" dirty="0" err="1">
                <a:latin typeface="+mj-lt"/>
              </a:rPr>
              <a:t>System.out.println</a:t>
            </a:r>
            <a:r>
              <a:rPr lang="en-IN" sz="8000" dirty="0">
                <a:latin typeface="+mj-lt"/>
              </a:rPr>
              <a:t>("Login success");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    }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}</a:t>
            </a:r>
            <a:br>
              <a:rPr lang="en-IN" sz="8000" dirty="0">
                <a:latin typeface="+mj-lt"/>
              </a:rPr>
            </a:b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}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}</a:t>
            </a:r>
          </a:p>
          <a:p>
            <a:pPr marL="0" indent="0">
              <a:buNone/>
            </a:pPr>
            <a:r>
              <a:rPr lang="en-IN" sz="8000" b="1" dirty="0">
                <a:latin typeface="+mj-lt"/>
              </a:rPr>
              <a:t>Explain</a:t>
            </a:r>
          </a:p>
          <a:p>
            <a:pPr marL="0" indent="0">
              <a:buNone/>
            </a:pPr>
            <a:r>
              <a:rPr lang="en-IN" sz="8000" dirty="0">
                <a:latin typeface="+mj-lt"/>
              </a:rPr>
              <a:t>First IF → username check</a:t>
            </a:r>
          </a:p>
          <a:p>
            <a:pPr marL="0" indent="0">
              <a:buNone/>
            </a:pPr>
            <a:r>
              <a:rPr lang="en-IN" sz="8000" dirty="0">
                <a:latin typeface="+mj-lt"/>
              </a:rPr>
              <a:t>Inside IF → password check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2451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D7B60-972D-9B97-0F0E-CB88026B7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52" y="173806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/>
              <a:t>Example 2 (Bank)</a:t>
            </a:r>
          </a:p>
          <a:p>
            <a:pPr marL="0" indent="0">
              <a:buNone/>
            </a:pPr>
            <a:r>
              <a:rPr lang="en-IN" sz="2400" dirty="0"/>
              <a:t>public class Test {</a:t>
            </a:r>
            <a:br>
              <a:rPr lang="en-IN" sz="2400" dirty="0"/>
            </a:br>
            <a:r>
              <a:rPr lang="en-IN" sz="2400" dirty="0"/>
              <a:t>  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        int balance = 5000;</a:t>
            </a:r>
            <a:br>
              <a:rPr lang="en-IN" sz="2400" dirty="0"/>
            </a:br>
            <a:r>
              <a:rPr lang="en-IN" sz="2400" dirty="0"/>
              <a:t>        int withdraw = 2000;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        if(balance &gt; 0) {</a:t>
            </a:r>
            <a:br>
              <a:rPr lang="en-IN" sz="2400" dirty="0"/>
            </a:br>
            <a:r>
              <a:rPr lang="en-IN" sz="2400" dirty="0"/>
              <a:t>            if(withdraw &lt;= balance) {</a:t>
            </a:r>
            <a:br>
              <a:rPr lang="en-IN" sz="2400" dirty="0"/>
            </a:br>
            <a:r>
              <a:rPr lang="en-IN" sz="2400" dirty="0"/>
              <a:t>                </a:t>
            </a:r>
            <a:r>
              <a:rPr lang="en-IN" sz="2400" dirty="0" err="1"/>
              <a:t>System.out.println</a:t>
            </a:r>
            <a:r>
              <a:rPr lang="en-IN" sz="2400" dirty="0"/>
              <a:t>("Withdraw success");</a:t>
            </a:r>
            <a:br>
              <a:rPr lang="en-IN" sz="2400" dirty="0"/>
            </a:br>
            <a:r>
              <a:rPr lang="en-IN" sz="2400" dirty="0"/>
              <a:t>            }</a:t>
            </a:r>
            <a:br>
              <a:rPr lang="en-IN" sz="2400" dirty="0"/>
            </a:br>
            <a:r>
              <a:rPr lang="en-IN" sz="2400" dirty="0"/>
              <a:t>        }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    }</a:t>
            </a:r>
            <a:br>
              <a:rPr lang="en-IN" sz="2400" dirty="0"/>
            </a:br>
            <a:r>
              <a:rPr lang="en-IN" sz="2400" dirty="0"/>
              <a:t>}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DBB72-E5D2-EEF2-06E8-23D4BE3B1C28}"/>
              </a:ext>
            </a:extLst>
          </p:cNvPr>
          <p:cNvSpPr txBox="1"/>
          <p:nvPr/>
        </p:nvSpPr>
        <p:spPr>
          <a:xfrm>
            <a:off x="6594986" y="-26624"/>
            <a:ext cx="60960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3 (Student Eligibility)</a:t>
            </a:r>
          </a:p>
          <a:p>
            <a:pPr rtl="0">
              <a:buNone/>
            </a:pPr>
            <a:r>
              <a:rPr lang="en-IN" sz="2000" dirty="0">
                <a:latin typeface="+mj-lt"/>
              </a:rPr>
              <a:t>public class Test {</a:t>
            </a:r>
            <a:br>
              <a:rPr lang="en-IN" sz="2000" dirty="0">
                <a:latin typeface="+mj-lt"/>
              </a:rPr>
            </a:br>
            <a:r>
              <a:rPr lang="en-IN" sz="2000" dirty="0">
                <a:latin typeface="+mj-lt"/>
              </a:rPr>
              <a:t>    public static void main(String[] </a:t>
            </a:r>
            <a:r>
              <a:rPr lang="en-IN" sz="2000" dirty="0" err="1">
                <a:latin typeface="+mj-lt"/>
              </a:rPr>
              <a:t>args</a:t>
            </a:r>
            <a:r>
              <a:rPr lang="en-IN" sz="2000" dirty="0">
                <a:latin typeface="+mj-lt"/>
              </a:rPr>
              <a:t>) {</a:t>
            </a:r>
            <a:br>
              <a:rPr lang="en-IN" sz="2000" dirty="0">
                <a:latin typeface="+mj-lt"/>
              </a:rPr>
            </a:br>
            <a:br>
              <a:rPr lang="en-IN" sz="2000" dirty="0">
                <a:latin typeface="+mj-lt"/>
              </a:rPr>
            </a:br>
            <a:r>
              <a:rPr lang="en-IN" sz="2000" dirty="0">
                <a:latin typeface="+mj-lt"/>
              </a:rPr>
              <a:t>        int marks = 80;</a:t>
            </a:r>
            <a:br>
              <a:rPr lang="en-IN" sz="2000" dirty="0">
                <a:latin typeface="+mj-lt"/>
              </a:rPr>
            </a:br>
            <a:r>
              <a:rPr lang="en-IN" sz="2000" dirty="0">
                <a:latin typeface="+mj-lt"/>
              </a:rPr>
              <a:t>        </a:t>
            </a:r>
            <a:r>
              <a:rPr lang="en-IN" sz="2000" dirty="0" err="1">
                <a:latin typeface="+mj-lt"/>
              </a:rPr>
              <a:t>boolean</a:t>
            </a:r>
            <a:r>
              <a:rPr lang="en-IN" sz="2000" dirty="0">
                <a:latin typeface="+mj-lt"/>
              </a:rPr>
              <a:t> sports = true;</a:t>
            </a:r>
            <a:br>
              <a:rPr lang="en-IN" sz="2000" dirty="0">
                <a:latin typeface="+mj-lt"/>
              </a:rPr>
            </a:br>
            <a:br>
              <a:rPr lang="en-IN" sz="2000" dirty="0">
                <a:latin typeface="+mj-lt"/>
              </a:rPr>
            </a:br>
            <a:r>
              <a:rPr lang="en-IN" sz="2000" dirty="0">
                <a:latin typeface="+mj-lt"/>
              </a:rPr>
              <a:t>        if(marks &gt; 70) {</a:t>
            </a:r>
            <a:br>
              <a:rPr lang="en-IN" sz="2000" dirty="0">
                <a:latin typeface="+mj-lt"/>
              </a:rPr>
            </a:br>
            <a:r>
              <a:rPr lang="en-IN" sz="2000" dirty="0">
                <a:latin typeface="+mj-lt"/>
              </a:rPr>
              <a:t>            if(sports == true) {</a:t>
            </a:r>
            <a:br>
              <a:rPr lang="en-IN" sz="2000" dirty="0">
                <a:latin typeface="+mj-lt"/>
              </a:rPr>
            </a:br>
            <a:r>
              <a:rPr lang="en-IN" sz="2000" dirty="0">
                <a:latin typeface="+mj-lt"/>
              </a:rPr>
              <a:t>                </a:t>
            </a:r>
            <a:r>
              <a:rPr lang="en-IN" sz="2000" dirty="0" err="1">
                <a:latin typeface="+mj-lt"/>
              </a:rPr>
              <a:t>System.out.println</a:t>
            </a:r>
            <a:r>
              <a:rPr lang="en-IN" sz="2000" dirty="0">
                <a:latin typeface="+mj-lt"/>
              </a:rPr>
              <a:t>("Eligible for scholarship");</a:t>
            </a:r>
            <a:br>
              <a:rPr lang="en-IN" sz="2000" dirty="0">
                <a:latin typeface="+mj-lt"/>
              </a:rPr>
            </a:br>
            <a:r>
              <a:rPr lang="en-IN" sz="2000" dirty="0">
                <a:latin typeface="+mj-lt"/>
              </a:rPr>
              <a:t>            }</a:t>
            </a:r>
            <a:br>
              <a:rPr lang="en-IN" sz="2000" dirty="0">
                <a:latin typeface="+mj-lt"/>
              </a:rPr>
            </a:br>
            <a:r>
              <a:rPr lang="en-IN" sz="2000" dirty="0">
                <a:latin typeface="+mj-lt"/>
              </a:rPr>
              <a:t>        }</a:t>
            </a:r>
            <a:br>
              <a:rPr lang="en-IN" sz="2000" dirty="0">
                <a:latin typeface="+mj-lt"/>
              </a:rPr>
            </a:br>
            <a:br>
              <a:rPr lang="en-IN" sz="2000" dirty="0">
                <a:latin typeface="+mj-lt"/>
              </a:rPr>
            </a:br>
            <a:r>
              <a:rPr lang="en-IN" sz="2000" dirty="0">
                <a:latin typeface="+mj-lt"/>
              </a:rPr>
              <a:t>    }</a:t>
            </a:r>
            <a:br>
              <a:rPr lang="en-IN" sz="2000" dirty="0">
                <a:latin typeface="+mj-lt"/>
              </a:rPr>
            </a:br>
            <a:r>
              <a:rPr lang="en-IN" sz="2000" dirty="0">
                <a:latin typeface="+mj-lt"/>
              </a:rPr>
              <a:t>}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4A19FF-4090-CD2C-3277-FFF29BDAC110}"/>
              </a:ext>
            </a:extLst>
          </p:cNvPr>
          <p:cNvSpPr txBox="1"/>
          <p:nvPr/>
        </p:nvSpPr>
        <p:spPr>
          <a:xfrm>
            <a:off x="619432" y="508284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Simple Task</a:t>
            </a:r>
          </a:p>
          <a:p>
            <a:pPr>
              <a:buNone/>
            </a:pPr>
            <a:r>
              <a:rPr lang="en-IN" dirty="0"/>
              <a:t> Check login with 2 conditions</a:t>
            </a:r>
          </a:p>
        </p:txBody>
      </p:sp>
    </p:spTree>
    <p:extLst>
      <p:ext uri="{BB962C8B-B14F-4D97-AF65-F5344CB8AC3E}">
        <p14:creationId xmlns:p14="http://schemas.microsoft.com/office/powerpoint/2010/main" val="23904227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134D-E159-48B7-DF4F-E976AEB8C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464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SWITCH CASE</a:t>
            </a:r>
          </a:p>
          <a:p>
            <a:pPr marL="0" indent="0">
              <a:buNone/>
            </a:pPr>
            <a:r>
              <a:rPr lang="en-IN" b="1" dirty="0"/>
              <a:t> Concept (Brief)</a:t>
            </a:r>
          </a:p>
          <a:p>
            <a:pPr marL="0" indent="0">
              <a:buNone/>
            </a:pPr>
            <a:r>
              <a:rPr lang="en-IN" dirty="0"/>
              <a:t> Used instead of multiple else if</a:t>
            </a:r>
          </a:p>
          <a:p>
            <a:pPr marL="0" indent="0">
              <a:buNone/>
            </a:pPr>
            <a:r>
              <a:rPr lang="en-IN" b="1" dirty="0"/>
              <a:t> Syntax</a:t>
            </a:r>
          </a:p>
          <a:p>
            <a:pPr marL="0" indent="0">
              <a:buNone/>
            </a:pPr>
            <a:r>
              <a:rPr lang="en-IN" dirty="0"/>
              <a:t>switch(variable){</a:t>
            </a:r>
            <a:br>
              <a:rPr lang="en-IN" dirty="0"/>
            </a:br>
            <a:r>
              <a:rPr lang="en-IN" dirty="0"/>
              <a:t>    case value:</a:t>
            </a:r>
            <a:br>
              <a:rPr lang="en-IN" dirty="0"/>
            </a:br>
            <a:r>
              <a:rPr lang="en-IN" dirty="0"/>
              <a:t>        // code</a:t>
            </a:r>
            <a:br>
              <a:rPr lang="en-IN" dirty="0"/>
            </a:br>
            <a:r>
              <a:rPr lang="en-IN" dirty="0"/>
              <a:t>        break;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Real-time Example</a:t>
            </a:r>
          </a:p>
          <a:p>
            <a:pPr marL="0" indent="0">
              <a:buNone/>
            </a:pPr>
            <a:r>
              <a:rPr lang="en-IN" dirty="0"/>
              <a:t>Menu selection (1 = coffee, 2 = tea)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5563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22CB-67CD-F4BF-3B77-0CCB58048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81" y="75483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1" dirty="0">
                <a:latin typeface="+mj-lt"/>
              </a:rPr>
              <a:t>Example 1 (Menu)</a:t>
            </a:r>
          </a:p>
          <a:p>
            <a:pPr marL="0" indent="0">
              <a:buNone/>
            </a:pPr>
            <a:r>
              <a:rPr lang="en-IN" sz="8000" dirty="0">
                <a:latin typeface="+mj-lt"/>
              </a:rPr>
              <a:t>public class Test {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public static void main(String[] </a:t>
            </a:r>
            <a:r>
              <a:rPr lang="en-IN" sz="8000" dirty="0" err="1">
                <a:latin typeface="+mj-lt"/>
              </a:rPr>
              <a:t>args</a:t>
            </a:r>
            <a:r>
              <a:rPr lang="en-IN" sz="8000" dirty="0">
                <a:latin typeface="+mj-lt"/>
              </a:rPr>
              <a:t>) {</a:t>
            </a:r>
            <a:br>
              <a:rPr lang="en-IN" sz="8000" dirty="0">
                <a:latin typeface="+mj-lt"/>
              </a:rPr>
            </a:b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int choice = 2;</a:t>
            </a:r>
            <a:br>
              <a:rPr lang="en-IN" sz="8000" dirty="0">
                <a:latin typeface="+mj-lt"/>
              </a:rPr>
            </a:b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switch(choice) {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    case 1: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        </a:t>
            </a:r>
            <a:r>
              <a:rPr lang="en-IN" sz="8000" dirty="0" err="1">
                <a:latin typeface="+mj-lt"/>
              </a:rPr>
              <a:t>System.out.println</a:t>
            </a:r>
            <a:r>
              <a:rPr lang="en-IN" sz="8000" dirty="0">
                <a:latin typeface="+mj-lt"/>
              </a:rPr>
              <a:t>("Coffee");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        break;</a:t>
            </a:r>
            <a:br>
              <a:rPr lang="en-IN" sz="8000" dirty="0">
                <a:latin typeface="+mj-lt"/>
              </a:rPr>
            </a:b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    case 2: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        </a:t>
            </a:r>
            <a:r>
              <a:rPr lang="en-IN" sz="8000" dirty="0" err="1">
                <a:latin typeface="+mj-lt"/>
              </a:rPr>
              <a:t>System.out.println</a:t>
            </a:r>
            <a:r>
              <a:rPr lang="en-IN" sz="8000" dirty="0">
                <a:latin typeface="+mj-lt"/>
              </a:rPr>
              <a:t>("Tea");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        break;</a:t>
            </a:r>
            <a:br>
              <a:rPr lang="en-IN" sz="8000" dirty="0">
                <a:latin typeface="+mj-lt"/>
              </a:rPr>
            </a:b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    default: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        </a:t>
            </a:r>
            <a:r>
              <a:rPr lang="en-IN" sz="8000" dirty="0" err="1">
                <a:latin typeface="+mj-lt"/>
              </a:rPr>
              <a:t>System.out.println</a:t>
            </a:r>
            <a:r>
              <a:rPr lang="en-IN" sz="8000" dirty="0">
                <a:latin typeface="+mj-lt"/>
              </a:rPr>
              <a:t>("Invalid choice");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    }</a:t>
            </a:r>
            <a:br>
              <a:rPr lang="en-IN" sz="8000" dirty="0">
                <a:latin typeface="+mj-lt"/>
              </a:rPr>
            </a:b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    }</a:t>
            </a:r>
            <a:br>
              <a:rPr lang="en-IN" sz="8000" dirty="0">
                <a:latin typeface="+mj-lt"/>
              </a:rPr>
            </a:br>
            <a:r>
              <a:rPr lang="en-IN" sz="8000" dirty="0">
                <a:latin typeface="+mj-lt"/>
              </a:rPr>
              <a:t>}</a:t>
            </a:r>
          </a:p>
          <a:p>
            <a:pPr marL="0" indent="0">
              <a:buNone/>
            </a:pPr>
            <a:r>
              <a:rPr lang="en-IN" sz="8000" b="1" dirty="0">
                <a:latin typeface="+mj-lt"/>
              </a:rPr>
              <a:t> Explain</a:t>
            </a:r>
          </a:p>
          <a:p>
            <a:pPr marL="0" indent="0">
              <a:buNone/>
            </a:pPr>
            <a:r>
              <a:rPr lang="en-IN" sz="8000" dirty="0">
                <a:latin typeface="+mj-lt"/>
              </a:rPr>
              <a:t>switch(choice) → check value</a:t>
            </a:r>
          </a:p>
          <a:p>
            <a:pPr marL="0" indent="0">
              <a:buNone/>
            </a:pPr>
            <a:r>
              <a:rPr lang="en-IN" sz="8000" dirty="0">
                <a:latin typeface="+mj-lt"/>
              </a:rPr>
              <a:t>case 2 → match</a:t>
            </a:r>
          </a:p>
          <a:p>
            <a:pPr marL="0" indent="0">
              <a:buNone/>
            </a:pPr>
            <a:r>
              <a:rPr lang="en-IN" sz="8000" dirty="0">
                <a:latin typeface="+mj-lt"/>
              </a:rPr>
              <a:t>break → stop execution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2516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294A-83B7-7FA0-C0D9-A93EF8978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1" y="154141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Example 2 (Day)</a:t>
            </a:r>
          </a:p>
          <a:p>
            <a:pPr marL="0" indent="0">
              <a:buNone/>
            </a:pPr>
            <a:r>
              <a:rPr lang="en-IN" dirty="0"/>
              <a:t>public class Test {</a:t>
            </a: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int day = 3;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switch(day) {</a:t>
            </a:r>
            <a:br>
              <a:rPr lang="en-IN" dirty="0"/>
            </a:br>
            <a:r>
              <a:rPr lang="en-IN" dirty="0"/>
              <a:t>            case 1:</a:t>
            </a:r>
            <a:br>
              <a:rPr lang="en-IN" dirty="0"/>
            </a:b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("Monday");</a:t>
            </a:r>
            <a:br>
              <a:rPr lang="en-IN" dirty="0"/>
            </a:br>
            <a:r>
              <a:rPr lang="en-IN" dirty="0"/>
              <a:t>                break;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case 3:</a:t>
            </a:r>
            <a:br>
              <a:rPr lang="en-IN" dirty="0"/>
            </a:b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("Wednesday");</a:t>
            </a:r>
            <a:br>
              <a:rPr lang="en-IN" dirty="0"/>
            </a:br>
            <a:r>
              <a:rPr lang="en-IN" dirty="0"/>
              <a:t>                break;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default:</a:t>
            </a:r>
            <a:br>
              <a:rPr lang="en-IN" dirty="0"/>
            </a:b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("Other day");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B7EE9-410C-FEFF-47D1-EB1ED7444075}"/>
              </a:ext>
            </a:extLst>
          </p:cNvPr>
          <p:cNvSpPr txBox="1"/>
          <p:nvPr/>
        </p:nvSpPr>
        <p:spPr>
          <a:xfrm>
            <a:off x="7482348" y="0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3 (Calculator)</a:t>
            </a:r>
          </a:p>
          <a:p>
            <a:pPr rtl="0">
              <a:buNone/>
            </a:pPr>
            <a:r>
              <a:rPr lang="en-IN" dirty="0">
                <a:latin typeface="+mj-lt"/>
              </a:rPr>
              <a:t>public class Test {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public static void main(String[] </a:t>
            </a:r>
            <a:r>
              <a:rPr lang="en-IN" dirty="0" err="1">
                <a:latin typeface="+mj-lt"/>
              </a:rPr>
              <a:t>args</a:t>
            </a:r>
            <a:r>
              <a:rPr lang="en-IN" dirty="0">
                <a:latin typeface="+mj-lt"/>
              </a:rPr>
              <a:t>) {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int a = 10, b = 5;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char op = '+';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switch(op) {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case '+':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    </a:t>
            </a:r>
            <a:r>
              <a:rPr lang="en-IN" dirty="0" err="1">
                <a:latin typeface="+mj-lt"/>
              </a:rPr>
              <a:t>System.out.println</a:t>
            </a:r>
            <a:r>
              <a:rPr lang="en-IN" dirty="0">
                <a:latin typeface="+mj-lt"/>
              </a:rPr>
              <a:t>(a + b);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    break;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case '-':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    </a:t>
            </a:r>
            <a:r>
              <a:rPr lang="en-IN" dirty="0" err="1">
                <a:latin typeface="+mj-lt"/>
              </a:rPr>
              <a:t>System.out.println</a:t>
            </a:r>
            <a:r>
              <a:rPr lang="en-IN" dirty="0">
                <a:latin typeface="+mj-lt"/>
              </a:rPr>
              <a:t>(a - b);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    break;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default: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        </a:t>
            </a:r>
            <a:r>
              <a:rPr lang="en-IN" dirty="0" err="1">
                <a:latin typeface="+mj-lt"/>
              </a:rPr>
              <a:t>System.out.println</a:t>
            </a:r>
            <a:r>
              <a:rPr lang="en-IN" dirty="0">
                <a:latin typeface="+mj-lt"/>
              </a:rPr>
              <a:t>("Invalid");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}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}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06ADB-ECCF-537E-815E-D1B8D5B7B924}"/>
              </a:ext>
            </a:extLst>
          </p:cNvPr>
          <p:cNvSpPr txBox="1"/>
          <p:nvPr/>
        </p:nvSpPr>
        <p:spPr>
          <a:xfrm>
            <a:off x="602226" y="4659620"/>
            <a:ext cx="6789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imple</a:t>
            </a:r>
            <a:r>
              <a:rPr lang="en-US" b="1" dirty="0"/>
              <a:t> Task</a:t>
            </a:r>
          </a:p>
          <a:p>
            <a:pPr>
              <a:buNone/>
            </a:pPr>
            <a:r>
              <a:rPr lang="en-US" dirty="0"/>
              <a:t> Create menu (1-3) for food items</a:t>
            </a:r>
          </a:p>
        </p:txBody>
      </p:sp>
    </p:spTree>
    <p:extLst>
      <p:ext uri="{BB962C8B-B14F-4D97-AF65-F5344CB8AC3E}">
        <p14:creationId xmlns:p14="http://schemas.microsoft.com/office/powerpoint/2010/main" val="20865136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B240C-61EF-1E3B-43C8-A396E7712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74" y="173806"/>
            <a:ext cx="10515600" cy="62260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QUICK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C8838B-C4C7-D27B-A2E2-4CB3AD791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093185"/>
              </p:ext>
            </p:extLst>
          </p:nvPr>
        </p:nvGraphicFramePr>
        <p:xfrm>
          <a:off x="405580" y="874635"/>
          <a:ext cx="8079660" cy="1828800"/>
        </p:xfrm>
        <a:graphic>
          <a:graphicData uri="http://schemas.openxmlformats.org/drawingml/2006/table">
            <a:tbl>
              <a:tblPr/>
              <a:tblGrid>
                <a:gridCol w="4039830">
                  <a:extLst>
                    <a:ext uri="{9D8B030D-6E8A-4147-A177-3AD203B41FA5}">
                      <a16:colId xmlns:a16="http://schemas.microsoft.com/office/drawing/2014/main" val="4115271033"/>
                    </a:ext>
                  </a:extLst>
                </a:gridCol>
                <a:gridCol w="4039830">
                  <a:extLst>
                    <a:ext uri="{9D8B030D-6E8A-4147-A177-3AD203B41FA5}">
                      <a16:colId xmlns:a16="http://schemas.microsoft.com/office/drawing/2014/main" val="529431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274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096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else 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conditions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35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nested 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Condition inside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67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switch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Fixed value matching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38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3813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59750-DCC1-38C6-CC2A-F415D534A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857"/>
            <a:ext cx="10515600" cy="179614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CALCULATOR USING SWITCH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switch statement</a:t>
            </a:r>
            <a:r>
              <a:rPr lang="en-US" dirty="0"/>
              <a:t> is used when we have multiple fixed choices.</a:t>
            </a:r>
            <a:br>
              <a:rPr lang="en-US" dirty="0"/>
            </a:br>
            <a:r>
              <a:rPr lang="en-US" dirty="0"/>
              <a:t>It is better than multiple if-else when checking a single variable against many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6110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40D74-E529-C970-8127-DFE1FAF8A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94" y="509691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4800" dirty="0"/>
              <a:t>import </a:t>
            </a:r>
            <a:r>
              <a:rPr lang="en-IN" sz="4800" dirty="0" err="1"/>
              <a:t>java.util.Scanner</a:t>
            </a:r>
            <a:r>
              <a:rPr lang="en-IN" sz="4800" dirty="0"/>
              <a:t>;</a:t>
            </a:r>
          </a:p>
          <a:p>
            <a:pPr marL="0" indent="0">
              <a:buNone/>
            </a:pPr>
            <a:endParaRPr lang="en-IN" sz="4800" dirty="0"/>
          </a:p>
          <a:p>
            <a:pPr marL="0" indent="0">
              <a:buNone/>
            </a:pPr>
            <a:r>
              <a:rPr lang="en-IN" sz="4800" dirty="0"/>
              <a:t>class Calculator1 {</a:t>
            </a:r>
          </a:p>
          <a:p>
            <a:pPr marL="0" indent="0">
              <a:buNone/>
            </a:pPr>
            <a:r>
              <a:rPr lang="en-IN" sz="4800" dirty="0"/>
              <a:t>    public static void main(String[] </a:t>
            </a:r>
            <a:r>
              <a:rPr lang="en-IN" sz="4800" dirty="0" err="1"/>
              <a:t>args</a:t>
            </a:r>
            <a:r>
              <a:rPr lang="en-IN" sz="4800" dirty="0"/>
              <a:t>) {</a:t>
            </a:r>
          </a:p>
          <a:p>
            <a:pPr marL="0" indent="0">
              <a:buNone/>
            </a:pP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Scanner </a:t>
            </a:r>
            <a:r>
              <a:rPr lang="en-IN" sz="4800" dirty="0" err="1"/>
              <a:t>sc</a:t>
            </a:r>
            <a:r>
              <a:rPr lang="en-IN" sz="4800" dirty="0"/>
              <a:t> = new Scanner(System.in); // create scanner object</a:t>
            </a:r>
          </a:p>
          <a:p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</a:t>
            </a:r>
            <a:r>
              <a:rPr lang="en-IN" sz="4800" dirty="0" err="1"/>
              <a:t>System.out.println</a:t>
            </a:r>
            <a:r>
              <a:rPr lang="en-IN" sz="4800" dirty="0"/>
              <a:t>("Enter first number:");</a:t>
            </a:r>
          </a:p>
          <a:p>
            <a:pPr marL="0" indent="0">
              <a:buNone/>
            </a:pPr>
            <a:r>
              <a:rPr lang="en-IN" sz="4800" dirty="0"/>
              <a:t>        int a = </a:t>
            </a:r>
            <a:r>
              <a:rPr lang="en-IN" sz="4800" dirty="0" err="1"/>
              <a:t>sc.nextInt</a:t>
            </a:r>
            <a:r>
              <a:rPr lang="en-IN" sz="4800" dirty="0"/>
              <a:t>(); // read first number</a:t>
            </a:r>
          </a:p>
          <a:p>
            <a:pPr marL="0" indent="0">
              <a:buNone/>
            </a:pPr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</a:t>
            </a:r>
            <a:r>
              <a:rPr lang="en-IN" sz="4800" dirty="0" err="1"/>
              <a:t>System.out.println</a:t>
            </a:r>
            <a:r>
              <a:rPr lang="en-IN" sz="4800" dirty="0"/>
              <a:t>("Enter second number:");</a:t>
            </a:r>
          </a:p>
          <a:p>
            <a:pPr marL="0" indent="0">
              <a:buNone/>
            </a:pPr>
            <a:r>
              <a:rPr lang="en-IN" sz="4800" dirty="0"/>
              <a:t>        int b = </a:t>
            </a:r>
            <a:r>
              <a:rPr lang="en-IN" sz="4800" dirty="0" err="1"/>
              <a:t>sc.nextInt</a:t>
            </a:r>
            <a:r>
              <a:rPr lang="en-IN" sz="4800" dirty="0"/>
              <a:t>(); // read second number</a:t>
            </a:r>
          </a:p>
          <a:p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</a:t>
            </a:r>
            <a:r>
              <a:rPr lang="en-IN" sz="4800" dirty="0" err="1"/>
              <a:t>System.out.println</a:t>
            </a:r>
            <a:r>
              <a:rPr lang="en-IN" sz="4800" dirty="0"/>
              <a:t>("Enter operator (+, -, *, /):");</a:t>
            </a:r>
          </a:p>
          <a:p>
            <a:pPr marL="0" indent="0">
              <a:buNone/>
            </a:pPr>
            <a:r>
              <a:rPr lang="en-IN" sz="4800" dirty="0"/>
              <a:t>        char op = </a:t>
            </a:r>
            <a:r>
              <a:rPr lang="en-IN" sz="4800" dirty="0" err="1"/>
              <a:t>sc.next</a:t>
            </a:r>
            <a:r>
              <a:rPr lang="en-IN" sz="4800" dirty="0"/>
              <a:t>().</a:t>
            </a:r>
            <a:r>
              <a:rPr lang="en-IN" sz="4800" dirty="0" err="1"/>
              <a:t>charAt</a:t>
            </a:r>
            <a:r>
              <a:rPr lang="en-IN" sz="4800" dirty="0"/>
              <a:t>(0); // read operator</a:t>
            </a:r>
          </a:p>
          <a:p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switch(op) { // switch based on operator</a:t>
            </a:r>
          </a:p>
          <a:p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    case '+':</a:t>
            </a:r>
          </a:p>
          <a:p>
            <a:pPr marL="0" indent="0">
              <a:buNone/>
            </a:pPr>
            <a:r>
              <a:rPr lang="en-IN" sz="4800" dirty="0"/>
              <a:t>                </a:t>
            </a:r>
            <a:r>
              <a:rPr lang="en-IN" sz="4800" dirty="0" err="1"/>
              <a:t>System.out.println</a:t>
            </a:r>
            <a:r>
              <a:rPr lang="en-IN" sz="4800" dirty="0"/>
              <a:t>("Result: " + (a + b)); // addition</a:t>
            </a:r>
          </a:p>
          <a:p>
            <a:pPr marL="0" indent="0">
              <a:buNone/>
            </a:pPr>
            <a:r>
              <a:rPr lang="en-IN" sz="4800" dirty="0"/>
              <a:t>                break;</a:t>
            </a:r>
          </a:p>
          <a:p>
            <a:endParaRPr lang="en-IN" sz="4800" dirty="0"/>
          </a:p>
          <a:p>
            <a:pPr marL="0" indent="0">
              <a:buNone/>
            </a:pPr>
            <a:r>
              <a:rPr lang="en-IN" sz="4800" dirty="0"/>
              <a:t>            case '-':</a:t>
            </a:r>
          </a:p>
          <a:p>
            <a:pPr marL="0" indent="0">
              <a:buNone/>
            </a:pPr>
            <a:r>
              <a:rPr lang="en-IN" sz="4800" dirty="0"/>
              <a:t>                </a:t>
            </a:r>
            <a:r>
              <a:rPr lang="en-IN" sz="4800" dirty="0" err="1"/>
              <a:t>System.out.println</a:t>
            </a:r>
            <a:r>
              <a:rPr lang="en-IN" sz="4800" dirty="0"/>
              <a:t>("Result: " + (a - b)); // subtraction</a:t>
            </a:r>
          </a:p>
          <a:p>
            <a:pPr marL="0" indent="0">
              <a:buNone/>
            </a:pPr>
            <a:r>
              <a:rPr lang="en-IN" sz="4800" dirty="0"/>
              <a:t>                break;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F41A6-9FC2-27C9-43C1-3D308E807761}"/>
              </a:ext>
            </a:extLst>
          </p:cNvPr>
          <p:cNvSpPr txBox="1"/>
          <p:nvPr/>
        </p:nvSpPr>
        <p:spPr>
          <a:xfrm>
            <a:off x="5545394" y="509691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case '*':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("Result: " + (a * b)); // multiplication</a:t>
            </a:r>
          </a:p>
          <a:p>
            <a:r>
              <a:rPr lang="en-IN" dirty="0"/>
              <a:t>                break;</a:t>
            </a:r>
          </a:p>
          <a:p>
            <a:endParaRPr lang="en-IN" dirty="0"/>
          </a:p>
          <a:p>
            <a:r>
              <a:rPr lang="en-IN" dirty="0"/>
              <a:t>            case '/':</a:t>
            </a:r>
          </a:p>
          <a:p>
            <a:r>
              <a:rPr lang="en-IN" dirty="0"/>
              <a:t>                if(b != 0) // check division by zero</a:t>
            </a:r>
          </a:p>
          <a:p>
            <a:r>
              <a:rPr lang="en-IN" dirty="0"/>
              <a:t>                    </a:t>
            </a:r>
            <a:r>
              <a:rPr lang="en-IN" dirty="0" err="1"/>
              <a:t>System.out.println</a:t>
            </a:r>
            <a:r>
              <a:rPr lang="en-IN" dirty="0"/>
              <a:t>("Result: " + (a / b));</a:t>
            </a:r>
          </a:p>
          <a:p>
            <a:r>
              <a:rPr lang="en-IN" dirty="0"/>
              <a:t>                else</a:t>
            </a:r>
          </a:p>
          <a:p>
            <a:r>
              <a:rPr lang="en-IN" dirty="0"/>
              <a:t>                    </a:t>
            </a:r>
            <a:r>
              <a:rPr lang="en-IN" dirty="0" err="1"/>
              <a:t>System.out.println</a:t>
            </a:r>
            <a:r>
              <a:rPr lang="en-IN" dirty="0"/>
              <a:t>("Cannot divide by zero");</a:t>
            </a:r>
          </a:p>
          <a:p>
            <a:r>
              <a:rPr lang="en-IN" dirty="0"/>
              <a:t>                break;</a:t>
            </a:r>
          </a:p>
          <a:p>
            <a:endParaRPr lang="en-IN" dirty="0"/>
          </a:p>
          <a:p>
            <a:r>
              <a:rPr lang="en-IN" dirty="0"/>
              <a:t>            default: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("Invalid operator"); // if no match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4DA39-BB4B-FE2F-534C-63435427AA75}"/>
              </a:ext>
            </a:extLst>
          </p:cNvPr>
          <p:cNvSpPr txBox="1"/>
          <p:nvPr/>
        </p:nvSpPr>
        <p:spPr>
          <a:xfrm>
            <a:off x="363793" y="597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Basic Calculator</a:t>
            </a:r>
          </a:p>
        </p:txBody>
      </p:sp>
    </p:spTree>
    <p:extLst>
      <p:ext uri="{BB962C8B-B14F-4D97-AF65-F5344CB8AC3E}">
        <p14:creationId xmlns:p14="http://schemas.microsoft.com/office/powerpoint/2010/main" val="40574784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BC52D-2360-3FA2-7070-A578BB1D1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336908"/>
            <a:ext cx="10515600" cy="344129"/>
          </a:xfrm>
        </p:spPr>
        <p:txBody>
          <a:bodyPr>
            <a:normAutofit fontScale="90000"/>
          </a:bodyPr>
          <a:lstStyle/>
          <a:p>
            <a:r>
              <a:rPr lang="en-IN" sz="2200" dirty="0"/>
              <a:t>Menu Driven Calculator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344B9-D7BE-1ADD-B8B6-223864B09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07" y="508972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dirty="0"/>
              <a:t>import </a:t>
            </a:r>
            <a:r>
              <a:rPr lang="en-IN" sz="5600" dirty="0" err="1"/>
              <a:t>java.util.Scanner</a:t>
            </a:r>
            <a:r>
              <a:rPr lang="en-IN" sz="5600" dirty="0"/>
              <a:t>;</a:t>
            </a:r>
          </a:p>
          <a:p>
            <a:endParaRPr lang="en-IN" sz="5600" dirty="0"/>
          </a:p>
          <a:p>
            <a:pPr marL="0" indent="0">
              <a:buNone/>
            </a:pPr>
            <a:r>
              <a:rPr lang="en-IN" sz="5600" dirty="0"/>
              <a:t>class Calculator2 {</a:t>
            </a:r>
          </a:p>
          <a:p>
            <a:pPr marL="0" indent="0">
              <a:buNone/>
            </a:pPr>
            <a:r>
              <a:rPr lang="en-IN" sz="5600" dirty="0"/>
              <a:t>    public static void main(String[] </a:t>
            </a:r>
            <a:r>
              <a:rPr lang="en-IN" sz="5600" dirty="0" err="1"/>
              <a:t>args</a:t>
            </a:r>
            <a:r>
              <a:rPr lang="en-IN" sz="5600" dirty="0"/>
              <a:t>) {</a:t>
            </a:r>
          </a:p>
          <a:p>
            <a:pPr marL="0" indent="0">
              <a:buNone/>
            </a:pPr>
            <a:endParaRPr lang="en-IN" sz="5600" dirty="0"/>
          </a:p>
          <a:p>
            <a:pPr marL="0" indent="0">
              <a:buNone/>
            </a:pPr>
            <a:r>
              <a:rPr lang="en-IN" sz="5600" dirty="0"/>
              <a:t>        Scanner </a:t>
            </a:r>
            <a:r>
              <a:rPr lang="en-IN" sz="5600" dirty="0" err="1"/>
              <a:t>sc</a:t>
            </a:r>
            <a:r>
              <a:rPr lang="en-IN" sz="5600" dirty="0"/>
              <a:t> = new Scanner(System.in);</a:t>
            </a:r>
          </a:p>
          <a:p>
            <a:pPr marL="0" indent="0">
              <a:buNone/>
            </a:pPr>
            <a:endParaRPr lang="en-IN" sz="5600" dirty="0"/>
          </a:p>
          <a:p>
            <a:pPr marL="0" indent="0">
              <a:buNone/>
            </a:pPr>
            <a:r>
              <a:rPr lang="en-IN" sz="5600" dirty="0"/>
              <a:t>        </a:t>
            </a:r>
            <a:r>
              <a:rPr lang="en-IN" sz="5600" dirty="0" err="1"/>
              <a:t>System.out.println</a:t>
            </a:r>
            <a:r>
              <a:rPr lang="en-IN" sz="5600" dirty="0"/>
              <a:t>("1.Add 2.Subtract 3.Multiply 4.Divide");</a:t>
            </a:r>
          </a:p>
          <a:p>
            <a:pPr marL="0" indent="0">
              <a:buNone/>
            </a:pPr>
            <a:r>
              <a:rPr lang="en-IN" sz="5600" dirty="0"/>
              <a:t>        int choice = </a:t>
            </a:r>
            <a:r>
              <a:rPr lang="en-IN" sz="5600" dirty="0" err="1"/>
              <a:t>sc.nextInt</a:t>
            </a:r>
            <a:r>
              <a:rPr lang="en-IN" sz="5600" dirty="0"/>
              <a:t>(); // user choice</a:t>
            </a:r>
          </a:p>
          <a:p>
            <a:endParaRPr lang="en-IN" sz="5600" dirty="0"/>
          </a:p>
          <a:p>
            <a:pPr marL="0" indent="0">
              <a:buNone/>
            </a:pPr>
            <a:r>
              <a:rPr lang="en-IN" sz="5600" dirty="0"/>
              <a:t>        int a = 10, b = 5; // fixed values</a:t>
            </a:r>
          </a:p>
          <a:p>
            <a:endParaRPr lang="en-IN" sz="5600" dirty="0"/>
          </a:p>
          <a:p>
            <a:pPr marL="0" indent="0">
              <a:buNone/>
            </a:pPr>
            <a:r>
              <a:rPr lang="en-IN" sz="5600" dirty="0"/>
              <a:t>        switch(choice) {</a:t>
            </a:r>
          </a:p>
          <a:p>
            <a:endParaRPr lang="en-IN" sz="5600" dirty="0"/>
          </a:p>
          <a:p>
            <a:pPr marL="0" indent="0">
              <a:buNone/>
            </a:pPr>
            <a:r>
              <a:rPr lang="en-IN" sz="5600" dirty="0"/>
              <a:t>            case 1:</a:t>
            </a:r>
          </a:p>
          <a:p>
            <a:pPr marL="0" indent="0">
              <a:buNone/>
            </a:pPr>
            <a:r>
              <a:rPr lang="en-IN" sz="5600" dirty="0"/>
              <a:t>                </a:t>
            </a:r>
            <a:r>
              <a:rPr lang="en-IN" sz="5600" dirty="0" err="1"/>
              <a:t>System.out.println</a:t>
            </a:r>
            <a:r>
              <a:rPr lang="en-IN" sz="5600" dirty="0"/>
              <a:t>("Addition: " + (a + b));</a:t>
            </a:r>
          </a:p>
          <a:p>
            <a:pPr marL="0" indent="0">
              <a:buNone/>
            </a:pPr>
            <a:r>
              <a:rPr lang="en-IN" sz="5600" dirty="0"/>
              <a:t>                break;</a:t>
            </a:r>
          </a:p>
          <a:p>
            <a:endParaRPr lang="en-IN" sz="5600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C0F96-1221-741D-C3C2-8A2F02FF7609}"/>
              </a:ext>
            </a:extLst>
          </p:cNvPr>
          <p:cNvSpPr txBox="1"/>
          <p:nvPr/>
        </p:nvSpPr>
        <p:spPr>
          <a:xfrm>
            <a:off x="6096000" y="283984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case 2: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("Subtraction: " + (a - b));</a:t>
            </a:r>
          </a:p>
          <a:p>
            <a:r>
              <a:rPr lang="en-IN" dirty="0"/>
              <a:t>                break;</a:t>
            </a:r>
          </a:p>
          <a:p>
            <a:endParaRPr lang="en-IN" dirty="0"/>
          </a:p>
          <a:p>
            <a:r>
              <a:rPr lang="en-IN" dirty="0"/>
              <a:t>            case 3: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("Multiplication: " + (a * b));</a:t>
            </a:r>
          </a:p>
          <a:p>
            <a:r>
              <a:rPr lang="en-IN" dirty="0"/>
              <a:t>                break;</a:t>
            </a:r>
          </a:p>
          <a:p>
            <a:endParaRPr lang="en-IN" dirty="0"/>
          </a:p>
          <a:p>
            <a:r>
              <a:rPr lang="en-IN" dirty="0"/>
              <a:t>            case 4: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("Division: " + (a / b));</a:t>
            </a:r>
          </a:p>
          <a:p>
            <a:r>
              <a:rPr lang="en-IN" dirty="0"/>
              <a:t>                break;</a:t>
            </a:r>
          </a:p>
          <a:p>
            <a:endParaRPr lang="en-IN" dirty="0"/>
          </a:p>
          <a:p>
            <a:r>
              <a:rPr lang="en-IN" dirty="0"/>
              <a:t>            default: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("Invalid choice");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236039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51E8D-10D1-CA97-FA63-89A958176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4469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MNC Task Questions</a:t>
            </a:r>
          </a:p>
          <a:p>
            <a:pPr marL="0" indent="0">
              <a:buNone/>
            </a:pPr>
            <a:r>
              <a:rPr lang="en-US" dirty="0"/>
              <a:t>Build a calculator supporting % (modulus) and power operation. </a:t>
            </a:r>
          </a:p>
          <a:p>
            <a:pPr marL="0" indent="0">
              <a:buNone/>
            </a:pPr>
            <a:r>
              <a:rPr lang="en-US" dirty="0"/>
              <a:t>Create a calculator that repeats until user exits.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1564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F7EEF-2481-DEB6-3C10-270951EA6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153700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CGPA CALCULATION</a:t>
            </a:r>
          </a:p>
          <a:p>
            <a:pPr marL="0" indent="0">
              <a:buNone/>
            </a:pPr>
            <a:r>
              <a:rPr lang="en-US" sz="2000" dirty="0"/>
              <a:t>CGPA = Average of grade points of all subjects.</a:t>
            </a:r>
          </a:p>
          <a:p>
            <a:pPr marL="0" indent="0">
              <a:buNone/>
            </a:pPr>
            <a:r>
              <a:rPr lang="en-US" sz="2000" dirty="0"/>
              <a:t>Formula:</a:t>
            </a:r>
            <a:br>
              <a:rPr lang="en-US" sz="2000" dirty="0"/>
            </a:br>
            <a:r>
              <a:rPr lang="en-US" sz="2000" dirty="0"/>
              <a:t>CGPA = (Sum of all GP) / Number of subjects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830C7-F2D8-B979-4C21-248C154EB82E}"/>
              </a:ext>
            </a:extLst>
          </p:cNvPr>
          <p:cNvSpPr txBox="1"/>
          <p:nvPr/>
        </p:nvSpPr>
        <p:spPr>
          <a:xfrm>
            <a:off x="6351640" y="1217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Simple CGPA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12FF8-E827-16FF-F3A4-8196E8EE30C5}"/>
              </a:ext>
            </a:extLst>
          </p:cNvPr>
          <p:cNvSpPr txBox="1"/>
          <p:nvPr/>
        </p:nvSpPr>
        <p:spPr>
          <a:xfrm>
            <a:off x="6516330" y="612844"/>
            <a:ext cx="61304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class CGPA1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Scanner </a:t>
            </a:r>
            <a:r>
              <a:rPr lang="en-IN" dirty="0" err="1"/>
              <a:t>sc</a:t>
            </a:r>
            <a:r>
              <a:rPr lang="en-IN" dirty="0"/>
              <a:t> = new Scanner(System.in);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("Enter marks of 3 subjects:");</a:t>
            </a:r>
          </a:p>
          <a:p>
            <a:endParaRPr lang="en-IN" dirty="0"/>
          </a:p>
          <a:p>
            <a:r>
              <a:rPr lang="en-IN" dirty="0"/>
              <a:t>        int s1 = </a:t>
            </a:r>
            <a:r>
              <a:rPr lang="en-IN" dirty="0" err="1"/>
              <a:t>sc.nextInt</a:t>
            </a:r>
            <a:r>
              <a:rPr lang="en-IN" dirty="0"/>
              <a:t>(); // subject 1</a:t>
            </a:r>
          </a:p>
          <a:p>
            <a:r>
              <a:rPr lang="en-IN" dirty="0"/>
              <a:t>        int s2 = </a:t>
            </a:r>
            <a:r>
              <a:rPr lang="en-IN" dirty="0" err="1"/>
              <a:t>sc.nextInt</a:t>
            </a:r>
            <a:r>
              <a:rPr lang="en-IN" dirty="0"/>
              <a:t>(); // subject 2</a:t>
            </a:r>
          </a:p>
          <a:p>
            <a:r>
              <a:rPr lang="en-IN" dirty="0"/>
              <a:t>        int s3 = </a:t>
            </a:r>
            <a:r>
              <a:rPr lang="en-IN" dirty="0" err="1"/>
              <a:t>sc.nextInt</a:t>
            </a:r>
            <a:r>
              <a:rPr lang="en-IN" dirty="0"/>
              <a:t>(); // subject 3</a:t>
            </a:r>
          </a:p>
          <a:p>
            <a:endParaRPr lang="en-IN" dirty="0"/>
          </a:p>
          <a:p>
            <a:r>
              <a:rPr lang="en-IN" dirty="0"/>
              <a:t>        double </a:t>
            </a:r>
            <a:r>
              <a:rPr lang="en-IN" dirty="0" err="1"/>
              <a:t>avg</a:t>
            </a:r>
            <a:r>
              <a:rPr lang="en-IN" dirty="0"/>
              <a:t> = (s1 + s2 + s3) / 3.0; // average</a:t>
            </a:r>
          </a:p>
          <a:p>
            <a:endParaRPr lang="en-IN" dirty="0"/>
          </a:p>
          <a:p>
            <a:r>
              <a:rPr lang="en-IN" dirty="0"/>
              <a:t>        double </a:t>
            </a:r>
            <a:r>
              <a:rPr lang="en-IN" dirty="0" err="1"/>
              <a:t>cgpa</a:t>
            </a:r>
            <a:r>
              <a:rPr lang="en-IN" dirty="0"/>
              <a:t> = </a:t>
            </a:r>
            <a:r>
              <a:rPr lang="en-IN" dirty="0" err="1"/>
              <a:t>avg</a:t>
            </a:r>
            <a:r>
              <a:rPr lang="en-IN" dirty="0"/>
              <a:t> / 9.5; // conversion formula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("CGPA: " + </a:t>
            </a:r>
            <a:r>
              <a:rPr lang="en-IN" dirty="0" err="1"/>
              <a:t>cgpa</a:t>
            </a:r>
            <a:r>
              <a:rPr lang="en-IN" dirty="0"/>
              <a:t>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74303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2F6F-6696-4071-ED8C-CDD8D3DA4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39" y="19665"/>
            <a:ext cx="10515600" cy="1325563"/>
          </a:xfrm>
        </p:spPr>
        <p:txBody>
          <a:bodyPr/>
          <a:lstStyle/>
          <a:p>
            <a:r>
              <a:rPr lang="en-IN" sz="1800" b="1" dirty="0"/>
              <a:t>CGPA with Grades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187AA-7E3B-18C2-7D26-2948F5B2D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9" y="78340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import </a:t>
            </a:r>
            <a:r>
              <a:rPr lang="en-IN" sz="1400" dirty="0" err="1"/>
              <a:t>java.util.Scanner</a:t>
            </a:r>
            <a:r>
              <a:rPr lang="en-IN" sz="1400" dirty="0"/>
              <a:t>;</a:t>
            </a:r>
          </a:p>
          <a:p>
            <a:pPr marL="0" indent="0">
              <a:buNone/>
            </a:pPr>
            <a:r>
              <a:rPr lang="en-IN" sz="1400" dirty="0"/>
              <a:t>class CGPA2 {</a:t>
            </a:r>
          </a:p>
          <a:p>
            <a:pPr marL="0" indent="0">
              <a:buNone/>
            </a:pPr>
            <a:r>
              <a:rPr lang="en-IN" sz="1400" dirty="0"/>
              <a:t>    public static void main(String[] </a:t>
            </a:r>
            <a:r>
              <a:rPr lang="en-IN" sz="1400" dirty="0" err="1"/>
              <a:t>args</a:t>
            </a:r>
            <a:r>
              <a:rPr lang="en-IN" sz="1400" dirty="0"/>
              <a:t>) {</a:t>
            </a:r>
          </a:p>
          <a:p>
            <a:pPr marL="0" indent="0">
              <a:buNone/>
            </a:pPr>
            <a:r>
              <a:rPr lang="en-IN" sz="1400" dirty="0"/>
              <a:t>        Scanner </a:t>
            </a:r>
            <a:r>
              <a:rPr lang="en-IN" sz="1400" dirty="0" err="1"/>
              <a:t>sc</a:t>
            </a:r>
            <a:r>
              <a:rPr lang="en-IN" sz="1400" dirty="0"/>
              <a:t> = new Scanner(System.in);</a:t>
            </a:r>
          </a:p>
          <a:p>
            <a:pPr marL="0" indent="0">
              <a:buNone/>
            </a:pPr>
            <a:r>
              <a:rPr lang="en-IN" sz="1400" dirty="0"/>
              <a:t>        double total = 0; // total marks</a:t>
            </a:r>
          </a:p>
          <a:p>
            <a:pPr marL="0" indent="0">
              <a:buNone/>
            </a:pPr>
            <a:r>
              <a:rPr lang="en-IN" sz="1400" dirty="0"/>
              <a:t>        for(int </a:t>
            </a:r>
            <a:r>
              <a:rPr lang="en-IN" sz="1400" dirty="0" err="1"/>
              <a:t>i</a:t>
            </a:r>
            <a:r>
              <a:rPr lang="en-IN" sz="1400" dirty="0"/>
              <a:t>=1; </a:t>
            </a:r>
            <a:r>
              <a:rPr lang="en-IN" sz="1400" dirty="0" err="1"/>
              <a:t>i</a:t>
            </a:r>
            <a:r>
              <a:rPr lang="en-IN" sz="1400" dirty="0"/>
              <a:t>&lt;=5; </a:t>
            </a:r>
            <a:r>
              <a:rPr lang="en-IN" sz="1400" dirty="0" err="1"/>
              <a:t>i</a:t>
            </a:r>
            <a:r>
              <a:rPr lang="en-IN" sz="1400" dirty="0"/>
              <a:t>++) {</a:t>
            </a:r>
          </a:p>
          <a:p>
            <a:pPr marL="0" indent="0"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System.out.println</a:t>
            </a:r>
            <a:r>
              <a:rPr lang="en-IN" sz="1400" dirty="0"/>
              <a:t>("Enter marks of subject " + </a:t>
            </a:r>
            <a:r>
              <a:rPr lang="en-IN" sz="1400" dirty="0" err="1"/>
              <a:t>i</a:t>
            </a:r>
            <a:r>
              <a:rPr lang="en-IN" sz="1400" dirty="0"/>
              <a:t>);</a:t>
            </a:r>
          </a:p>
          <a:p>
            <a:pPr marL="0" indent="0">
              <a:buNone/>
            </a:pPr>
            <a:r>
              <a:rPr lang="en-IN" sz="1400" dirty="0"/>
              <a:t>            total += </a:t>
            </a:r>
            <a:r>
              <a:rPr lang="en-IN" sz="1400" dirty="0" err="1"/>
              <a:t>sc.nextInt</a:t>
            </a:r>
            <a:r>
              <a:rPr lang="en-IN" sz="1400" dirty="0"/>
              <a:t>(); // add marks</a:t>
            </a:r>
          </a:p>
          <a:p>
            <a:pPr marL="0" indent="0">
              <a:buNone/>
            </a:pPr>
            <a:r>
              <a:rPr lang="en-IN" sz="1400" dirty="0"/>
              <a:t>        }</a:t>
            </a:r>
          </a:p>
          <a:p>
            <a:pPr marL="0" indent="0">
              <a:buNone/>
            </a:pPr>
            <a:r>
              <a:rPr lang="en-IN" sz="1400" dirty="0"/>
              <a:t>        double </a:t>
            </a:r>
            <a:r>
              <a:rPr lang="en-IN" sz="1400" dirty="0" err="1"/>
              <a:t>avg</a:t>
            </a:r>
            <a:r>
              <a:rPr lang="en-IN" sz="1400" dirty="0"/>
              <a:t> = total / 5; // average</a:t>
            </a:r>
          </a:p>
          <a:p>
            <a:pPr marL="0" indent="0">
              <a:buNone/>
            </a:pPr>
            <a:r>
              <a:rPr lang="en-IN" sz="1400" dirty="0"/>
              <a:t>        double </a:t>
            </a:r>
            <a:r>
              <a:rPr lang="en-IN" sz="1400" dirty="0" err="1"/>
              <a:t>cgpa</a:t>
            </a:r>
            <a:r>
              <a:rPr lang="en-IN" sz="1400" dirty="0"/>
              <a:t> = </a:t>
            </a:r>
            <a:r>
              <a:rPr lang="en-IN" sz="1400" dirty="0" err="1"/>
              <a:t>avg</a:t>
            </a:r>
            <a:r>
              <a:rPr lang="en-IN" sz="1400" dirty="0"/>
              <a:t> / 10; // </a:t>
            </a:r>
            <a:r>
              <a:rPr lang="en-IN" sz="1400" dirty="0" err="1"/>
              <a:t>cgpa</a:t>
            </a:r>
            <a:r>
              <a:rPr lang="en-IN" sz="1400" dirty="0"/>
              <a:t> conversion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System.out.println</a:t>
            </a:r>
            <a:r>
              <a:rPr lang="en-IN" sz="1400" dirty="0"/>
              <a:t>("CGPA: " + </a:t>
            </a:r>
            <a:r>
              <a:rPr lang="en-IN" sz="1400" dirty="0" err="1"/>
              <a:t>cgpa</a:t>
            </a:r>
            <a:r>
              <a:rPr lang="en-IN" sz="1400" dirty="0"/>
              <a:t>);</a:t>
            </a:r>
          </a:p>
          <a:p>
            <a:pPr marL="0" indent="0">
              <a:buNone/>
            </a:pPr>
            <a:r>
              <a:rPr lang="en-IN" sz="1400" dirty="0"/>
              <a:t>        if(</a:t>
            </a:r>
            <a:r>
              <a:rPr lang="en-IN" sz="1400" dirty="0" err="1"/>
              <a:t>cgpa</a:t>
            </a:r>
            <a:r>
              <a:rPr lang="en-IN" sz="1400" dirty="0"/>
              <a:t> &gt;= 8)</a:t>
            </a:r>
          </a:p>
          <a:p>
            <a:pPr marL="0" indent="0"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System.out.println</a:t>
            </a:r>
            <a:r>
              <a:rPr lang="en-IN" sz="1400" dirty="0"/>
              <a:t>("Grade: A");</a:t>
            </a:r>
          </a:p>
          <a:p>
            <a:pPr marL="0" indent="0">
              <a:buNone/>
            </a:pPr>
            <a:r>
              <a:rPr lang="en-IN" sz="1400" dirty="0"/>
              <a:t>        else</a:t>
            </a:r>
          </a:p>
          <a:p>
            <a:pPr marL="0" indent="0"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System.out.println</a:t>
            </a:r>
            <a:r>
              <a:rPr lang="en-IN" sz="1400" dirty="0"/>
              <a:t>("Grade: B");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968793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E7FD6-5F80-28EA-109C-354EB1D97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181" y="1520825"/>
            <a:ext cx="10515600" cy="17336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MNC Task Questions</a:t>
            </a:r>
          </a:p>
          <a:p>
            <a:pPr marL="0" indent="0">
              <a:buNone/>
            </a:pPr>
            <a:r>
              <a:rPr lang="en-US" dirty="0"/>
              <a:t>Calculate CGPA for N subjects using array input. </a:t>
            </a:r>
          </a:p>
          <a:p>
            <a:pPr marL="0" indent="0">
              <a:buNone/>
            </a:pPr>
            <a:r>
              <a:rPr lang="en-US" dirty="0"/>
              <a:t>Convert CGPA into grade (A, B, C, D) using switch.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68962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2F5FE-E189-D2AC-BAC2-B9247D716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533832"/>
            <a:ext cx="11523406" cy="1347019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BANK ACCOUNT</a:t>
            </a:r>
          </a:p>
          <a:p>
            <a:pPr marL="0" indent="0">
              <a:buNone/>
            </a:pPr>
            <a:r>
              <a:rPr lang="en-US" sz="1800" b="1" dirty="0"/>
              <a:t>Theory</a:t>
            </a:r>
          </a:p>
          <a:p>
            <a:pPr marL="0" indent="0">
              <a:buNone/>
            </a:pPr>
            <a:r>
              <a:rPr lang="en-US" sz="1800" dirty="0"/>
              <a:t>Bank system uses </a:t>
            </a:r>
            <a:r>
              <a:rPr lang="en-US" sz="1800" b="1" dirty="0"/>
              <a:t>class and object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Encapsulation: data + methods together.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4E254-CE9A-787C-5207-D68DB72AA395}"/>
              </a:ext>
            </a:extLst>
          </p:cNvPr>
          <p:cNvSpPr txBox="1"/>
          <p:nvPr/>
        </p:nvSpPr>
        <p:spPr>
          <a:xfrm>
            <a:off x="668594" y="28808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Deposit &amp; Withdraw</a:t>
            </a:r>
          </a:p>
        </p:txBody>
      </p:sp>
    </p:spTree>
    <p:extLst>
      <p:ext uri="{BB962C8B-B14F-4D97-AF65-F5344CB8AC3E}">
        <p14:creationId xmlns:p14="http://schemas.microsoft.com/office/powerpoint/2010/main" val="257865141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72F7B-4F0C-24A5-B467-7D3562531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124645"/>
            <a:ext cx="10515600" cy="4161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Deposit &amp; Withdraw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87F2C-2F46-2B2E-A2F7-AA509B6D9540}"/>
              </a:ext>
            </a:extLst>
          </p:cNvPr>
          <p:cNvSpPr txBox="1"/>
          <p:nvPr/>
        </p:nvSpPr>
        <p:spPr>
          <a:xfrm>
            <a:off x="366252" y="650393"/>
            <a:ext cx="610091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</a:t>
            </a:r>
            <a:r>
              <a:rPr lang="en-IN" dirty="0" err="1"/>
              <a:t>BankAccount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double balance = 1000; // initial balance</a:t>
            </a:r>
          </a:p>
          <a:p>
            <a:endParaRPr lang="en-IN" dirty="0"/>
          </a:p>
          <a:p>
            <a:r>
              <a:rPr lang="en-IN" dirty="0"/>
              <a:t>    void deposit(double amount) {</a:t>
            </a:r>
          </a:p>
          <a:p>
            <a:r>
              <a:rPr lang="en-IN" dirty="0"/>
              <a:t>        balance += amount; // add amount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("Deposited: " + amount);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void withdraw(double amount) {</a:t>
            </a:r>
          </a:p>
          <a:p>
            <a:r>
              <a:rPr lang="en-IN" dirty="0"/>
              <a:t>        if(amount &lt;= balance) {</a:t>
            </a:r>
          </a:p>
          <a:p>
            <a:r>
              <a:rPr lang="en-IN" dirty="0"/>
              <a:t>            balance -= amount; // subtract amount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("Withdrawn: " + amount);</a:t>
            </a:r>
          </a:p>
          <a:p>
            <a:r>
              <a:rPr lang="en-IN" dirty="0"/>
              <a:t>        } else {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("Insufficient balance");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DF6613-4C94-C88F-9A69-3421B3266E66}"/>
              </a:ext>
            </a:extLst>
          </p:cNvPr>
          <p:cNvSpPr txBox="1"/>
          <p:nvPr/>
        </p:nvSpPr>
        <p:spPr>
          <a:xfrm>
            <a:off x="6091084" y="753972"/>
            <a:ext cx="61009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void display()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("Balance: " + balance);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BankAccount</a:t>
            </a:r>
            <a:r>
              <a:rPr lang="en-IN" dirty="0"/>
              <a:t> </a:t>
            </a:r>
            <a:r>
              <a:rPr lang="en-IN" dirty="0" err="1"/>
              <a:t>obj</a:t>
            </a:r>
            <a:r>
              <a:rPr lang="en-IN" dirty="0"/>
              <a:t> = new </a:t>
            </a:r>
            <a:r>
              <a:rPr lang="en-IN" dirty="0" err="1"/>
              <a:t>BankAccount</a:t>
            </a:r>
            <a:r>
              <a:rPr lang="en-IN" dirty="0"/>
              <a:t>(); // create object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obj.deposit</a:t>
            </a:r>
            <a:r>
              <a:rPr lang="en-IN" dirty="0"/>
              <a:t>(500);</a:t>
            </a:r>
          </a:p>
          <a:p>
            <a:r>
              <a:rPr lang="en-IN" dirty="0"/>
              <a:t>        </a:t>
            </a:r>
            <a:r>
              <a:rPr lang="en-IN" dirty="0" err="1"/>
              <a:t>obj.withdraw</a:t>
            </a:r>
            <a:r>
              <a:rPr lang="en-IN" dirty="0"/>
              <a:t>(300);</a:t>
            </a:r>
          </a:p>
          <a:p>
            <a:r>
              <a:rPr lang="en-IN" dirty="0"/>
              <a:t>        </a:t>
            </a:r>
            <a:r>
              <a:rPr lang="en-IN" dirty="0" err="1"/>
              <a:t>obj.display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9527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3BDA-919F-7281-1B7D-8A63BFC1E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" y="0"/>
            <a:ext cx="10515600" cy="875071"/>
          </a:xfrm>
        </p:spPr>
        <p:txBody>
          <a:bodyPr>
            <a:normAutofit/>
          </a:bodyPr>
          <a:lstStyle/>
          <a:p>
            <a:r>
              <a:rPr lang="en-IN" sz="2000" dirty="0"/>
              <a:t>Constructor + Account Details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211D4-21BF-0B59-3873-54A41581E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04" y="665419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class BankAccount2 {</a:t>
            </a:r>
          </a:p>
          <a:p>
            <a:pPr marL="0" indent="0">
              <a:buNone/>
            </a:pPr>
            <a:r>
              <a:rPr lang="en-IN" sz="1400" dirty="0"/>
              <a:t>    String name;</a:t>
            </a:r>
          </a:p>
          <a:p>
            <a:pPr marL="0" indent="0">
              <a:buNone/>
            </a:pPr>
            <a:r>
              <a:rPr lang="en-IN" sz="1400" dirty="0"/>
              <a:t>    double balance;</a:t>
            </a:r>
          </a:p>
          <a:p>
            <a:pPr marL="0" indent="0">
              <a:buNone/>
            </a:pPr>
            <a:r>
              <a:rPr lang="en-IN" sz="1400" dirty="0"/>
              <a:t>    BankAccount2(String n, double b) {</a:t>
            </a:r>
          </a:p>
          <a:p>
            <a:pPr marL="0" indent="0">
              <a:buNone/>
            </a:pPr>
            <a:r>
              <a:rPr lang="en-IN" sz="1400" dirty="0"/>
              <a:t>        name = n; // assign name</a:t>
            </a:r>
          </a:p>
          <a:p>
            <a:pPr marL="0" indent="0">
              <a:buNone/>
            </a:pPr>
            <a:r>
              <a:rPr lang="en-IN" sz="1400" dirty="0"/>
              <a:t>        balance = b; // assign balance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r>
              <a:rPr lang="en-IN" sz="1400" dirty="0"/>
              <a:t>    void display() {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System.out.println</a:t>
            </a:r>
            <a:r>
              <a:rPr lang="en-IN" sz="1400" dirty="0"/>
              <a:t>("Name: " + name);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System.out.println</a:t>
            </a:r>
            <a:r>
              <a:rPr lang="en-IN" sz="1400" dirty="0"/>
              <a:t>("Balance: " + balance);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public static void main(String[] </a:t>
            </a:r>
            <a:r>
              <a:rPr lang="en-IN" sz="1400" dirty="0" err="1"/>
              <a:t>args</a:t>
            </a:r>
            <a:r>
              <a:rPr lang="en-IN" sz="1400" dirty="0"/>
              <a:t>) {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    BankAccount2 </a:t>
            </a:r>
            <a:r>
              <a:rPr lang="en-IN" sz="1400" dirty="0" err="1"/>
              <a:t>acc</a:t>
            </a:r>
            <a:r>
              <a:rPr lang="en-IN" sz="1400" dirty="0"/>
              <a:t> = new BankAccount2("Kavi", 2000);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acc.display</a:t>
            </a:r>
            <a:r>
              <a:rPr lang="en-IN" sz="1400" dirty="0"/>
              <a:t>();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E274B-9482-B7D5-1965-8A5A3E3F14AE}"/>
              </a:ext>
            </a:extLst>
          </p:cNvPr>
          <p:cNvSpPr txBox="1"/>
          <p:nvPr/>
        </p:nvSpPr>
        <p:spPr>
          <a:xfrm>
            <a:off x="6263148" y="178992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MNC Task Questions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Implement ATM system with PIN validation. 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transaction history (deposit/withdraw logs). </a:t>
            </a:r>
          </a:p>
        </p:txBody>
      </p:sp>
    </p:spTree>
    <p:extLst>
      <p:ext uri="{BB962C8B-B14F-4D97-AF65-F5344CB8AC3E}">
        <p14:creationId xmlns:p14="http://schemas.microsoft.com/office/powerpoint/2010/main" val="844390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872FE-BDBA-393F-B430-0400307D6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20352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sz="2000" b="1" dirty="0"/>
              <a:t>CHECK IF LETTER IS ALPHABET</a:t>
            </a:r>
          </a:p>
          <a:p>
            <a:pPr marL="0" indent="0">
              <a:buNone/>
            </a:pPr>
            <a:r>
              <a:rPr lang="en-US" sz="2000" b="1" dirty="0"/>
              <a:t>Theory</a:t>
            </a:r>
          </a:p>
          <a:p>
            <a:pPr marL="0" indent="0">
              <a:buNone/>
            </a:pPr>
            <a:r>
              <a:rPr lang="en-US" sz="2000" dirty="0"/>
              <a:t>A character is an alphabet if it lies between:</a:t>
            </a:r>
          </a:p>
          <a:p>
            <a:pPr marL="0" indent="0">
              <a:buNone/>
            </a:pPr>
            <a:r>
              <a:rPr lang="en-US" sz="2000" dirty="0"/>
              <a:t>'A' to 'Z' OR </a:t>
            </a:r>
          </a:p>
          <a:p>
            <a:pPr marL="0" indent="0">
              <a:buNone/>
            </a:pPr>
            <a:r>
              <a:rPr lang="en-US" sz="2000" dirty="0"/>
              <a:t>'a' to 'z'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517DA-D220-5D9B-8729-6E03F7926FF3}"/>
              </a:ext>
            </a:extLst>
          </p:cNvPr>
          <p:cNvSpPr txBox="1"/>
          <p:nvPr/>
        </p:nvSpPr>
        <p:spPr>
          <a:xfrm>
            <a:off x="6791632" y="-19665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if condition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2AB1C-7A00-FF09-0B12-A2CE9F5CB639}"/>
              </a:ext>
            </a:extLst>
          </p:cNvPr>
          <p:cNvSpPr txBox="1"/>
          <p:nvPr/>
        </p:nvSpPr>
        <p:spPr>
          <a:xfrm>
            <a:off x="5697794" y="563769"/>
            <a:ext cx="649420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class Alphabet1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Scanner </a:t>
            </a:r>
            <a:r>
              <a:rPr lang="en-IN" dirty="0" err="1"/>
              <a:t>sc</a:t>
            </a:r>
            <a:r>
              <a:rPr lang="en-IN" dirty="0"/>
              <a:t> = new Scanner(System.in);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("Enter a character:");</a:t>
            </a:r>
          </a:p>
          <a:p>
            <a:r>
              <a:rPr lang="en-IN" dirty="0"/>
              <a:t>        char </a:t>
            </a:r>
            <a:r>
              <a:rPr lang="en-IN" dirty="0" err="1"/>
              <a:t>ch</a:t>
            </a:r>
            <a:r>
              <a:rPr lang="en-IN" dirty="0"/>
              <a:t> = </a:t>
            </a:r>
            <a:r>
              <a:rPr lang="en-IN" dirty="0" err="1"/>
              <a:t>sc.next</a:t>
            </a:r>
            <a:r>
              <a:rPr lang="en-IN" dirty="0"/>
              <a:t>().</a:t>
            </a:r>
            <a:r>
              <a:rPr lang="en-IN" dirty="0" err="1"/>
              <a:t>charAt</a:t>
            </a:r>
            <a:r>
              <a:rPr lang="en-IN" dirty="0"/>
              <a:t>(0); // read character</a:t>
            </a:r>
          </a:p>
          <a:p>
            <a:endParaRPr lang="en-IN" dirty="0"/>
          </a:p>
          <a:p>
            <a:r>
              <a:rPr lang="en-IN" dirty="0"/>
              <a:t>        if((</a:t>
            </a:r>
            <a:r>
              <a:rPr lang="en-IN" dirty="0" err="1"/>
              <a:t>ch</a:t>
            </a:r>
            <a:r>
              <a:rPr lang="en-IN" dirty="0"/>
              <a:t> &gt;= 'A' &amp;&amp; </a:t>
            </a:r>
            <a:r>
              <a:rPr lang="en-IN" dirty="0" err="1"/>
              <a:t>ch</a:t>
            </a:r>
            <a:r>
              <a:rPr lang="en-IN" dirty="0"/>
              <a:t> &lt;= 'Z') || (</a:t>
            </a:r>
            <a:r>
              <a:rPr lang="en-IN" dirty="0" err="1"/>
              <a:t>ch</a:t>
            </a:r>
            <a:r>
              <a:rPr lang="en-IN" dirty="0"/>
              <a:t> &gt;= 'a' &amp;&amp; </a:t>
            </a:r>
            <a:r>
              <a:rPr lang="en-IN" dirty="0" err="1"/>
              <a:t>ch</a:t>
            </a:r>
            <a:r>
              <a:rPr lang="en-IN" dirty="0"/>
              <a:t> &lt;= 'z')) {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("Alphabet");</a:t>
            </a:r>
          </a:p>
          <a:p>
            <a:r>
              <a:rPr lang="en-IN" dirty="0"/>
              <a:t>        } else {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("Not an Alphabet");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659786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11E6-7E69-E7F3-254B-A52B669F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42" y="-375035"/>
            <a:ext cx="10515600" cy="1318931"/>
          </a:xfrm>
        </p:spPr>
        <p:txBody>
          <a:bodyPr>
            <a:normAutofit/>
          </a:bodyPr>
          <a:lstStyle/>
          <a:p>
            <a:r>
              <a:rPr lang="en-IN" sz="2000" b="1" dirty="0"/>
              <a:t>Using ASCII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35CA3-8952-E06D-2ED2-3ED5D5CFF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922" y="761718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class Alphabet2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char </a:t>
            </a:r>
            <a:r>
              <a:rPr lang="en-IN" dirty="0" err="1"/>
              <a:t>ch</a:t>
            </a:r>
            <a:r>
              <a:rPr lang="en-IN" dirty="0"/>
              <a:t> = '9'; // test character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int ascii = </a:t>
            </a:r>
            <a:r>
              <a:rPr lang="en-IN" dirty="0" err="1"/>
              <a:t>ch</a:t>
            </a:r>
            <a:r>
              <a:rPr lang="en-IN" dirty="0"/>
              <a:t>; // convert to ASCII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if((ascii &gt;= 65 &amp;&amp; ascii &lt;= 90) || (ascii &gt;= 97 &amp;&amp; ascii &lt;= 122))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("Alphabet");</a:t>
            </a:r>
          </a:p>
          <a:p>
            <a:pPr marL="0" indent="0">
              <a:buNone/>
            </a:pPr>
            <a:r>
              <a:rPr lang="en-IN" dirty="0"/>
              <a:t>        } else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("Not Alphabet");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27471-74B0-5565-0584-4307842E892F}"/>
              </a:ext>
            </a:extLst>
          </p:cNvPr>
          <p:cNvSpPr txBox="1"/>
          <p:nvPr/>
        </p:nvSpPr>
        <p:spPr>
          <a:xfrm>
            <a:off x="346587" y="504948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MNC Task Questions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 if character is vowel, consonant, digit, or special character. </a:t>
            </a:r>
          </a:p>
          <a:p>
            <a:pPr>
              <a:buFont typeface="+mj-lt"/>
              <a:buAutoNum type="arabicPeriod"/>
            </a:pPr>
            <a:r>
              <a:rPr lang="en-US" dirty="0"/>
              <a:t>Count number of alphabets in a string. </a:t>
            </a:r>
          </a:p>
        </p:txBody>
      </p:sp>
    </p:spTree>
    <p:extLst>
      <p:ext uri="{BB962C8B-B14F-4D97-AF65-F5344CB8AC3E}">
        <p14:creationId xmlns:p14="http://schemas.microsoft.com/office/powerpoint/2010/main" val="162631422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35C03-8B48-020E-2DEA-CBF8A0E5C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" y="104980"/>
            <a:ext cx="10515600" cy="770091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What is a Function?</a:t>
            </a:r>
          </a:p>
          <a:p>
            <a:pPr marL="0" indent="0">
              <a:buNone/>
            </a:pPr>
            <a:r>
              <a:rPr lang="en-US" sz="1800" dirty="0"/>
              <a:t>A </a:t>
            </a:r>
            <a:r>
              <a:rPr lang="en-US" sz="1800" b="1" dirty="0"/>
              <a:t>function (method in Java)</a:t>
            </a:r>
            <a:r>
              <a:rPr lang="en-US" sz="1800" dirty="0"/>
              <a:t> is a block of code that performs a specific task and can be reused.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DA700-D5B1-0BAE-11E9-78F44BED589D}"/>
              </a:ext>
            </a:extLst>
          </p:cNvPr>
          <p:cNvSpPr txBox="1"/>
          <p:nvPr/>
        </p:nvSpPr>
        <p:spPr>
          <a:xfrm>
            <a:off x="71284" y="8750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Simple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AAFBD-96FC-FE6A-1B90-9D1AE41C6D49}"/>
              </a:ext>
            </a:extLst>
          </p:cNvPr>
          <p:cNvSpPr txBox="1"/>
          <p:nvPr/>
        </p:nvSpPr>
        <p:spPr>
          <a:xfrm>
            <a:off x="167148" y="1244403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Demo {</a:t>
            </a:r>
          </a:p>
          <a:p>
            <a:endParaRPr lang="en-IN" dirty="0"/>
          </a:p>
          <a:p>
            <a:r>
              <a:rPr lang="en-IN" dirty="0"/>
              <a:t>    // Function definition (method)</a:t>
            </a:r>
          </a:p>
          <a:p>
            <a:r>
              <a:rPr lang="en-IN" dirty="0"/>
              <a:t>    static void greet() {              // static → belongs to class, void → no return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("Hello");   // prints message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greet();  // calling the function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724192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AFCC-7850-D3CD-9257-52EFEFC4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37151"/>
          </a:xfrm>
        </p:spPr>
        <p:txBody>
          <a:bodyPr>
            <a:normAutofit/>
          </a:bodyPr>
          <a:lstStyle/>
          <a:p>
            <a:r>
              <a:rPr lang="en-IN" sz="2400" dirty="0"/>
              <a:t>Function with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AE77C-6431-AA8E-594A-3AED37F7B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49" y="773573"/>
            <a:ext cx="10515600" cy="556823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class Demo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Function that returns value</a:t>
            </a:r>
          </a:p>
          <a:p>
            <a:pPr marL="0" indent="0">
              <a:buNone/>
            </a:pPr>
            <a:r>
              <a:rPr lang="en-IN" dirty="0"/>
              <a:t>    static int add() {            // int → return type</a:t>
            </a:r>
          </a:p>
          <a:p>
            <a:pPr marL="0" indent="0">
              <a:buNone/>
            </a:pPr>
            <a:r>
              <a:rPr lang="en-IN" dirty="0"/>
              <a:t>        int a = 10;               // local variable</a:t>
            </a:r>
          </a:p>
          <a:p>
            <a:pPr marL="0" indent="0">
              <a:buNone/>
            </a:pPr>
            <a:r>
              <a:rPr lang="en-IN" dirty="0"/>
              <a:t>        int b = 20;               // local variable</a:t>
            </a:r>
          </a:p>
          <a:p>
            <a:pPr marL="0" indent="0">
              <a:buNone/>
            </a:pPr>
            <a:r>
              <a:rPr lang="en-IN" dirty="0"/>
              <a:t>        return a + b;             // returns sum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int result = add();       // store returned value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(result); // print result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796017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6D4F3-227A-A30D-E8FF-6969E99CD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462115"/>
            <a:ext cx="10515600" cy="572883"/>
          </a:xfrm>
        </p:spPr>
        <p:txBody>
          <a:bodyPr>
            <a:normAutofit/>
          </a:bodyPr>
          <a:lstStyle/>
          <a:p>
            <a:r>
              <a:rPr lang="en-IN" sz="2000" dirty="0"/>
              <a:t>Creating &amp; Calling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6D2B7-9562-A31C-70F6-4CB30B58B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04" y="137912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class Demo {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// Creating function</a:t>
            </a:r>
          </a:p>
          <a:p>
            <a:pPr marL="0" indent="0">
              <a:buNone/>
            </a:pPr>
            <a:r>
              <a:rPr lang="en-IN" dirty="0"/>
              <a:t>    static void display() {                 // function created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("Welcome");      // print message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display();   // calling function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577671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BD63-147C-AF7C-6E2A-8C2239D5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9332-21E1-B024-D2CD-6F1E1B3BB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462115"/>
            <a:ext cx="10515600" cy="572883"/>
          </a:xfrm>
        </p:spPr>
        <p:txBody>
          <a:bodyPr>
            <a:normAutofit/>
          </a:bodyPr>
          <a:lstStyle/>
          <a:p>
            <a:r>
              <a:rPr lang="en-IN" sz="2000" dirty="0"/>
              <a:t>Creating &amp; Calling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4A077-F69C-8C21-BDFA-BC2B42BC8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04" y="137912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class Demo {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// Creating function</a:t>
            </a:r>
          </a:p>
          <a:p>
            <a:pPr marL="0" indent="0">
              <a:buNone/>
            </a:pPr>
            <a:r>
              <a:rPr lang="en-IN" dirty="0"/>
              <a:t>    static void display() {                 // function created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("Welcome");      // print message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display();   // calling function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52365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D8BE-DD66-2746-1A96-186A22F0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67" y="168480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E5F55-6EE7-1B4F-41D5-3C5C4DFBF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67" y="78658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class Demo {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static void square() {</a:t>
            </a:r>
          </a:p>
          <a:p>
            <a:pPr marL="0" indent="0">
              <a:buNone/>
            </a:pPr>
            <a:r>
              <a:rPr lang="en-IN" dirty="0"/>
              <a:t>        int </a:t>
            </a:r>
            <a:r>
              <a:rPr lang="en-IN" dirty="0" err="1"/>
              <a:t>num</a:t>
            </a:r>
            <a:r>
              <a:rPr lang="en-IN" dirty="0"/>
              <a:t> = 5;                     // variable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num</a:t>
            </a:r>
            <a:r>
              <a:rPr lang="en-IN" dirty="0"/>
              <a:t> * </a:t>
            </a:r>
            <a:r>
              <a:rPr lang="en-IN" dirty="0" err="1"/>
              <a:t>num</a:t>
            </a:r>
            <a:r>
              <a:rPr lang="en-IN" dirty="0"/>
              <a:t>);   // prints square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square();   // calling function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611795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B4986-160F-912D-4961-C0E3DD46D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61" y="104980"/>
            <a:ext cx="10515600" cy="18418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Types of Arguments</a:t>
            </a:r>
          </a:p>
          <a:p>
            <a:pPr marL="0" indent="0">
              <a:buNone/>
            </a:pPr>
            <a:r>
              <a:rPr lang="en-US" sz="2000" b="1" dirty="0"/>
              <a:t>Types:</a:t>
            </a:r>
          </a:p>
          <a:p>
            <a:pPr marL="0" indent="0">
              <a:buNone/>
            </a:pPr>
            <a:r>
              <a:rPr lang="en-US" sz="2000" dirty="0"/>
              <a:t>No Arguments </a:t>
            </a:r>
          </a:p>
          <a:p>
            <a:pPr marL="0" indent="0">
              <a:buNone/>
            </a:pPr>
            <a:r>
              <a:rPr lang="en-US" sz="2000" dirty="0"/>
              <a:t>With Arguments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71C0DD-3A14-B944-0ED1-B78C75DFCEC7}"/>
              </a:ext>
            </a:extLst>
          </p:cNvPr>
          <p:cNvSpPr txBox="1"/>
          <p:nvPr/>
        </p:nvSpPr>
        <p:spPr>
          <a:xfrm>
            <a:off x="277761" y="169125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No Arguments</a:t>
            </a:r>
          </a:p>
          <a:p>
            <a:pPr rtl="0">
              <a:buNone/>
            </a:pPr>
            <a:r>
              <a:rPr lang="en-IN" dirty="0">
                <a:latin typeface="+mj-lt"/>
              </a:rPr>
              <a:t>class Demo {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static void show() {                 // no arguments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</a:t>
            </a:r>
            <a:r>
              <a:rPr lang="en-IN" dirty="0" err="1">
                <a:latin typeface="+mj-lt"/>
              </a:rPr>
              <a:t>System.out.println</a:t>
            </a:r>
            <a:r>
              <a:rPr lang="en-IN" dirty="0">
                <a:latin typeface="+mj-lt"/>
              </a:rPr>
              <a:t>("No </a:t>
            </a:r>
            <a:r>
              <a:rPr lang="en-IN" dirty="0" err="1">
                <a:latin typeface="+mj-lt"/>
              </a:rPr>
              <a:t>Args</a:t>
            </a:r>
            <a:r>
              <a:rPr lang="en-IN" dirty="0">
                <a:latin typeface="+mj-lt"/>
              </a:rPr>
              <a:t>");   // print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}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public static void main(String[] </a:t>
            </a:r>
            <a:r>
              <a:rPr lang="en-IN" dirty="0" err="1">
                <a:latin typeface="+mj-lt"/>
              </a:rPr>
              <a:t>args</a:t>
            </a:r>
            <a:r>
              <a:rPr lang="en-IN" dirty="0">
                <a:latin typeface="+mj-lt"/>
              </a:rPr>
              <a:t>) {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show();   // calling without passing values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}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F7379-F5C3-FB31-D27D-2252E13521FC}"/>
              </a:ext>
            </a:extLst>
          </p:cNvPr>
          <p:cNvSpPr txBox="1"/>
          <p:nvPr/>
        </p:nvSpPr>
        <p:spPr>
          <a:xfrm>
            <a:off x="6017341" y="39374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With Arguments</a:t>
            </a:r>
          </a:p>
          <a:p>
            <a:pPr rtl="0">
              <a:buNone/>
            </a:pPr>
            <a:r>
              <a:rPr lang="en-IN" dirty="0">
                <a:latin typeface="+mj-lt"/>
              </a:rPr>
              <a:t>class Demo {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static void add(int a, int b) {       // parameters a &amp; b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</a:t>
            </a:r>
            <a:r>
              <a:rPr lang="en-IN" dirty="0" err="1">
                <a:latin typeface="+mj-lt"/>
              </a:rPr>
              <a:t>System.out.println</a:t>
            </a:r>
            <a:r>
              <a:rPr lang="en-IN" dirty="0">
                <a:latin typeface="+mj-lt"/>
              </a:rPr>
              <a:t>(a + b);        // print sum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}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public static void main(String[] </a:t>
            </a:r>
            <a:r>
              <a:rPr lang="en-IN" dirty="0" err="1">
                <a:latin typeface="+mj-lt"/>
              </a:rPr>
              <a:t>args</a:t>
            </a:r>
            <a:r>
              <a:rPr lang="en-IN" dirty="0">
                <a:latin typeface="+mj-lt"/>
              </a:rPr>
              <a:t>) {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add(10, 20);   // passing arguments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}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364230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6A3E2-F79A-8AE9-C816-A0BA3EF70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64" y="206477"/>
            <a:ext cx="10515600" cy="48308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Default Parameter Value (Java Concept)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Java </a:t>
            </a:r>
            <a:r>
              <a:rPr lang="en-IN" b="1" dirty="0">
                <a:latin typeface="+mj-lt"/>
              </a:rPr>
              <a:t>does NOT support default parameters directly</a:t>
            </a:r>
            <a:r>
              <a:rPr lang="en-IN" dirty="0">
                <a:latin typeface="+mj-lt"/>
              </a:rPr>
              <a:t>, but we simulate it.</a:t>
            </a:r>
          </a:p>
          <a:p>
            <a:pPr marL="0" indent="0">
              <a:buNone/>
            </a:pPr>
            <a:r>
              <a:rPr lang="en-IN" b="1" dirty="0"/>
              <a:t> Example 1</a:t>
            </a:r>
          </a:p>
          <a:p>
            <a:pPr marL="0" indent="0">
              <a:buNone/>
            </a:pPr>
            <a:r>
              <a:rPr lang="en-IN" dirty="0"/>
              <a:t>class Demo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static void greet(String name) {</a:t>
            </a:r>
            <a:br>
              <a:rPr lang="en-IN" dirty="0"/>
            </a:br>
            <a:r>
              <a:rPr lang="en-IN" dirty="0"/>
              <a:t>        if (name == null) {                // check if no value passed</a:t>
            </a:r>
            <a:br>
              <a:rPr lang="en-IN" dirty="0"/>
            </a:br>
            <a:r>
              <a:rPr lang="en-IN" dirty="0"/>
              <a:t>            name = "Guest";                // default value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("Hello " + name);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greet(null);   // acts like default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604775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160D-B855-DDAE-E19C-7763149EF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058" y="655587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(Method Overloading)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class Demo {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static void greet() {                 // default version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</a:t>
            </a:r>
            <a:r>
              <a:rPr lang="en-IN" dirty="0" err="1">
                <a:latin typeface="+mj-lt"/>
              </a:rPr>
              <a:t>System.out.println</a:t>
            </a:r>
            <a:r>
              <a:rPr lang="en-IN" dirty="0">
                <a:latin typeface="+mj-lt"/>
              </a:rPr>
              <a:t>("Hello Guest");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}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static void greet(String name) {      // parameter version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</a:t>
            </a:r>
            <a:r>
              <a:rPr lang="en-IN" dirty="0" err="1">
                <a:latin typeface="+mj-lt"/>
              </a:rPr>
              <a:t>System.out.println</a:t>
            </a:r>
            <a:r>
              <a:rPr lang="en-IN" dirty="0">
                <a:latin typeface="+mj-lt"/>
              </a:rPr>
              <a:t>("Hello " + name);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}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public static void main(String[] </a:t>
            </a:r>
            <a:r>
              <a:rPr lang="en-IN" dirty="0" err="1">
                <a:latin typeface="+mj-lt"/>
              </a:rPr>
              <a:t>args</a:t>
            </a:r>
            <a:r>
              <a:rPr lang="en-IN" dirty="0">
                <a:latin typeface="+mj-lt"/>
              </a:rPr>
              <a:t>) {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greet();           // calls default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    greet("John");     // calls with argument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    }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660961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01EC2-5A9A-B8DC-4802-6A6295608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97" y="301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Example 1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Demo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static void </a:t>
            </a:r>
            <a:r>
              <a:rPr lang="en-IN" dirty="0" err="1"/>
              <a:t>printList</a:t>
            </a:r>
            <a:r>
              <a:rPr lang="en-IN" dirty="0"/>
              <a:t>(</a:t>
            </a:r>
            <a:r>
              <a:rPr lang="en-IN" dirty="0" err="1"/>
              <a:t>ArrayList</a:t>
            </a:r>
            <a:r>
              <a:rPr lang="en-IN" dirty="0"/>
              <a:t>&lt;Integer&gt; list) {  // receiving list</a:t>
            </a:r>
            <a:br>
              <a:rPr lang="en-IN" dirty="0"/>
            </a:br>
            <a:r>
              <a:rPr lang="en-IN" dirty="0"/>
              <a:t>        for (int </a:t>
            </a:r>
            <a:r>
              <a:rPr lang="en-IN" dirty="0" err="1"/>
              <a:t>i</a:t>
            </a:r>
            <a:r>
              <a:rPr lang="en-IN" dirty="0"/>
              <a:t> : list) {                         // loop through list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);                   // print each element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ArrayList</a:t>
            </a:r>
            <a:r>
              <a:rPr lang="en-IN" dirty="0"/>
              <a:t>&lt;Integer&gt; list = new </a:t>
            </a:r>
            <a:r>
              <a:rPr lang="en-IN" dirty="0" err="1"/>
              <a:t>ArrayList</a:t>
            </a:r>
            <a:r>
              <a:rPr lang="en-IN" dirty="0"/>
              <a:t>&lt;&gt;(); // create list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list.add</a:t>
            </a:r>
            <a:r>
              <a:rPr lang="en-IN" dirty="0"/>
              <a:t>(10);                                // add values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list.add</a:t>
            </a:r>
            <a:r>
              <a:rPr lang="en-IN" dirty="0"/>
              <a:t>(20);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printList</a:t>
            </a:r>
            <a:r>
              <a:rPr lang="en-IN" dirty="0"/>
              <a:t>(list);  // pass list to function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815521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3C50C-D2ED-EB7F-F19F-E08750799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9779"/>
            <a:ext cx="10515600" cy="535192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sz="6200" b="1" dirty="0"/>
              <a:t>Example 2</a:t>
            </a:r>
          </a:p>
          <a:p>
            <a:pPr marL="0" indent="0">
              <a:buNone/>
            </a:pPr>
            <a:r>
              <a:rPr lang="en-IN" sz="6200" dirty="0"/>
              <a:t>import </a:t>
            </a:r>
            <a:r>
              <a:rPr lang="en-IN" sz="6200" dirty="0" err="1"/>
              <a:t>java.util</a:t>
            </a:r>
            <a:r>
              <a:rPr lang="en-IN" sz="6200" dirty="0"/>
              <a:t>.*;</a:t>
            </a:r>
            <a:br>
              <a:rPr lang="en-IN" sz="6200" dirty="0"/>
            </a:br>
            <a:br>
              <a:rPr lang="en-IN" sz="6200" dirty="0"/>
            </a:br>
            <a:r>
              <a:rPr lang="en-IN" sz="6200" dirty="0"/>
              <a:t>class Demo {</a:t>
            </a:r>
            <a:br>
              <a:rPr lang="en-IN" sz="6200" dirty="0"/>
            </a:br>
            <a:br>
              <a:rPr lang="en-IN" sz="6200" dirty="0"/>
            </a:br>
            <a:r>
              <a:rPr lang="en-IN" sz="6200" dirty="0"/>
              <a:t>    static int </a:t>
            </a:r>
            <a:r>
              <a:rPr lang="en-IN" sz="6200" dirty="0" err="1"/>
              <a:t>sumList</a:t>
            </a:r>
            <a:r>
              <a:rPr lang="en-IN" sz="6200" dirty="0"/>
              <a:t>(</a:t>
            </a:r>
            <a:r>
              <a:rPr lang="en-IN" sz="6200" dirty="0" err="1"/>
              <a:t>ArrayList</a:t>
            </a:r>
            <a:r>
              <a:rPr lang="en-IN" sz="6200" dirty="0"/>
              <a:t>&lt;Integer&gt; list) {</a:t>
            </a:r>
            <a:br>
              <a:rPr lang="en-IN" sz="6200" dirty="0"/>
            </a:br>
            <a:r>
              <a:rPr lang="en-IN" sz="6200" dirty="0"/>
              <a:t>        int sum = 0;                     // initialize sum</a:t>
            </a:r>
            <a:br>
              <a:rPr lang="en-IN" sz="6200" dirty="0"/>
            </a:br>
            <a:br>
              <a:rPr lang="en-IN" sz="6200" dirty="0"/>
            </a:br>
            <a:r>
              <a:rPr lang="en-IN" sz="6200" dirty="0"/>
              <a:t>        for (int </a:t>
            </a:r>
            <a:r>
              <a:rPr lang="en-IN" sz="6200" dirty="0" err="1"/>
              <a:t>i</a:t>
            </a:r>
            <a:r>
              <a:rPr lang="en-IN" sz="6200" dirty="0"/>
              <a:t> : list) {             // loop through list</a:t>
            </a:r>
            <a:br>
              <a:rPr lang="en-IN" sz="6200" dirty="0"/>
            </a:br>
            <a:r>
              <a:rPr lang="en-IN" sz="6200" dirty="0"/>
              <a:t>            sum += </a:t>
            </a:r>
            <a:r>
              <a:rPr lang="en-IN" sz="6200" dirty="0" err="1"/>
              <a:t>i</a:t>
            </a:r>
            <a:r>
              <a:rPr lang="en-IN" sz="6200" dirty="0"/>
              <a:t>;                    // add each element</a:t>
            </a:r>
            <a:br>
              <a:rPr lang="en-IN" sz="6200" dirty="0"/>
            </a:br>
            <a:r>
              <a:rPr lang="en-IN" sz="6200" dirty="0"/>
              <a:t>        }</a:t>
            </a:r>
            <a:br>
              <a:rPr lang="en-IN" sz="6200" dirty="0"/>
            </a:br>
            <a:br>
              <a:rPr lang="en-IN" sz="6200" dirty="0"/>
            </a:br>
            <a:r>
              <a:rPr lang="en-IN" sz="6200" dirty="0"/>
              <a:t>        return sum;                      // return result</a:t>
            </a:r>
            <a:br>
              <a:rPr lang="en-IN" sz="6200" dirty="0"/>
            </a:br>
            <a:r>
              <a:rPr lang="en-IN" sz="6200" dirty="0"/>
              <a:t>    }</a:t>
            </a:r>
            <a:br>
              <a:rPr lang="en-IN" sz="6200" dirty="0"/>
            </a:br>
            <a:br>
              <a:rPr lang="en-IN" sz="6200" dirty="0"/>
            </a:br>
            <a:r>
              <a:rPr lang="en-IN" sz="6200" dirty="0"/>
              <a:t>    public static void main(String[] </a:t>
            </a:r>
            <a:r>
              <a:rPr lang="en-IN" sz="6200" dirty="0" err="1"/>
              <a:t>args</a:t>
            </a:r>
            <a:r>
              <a:rPr lang="en-IN" sz="6200" dirty="0"/>
              <a:t>) {</a:t>
            </a:r>
            <a:br>
              <a:rPr lang="en-IN" sz="6200" dirty="0"/>
            </a:br>
            <a:r>
              <a:rPr lang="en-IN" sz="6200" dirty="0"/>
              <a:t>        </a:t>
            </a:r>
            <a:r>
              <a:rPr lang="en-IN" sz="6200" dirty="0" err="1"/>
              <a:t>ArrayList</a:t>
            </a:r>
            <a:r>
              <a:rPr lang="en-IN" sz="6200" dirty="0"/>
              <a:t>&lt;Integer&gt; list = new </a:t>
            </a:r>
            <a:r>
              <a:rPr lang="en-IN" sz="6200" dirty="0" err="1"/>
              <a:t>ArrayList</a:t>
            </a:r>
            <a:r>
              <a:rPr lang="en-IN" sz="6200" dirty="0"/>
              <a:t>&lt;&gt;();</a:t>
            </a:r>
            <a:br>
              <a:rPr lang="en-IN" sz="6200" dirty="0"/>
            </a:br>
            <a:r>
              <a:rPr lang="en-IN" sz="6200" dirty="0"/>
              <a:t>        </a:t>
            </a:r>
            <a:r>
              <a:rPr lang="en-IN" sz="6200" dirty="0" err="1"/>
              <a:t>list.add</a:t>
            </a:r>
            <a:r>
              <a:rPr lang="en-IN" sz="6200" dirty="0"/>
              <a:t>(5);</a:t>
            </a:r>
            <a:br>
              <a:rPr lang="en-IN" sz="6200" dirty="0"/>
            </a:br>
            <a:r>
              <a:rPr lang="en-IN" sz="6200" dirty="0"/>
              <a:t>        </a:t>
            </a:r>
            <a:r>
              <a:rPr lang="en-IN" sz="6200" dirty="0" err="1"/>
              <a:t>list.add</a:t>
            </a:r>
            <a:r>
              <a:rPr lang="en-IN" sz="6200" dirty="0"/>
              <a:t>(15);</a:t>
            </a:r>
            <a:br>
              <a:rPr lang="en-IN" sz="6200" dirty="0"/>
            </a:br>
            <a:br>
              <a:rPr lang="en-IN" sz="6200" dirty="0"/>
            </a:br>
            <a:r>
              <a:rPr lang="en-IN" sz="6200" dirty="0"/>
              <a:t>        </a:t>
            </a:r>
            <a:r>
              <a:rPr lang="en-IN" sz="6200" dirty="0" err="1"/>
              <a:t>System.out.println</a:t>
            </a:r>
            <a:r>
              <a:rPr lang="en-IN" sz="6200" dirty="0"/>
              <a:t>(</a:t>
            </a:r>
            <a:r>
              <a:rPr lang="en-IN" sz="6200" dirty="0" err="1"/>
              <a:t>sumList</a:t>
            </a:r>
            <a:r>
              <a:rPr lang="en-IN" sz="6200" dirty="0"/>
              <a:t>(list)); // print sum</a:t>
            </a:r>
            <a:br>
              <a:rPr lang="en-IN" sz="6200" dirty="0"/>
            </a:br>
            <a:r>
              <a:rPr lang="en-IN" sz="6200" dirty="0"/>
              <a:t>    }</a:t>
            </a:r>
            <a:br>
              <a:rPr lang="en-IN" sz="6200" dirty="0"/>
            </a:br>
            <a:r>
              <a:rPr lang="en-IN" sz="62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261440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3171-0245-C516-47CF-7CB365A2A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311456"/>
            <a:ext cx="10515600" cy="502745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Recursion Function</a:t>
            </a:r>
          </a:p>
          <a:p>
            <a:pPr marL="0" indent="0">
              <a:buNone/>
            </a:pPr>
            <a:r>
              <a:rPr lang="en-IN" b="1" dirty="0"/>
              <a:t> What is Recursion?</a:t>
            </a:r>
          </a:p>
          <a:p>
            <a:pPr marL="0" indent="0">
              <a:buNone/>
            </a:pPr>
            <a:r>
              <a:rPr lang="en-IN" dirty="0"/>
              <a:t>A function calling </a:t>
            </a:r>
            <a:r>
              <a:rPr lang="en-IN" b="1" dirty="0"/>
              <a:t>itself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Example 1: Factorial</a:t>
            </a:r>
          </a:p>
          <a:p>
            <a:pPr marL="0" indent="0">
              <a:buNone/>
            </a:pPr>
            <a:r>
              <a:rPr lang="en-IN" dirty="0"/>
              <a:t>class Demo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static int factorial(int n) {</a:t>
            </a:r>
            <a:br>
              <a:rPr lang="en-IN" dirty="0"/>
            </a:br>
            <a:r>
              <a:rPr lang="en-IN" dirty="0"/>
              <a:t>        if (n == 1) {              // base condition</a:t>
            </a:r>
            <a:br>
              <a:rPr lang="en-IN" dirty="0"/>
            </a:br>
            <a:r>
              <a:rPr lang="en-IN" dirty="0"/>
              <a:t>            return 1;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    return n * factorial(n - 1); // recursive call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(factorial(5)); // 5! = 120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198869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3C711-937D-C77E-FC57-67B0AAB31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2" y="390116"/>
            <a:ext cx="10515600" cy="51847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Print Numbers</a:t>
            </a:r>
          </a:p>
          <a:p>
            <a:pPr marL="0" indent="0">
              <a:buNone/>
            </a:pPr>
            <a:r>
              <a:rPr lang="en-IN" dirty="0"/>
              <a:t>class Demo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static void </a:t>
            </a:r>
            <a:r>
              <a:rPr lang="en-IN" dirty="0" err="1"/>
              <a:t>printNum</a:t>
            </a:r>
            <a:r>
              <a:rPr lang="en-IN" dirty="0"/>
              <a:t>(int n) {</a:t>
            </a:r>
            <a:br>
              <a:rPr lang="en-IN" dirty="0"/>
            </a:br>
            <a:r>
              <a:rPr lang="en-IN" dirty="0"/>
              <a:t>        if (n == 0) {            // base condition</a:t>
            </a:r>
            <a:br>
              <a:rPr lang="en-IN" dirty="0"/>
            </a:br>
            <a:r>
              <a:rPr lang="en-IN" dirty="0"/>
              <a:t>            return;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(n);   // print number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printNum</a:t>
            </a:r>
            <a:r>
              <a:rPr lang="en-IN" dirty="0"/>
              <a:t>(n - 1);         // recursive call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printNum</a:t>
            </a:r>
            <a:r>
              <a:rPr lang="en-IN" dirty="0"/>
              <a:t>(5);  // prints 5 to 1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472374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D821E-DD7B-C56E-C998-7EAFA28DE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32106"/>
            <a:ext cx="10515600" cy="648931"/>
          </a:xfrm>
        </p:spPr>
        <p:txBody>
          <a:bodyPr>
            <a:normAutofit fontScale="90000"/>
          </a:bodyPr>
          <a:lstStyle/>
          <a:p>
            <a:r>
              <a:rPr lang="en-IN" dirty="0"/>
              <a:t>Define String &amp; Access &amp; Modify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A90E0-F226-0800-6041-F63FD410D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04" y="803070"/>
            <a:ext cx="10515600" cy="2156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Definition</a:t>
            </a:r>
          </a:p>
          <a:p>
            <a:pPr marL="0" indent="0">
              <a:buNone/>
            </a:pPr>
            <a:r>
              <a:rPr lang="en-US" sz="1600" dirty="0"/>
              <a:t>A </a:t>
            </a:r>
            <a:r>
              <a:rPr lang="en-US" sz="1600" b="1" dirty="0"/>
              <a:t>String</a:t>
            </a:r>
            <a:r>
              <a:rPr lang="en-US" sz="1600" dirty="0"/>
              <a:t> is a sequence of characters (text).</a:t>
            </a:r>
          </a:p>
          <a:p>
            <a:pPr marL="0" indent="0">
              <a:buNone/>
            </a:pPr>
            <a:r>
              <a:rPr lang="en-US" sz="1600" b="1" dirty="0"/>
              <a:t> Access</a:t>
            </a:r>
          </a:p>
          <a:p>
            <a:pPr marL="0" indent="0">
              <a:buNone/>
            </a:pPr>
            <a:r>
              <a:rPr lang="en-US" sz="1600" dirty="0"/>
              <a:t>You can access characters using </a:t>
            </a:r>
            <a:r>
              <a:rPr lang="en-US" sz="1600" dirty="0" err="1"/>
              <a:t>charAt</a:t>
            </a:r>
            <a:r>
              <a:rPr lang="en-US" sz="1600" dirty="0"/>
              <a:t>(index).</a:t>
            </a:r>
          </a:p>
          <a:p>
            <a:pPr marL="0" indent="0">
              <a:buNone/>
            </a:pPr>
            <a:r>
              <a:rPr lang="en-US" sz="1600" b="1" dirty="0"/>
              <a:t> Modify</a:t>
            </a:r>
          </a:p>
          <a:p>
            <a:pPr marL="0" indent="0">
              <a:buNone/>
            </a:pPr>
            <a:r>
              <a:rPr lang="en-US" sz="1600" dirty="0"/>
              <a:t>Strings are </a:t>
            </a:r>
            <a:r>
              <a:rPr lang="en-US" sz="1600" b="1" dirty="0"/>
              <a:t>immutable</a:t>
            </a:r>
            <a:r>
              <a:rPr lang="en-US" sz="1600" dirty="0"/>
              <a:t> → cannot change directly, you create a new string.</a:t>
            </a:r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BB3A1F-E90F-53FF-046A-373AD6BE2137}"/>
              </a:ext>
            </a:extLst>
          </p:cNvPr>
          <p:cNvSpPr txBox="1"/>
          <p:nvPr/>
        </p:nvSpPr>
        <p:spPr>
          <a:xfrm>
            <a:off x="462116" y="3081543"/>
            <a:ext cx="61549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class Main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String name = "Kavi";   // Define String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name.charAt</a:t>
            </a:r>
            <a:r>
              <a:rPr lang="en-IN" dirty="0"/>
              <a:t>(1));  // Access → 'a'</a:t>
            </a:r>
          </a:p>
          <a:p>
            <a:endParaRPr lang="en-IN" dirty="0"/>
          </a:p>
          <a:p>
            <a:r>
              <a:rPr lang="en-IN" dirty="0"/>
              <a:t>        name = name + "</a:t>
            </a:r>
            <a:r>
              <a:rPr lang="en-IN" dirty="0" err="1"/>
              <a:t>ya</a:t>
            </a:r>
            <a:r>
              <a:rPr lang="en-IN" dirty="0"/>
              <a:t>";   // Modify (creates new string)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(name);  // Output: Kaviya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126254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32D2-F11E-3EC1-6F88-CF0D28C45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45" y="321289"/>
            <a:ext cx="10515600" cy="14190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Program Start</a:t>
            </a:r>
          </a:p>
          <a:p>
            <a:pPr marL="0" indent="0">
              <a:buNone/>
            </a:pPr>
            <a:r>
              <a:rPr lang="en-US" sz="1800" dirty="0"/>
              <a:t>public class Main {</a:t>
            </a:r>
          </a:p>
          <a:p>
            <a:pPr marL="0" indent="0">
              <a:buNone/>
            </a:pPr>
            <a:r>
              <a:rPr lang="en-US" sz="1800" dirty="0"/>
              <a:t>This line </a:t>
            </a:r>
            <a:r>
              <a:rPr lang="en-US" sz="1800" b="1" dirty="0"/>
              <a:t>creates a class</a:t>
            </a:r>
            <a:r>
              <a:rPr lang="en-US" sz="1800" dirty="0"/>
              <a:t> named Main</a:t>
            </a:r>
          </a:p>
          <a:p>
            <a:pPr marL="0" indent="0">
              <a:buNone/>
            </a:pPr>
            <a:r>
              <a:rPr lang="en-US" sz="1800" dirty="0"/>
              <a:t> In Java, </a:t>
            </a:r>
            <a:r>
              <a:rPr lang="en-US" sz="1800" b="1" dirty="0"/>
              <a:t>all code must be inside a class</a:t>
            </a:r>
            <a:endParaRPr lang="en-US" sz="1800" dirty="0"/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83DD07-439D-9B9F-91CE-D7E60D3B2202}"/>
              </a:ext>
            </a:extLst>
          </p:cNvPr>
          <p:cNvSpPr txBox="1"/>
          <p:nvPr/>
        </p:nvSpPr>
        <p:spPr>
          <a:xfrm>
            <a:off x="425245" y="219134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Main Method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public static void main(String[] </a:t>
            </a:r>
            <a:r>
              <a:rPr lang="en-US" dirty="0" err="1">
                <a:latin typeface="Courier New" panose="02070309020205020404" pitchFamily="49" charset="0"/>
              </a:rPr>
              <a:t>args</a:t>
            </a:r>
            <a:r>
              <a:rPr lang="en-US" dirty="0">
                <a:latin typeface="Courier New" panose="02070309020205020404" pitchFamily="49" charset="0"/>
              </a:rPr>
              <a:t>) {</a:t>
            </a:r>
          </a:p>
          <a:p>
            <a:pPr>
              <a:buNone/>
            </a:pPr>
            <a:r>
              <a:rPr lang="en-US" dirty="0"/>
              <a:t>This is the </a:t>
            </a:r>
            <a:r>
              <a:rPr lang="en-US" b="1" dirty="0"/>
              <a:t>main method (entry point)</a:t>
            </a:r>
            <a:br>
              <a:rPr lang="en-US" dirty="0"/>
            </a:br>
            <a:r>
              <a:rPr lang="en-US" dirty="0"/>
              <a:t> Program execution </a:t>
            </a:r>
            <a:r>
              <a:rPr lang="en-US" b="1" dirty="0"/>
              <a:t>starts from here</a:t>
            </a:r>
            <a:br>
              <a:rPr lang="en-US" dirty="0"/>
            </a:br>
            <a:r>
              <a:rPr lang="en-US" dirty="0"/>
              <a:t> JVM runs this method first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72D7EE-6FFE-DEBD-F7B5-992454D0FCB1}"/>
              </a:ext>
            </a:extLst>
          </p:cNvPr>
          <p:cNvSpPr txBox="1"/>
          <p:nvPr/>
        </p:nvSpPr>
        <p:spPr>
          <a:xfrm>
            <a:off x="425245" y="387181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String Declaration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String name = "Kavi";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String</a:t>
            </a:r>
            <a:r>
              <a:rPr lang="en-IN" dirty="0"/>
              <a:t> → datatype used to store text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name</a:t>
            </a:r>
            <a:r>
              <a:rPr lang="en-IN" dirty="0"/>
              <a:t> → variable name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"Kavi"</a:t>
            </a:r>
            <a:r>
              <a:rPr lang="en-IN" dirty="0"/>
              <a:t> → value stored</a:t>
            </a:r>
          </a:p>
          <a:p>
            <a:pPr>
              <a:buNone/>
            </a:pPr>
            <a:r>
              <a:rPr lang="en-IN" dirty="0"/>
              <a:t> Meaning: storing the text </a:t>
            </a:r>
            <a:r>
              <a:rPr lang="en-IN" b="1" dirty="0"/>
              <a:t>Kavi</a:t>
            </a:r>
            <a:r>
              <a:rPr lang="en-IN" dirty="0"/>
              <a:t> inside variable </a:t>
            </a:r>
            <a:r>
              <a:rPr lang="en-IN" dirty="0">
                <a:latin typeface="Courier New" panose="02070309020205020404" pitchFamily="49" charset="0"/>
              </a:rPr>
              <a:t>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108256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213DD-4EEF-3130-317D-9CFE3BCC2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48" y="183638"/>
            <a:ext cx="10515600" cy="122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Access Character</a:t>
            </a:r>
          </a:p>
          <a:p>
            <a:pPr marL="0" indent="0">
              <a:buNone/>
            </a:pPr>
            <a:r>
              <a:rPr lang="en-US" sz="1600" dirty="0" err="1"/>
              <a:t>System.out.println</a:t>
            </a:r>
            <a:r>
              <a:rPr lang="en-US" sz="1600" dirty="0"/>
              <a:t>(</a:t>
            </a:r>
            <a:r>
              <a:rPr lang="en-US" sz="1600" dirty="0" err="1"/>
              <a:t>name.charAt</a:t>
            </a:r>
            <a:r>
              <a:rPr lang="en-US" sz="1600" dirty="0"/>
              <a:t>(1));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err="1"/>
              <a:t>charAt</a:t>
            </a:r>
            <a:r>
              <a:rPr lang="en-US" sz="1600" dirty="0"/>
              <a:t>(1) → used to </a:t>
            </a:r>
            <a:r>
              <a:rPr lang="en-US" sz="1600" b="1" dirty="0"/>
              <a:t>get character by index</a:t>
            </a:r>
            <a:br>
              <a:rPr lang="en-US" sz="1600" dirty="0"/>
            </a:br>
            <a:r>
              <a:rPr lang="en-US" sz="1600" dirty="0"/>
              <a:t> Index starts from </a:t>
            </a:r>
            <a:r>
              <a:rPr lang="en-US" sz="1600" b="1" dirty="0"/>
              <a:t>0</a:t>
            </a:r>
            <a:endParaRPr lang="en-US" sz="1600" dirty="0"/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A3E9B-883A-B5A1-1DCE-E9D94C2D3A1F}"/>
              </a:ext>
            </a:extLst>
          </p:cNvPr>
          <p:cNvSpPr txBox="1"/>
          <p:nvPr/>
        </p:nvSpPr>
        <p:spPr>
          <a:xfrm>
            <a:off x="90948" y="127779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Access Character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name.charAt</a:t>
            </a:r>
            <a:r>
              <a:rPr lang="en-US" dirty="0">
                <a:latin typeface="Courier New" panose="02070309020205020404" pitchFamily="49" charset="0"/>
              </a:rPr>
              <a:t>(1));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charAt</a:t>
            </a:r>
            <a:r>
              <a:rPr lang="en-US" dirty="0">
                <a:latin typeface="Courier New" panose="02070309020205020404" pitchFamily="49" charset="0"/>
              </a:rPr>
              <a:t>(1)</a:t>
            </a:r>
            <a:r>
              <a:rPr lang="en-US" dirty="0"/>
              <a:t> → used to </a:t>
            </a:r>
            <a:r>
              <a:rPr lang="en-US" b="1" dirty="0"/>
              <a:t>get character by index</a:t>
            </a:r>
            <a:br>
              <a:rPr lang="en-US" dirty="0"/>
            </a:br>
            <a:r>
              <a:rPr lang="en-US" dirty="0"/>
              <a:t> Index starts from </a:t>
            </a:r>
            <a:r>
              <a:rPr lang="en-US" b="1" dirty="0"/>
              <a:t>0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1F8DF1-8266-03D2-B606-53D1271A825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5566899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733378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038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831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218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711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i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13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46E2FA-A137-FD13-6250-95B813927857}"/>
              </a:ext>
            </a:extLst>
          </p:cNvPr>
          <p:cNvSpPr txBox="1"/>
          <p:nvPr/>
        </p:nvSpPr>
        <p:spPr>
          <a:xfrm>
            <a:off x="471949" y="541802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So, </a:t>
            </a:r>
            <a:r>
              <a:rPr lang="en-US" dirty="0" err="1">
                <a:latin typeface="Courier New" panose="02070309020205020404" pitchFamily="49" charset="0"/>
              </a:rPr>
              <a:t>charAt</a:t>
            </a:r>
            <a:r>
              <a:rPr lang="en-US" dirty="0">
                <a:latin typeface="Courier New" panose="02070309020205020404" pitchFamily="49" charset="0"/>
              </a:rPr>
              <a:t>(1)</a:t>
            </a:r>
            <a:r>
              <a:rPr lang="en-US" dirty="0"/>
              <a:t> = </a:t>
            </a:r>
            <a:r>
              <a:rPr lang="en-US" b="1" dirty="0"/>
              <a:t>a</a:t>
            </a:r>
            <a:endParaRPr lang="en-US" dirty="0"/>
          </a:p>
          <a:p>
            <a:pPr>
              <a:buNone/>
            </a:pPr>
            <a:r>
              <a:rPr lang="en-US" dirty="0"/>
              <a:t> Output: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749447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D985-7AC9-FA89-6DB8-A6FE4CC2F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0" y="140504"/>
            <a:ext cx="10515600" cy="681037"/>
          </a:xfrm>
        </p:spPr>
        <p:txBody>
          <a:bodyPr>
            <a:normAutofit/>
          </a:bodyPr>
          <a:lstStyle/>
          <a:p>
            <a:r>
              <a:rPr lang="en-IN" sz="1800" b="1" dirty="0"/>
              <a:t>String vs </a:t>
            </a:r>
            <a:r>
              <a:rPr lang="en-IN" sz="1800" b="1" dirty="0" err="1"/>
              <a:t>StringBuffer</a:t>
            </a:r>
            <a:r>
              <a:rPr lang="en-IN" sz="1800" b="1" dirty="0"/>
              <a:t> vs StringBuilder</a:t>
            </a:r>
            <a:endParaRPr lang="en-IN" sz="1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B919F7-4075-EB1F-1591-E0F6BFEE4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806624"/>
              </p:ext>
            </p:extLst>
          </p:nvPr>
        </p:nvGraphicFramePr>
        <p:xfrm>
          <a:off x="287593" y="821541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549592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337395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791645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54853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Thread 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55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04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StringBuffer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342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StringBuilder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3048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1EBD49-46E8-4E24-F1F5-5390FDF4C775}"/>
              </a:ext>
            </a:extLst>
          </p:cNvPr>
          <p:cNvSpPr txBox="1"/>
          <p:nvPr/>
        </p:nvSpPr>
        <p:spPr>
          <a:xfrm>
            <a:off x="287593" y="238765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class Main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String str = "Hello";</a:t>
            </a:r>
          </a:p>
          <a:p>
            <a:r>
              <a:rPr lang="en-IN" dirty="0"/>
              <a:t>        </a:t>
            </a:r>
            <a:r>
              <a:rPr lang="en-IN" dirty="0" err="1"/>
              <a:t>str.concat</a:t>
            </a:r>
            <a:r>
              <a:rPr lang="en-IN" dirty="0"/>
              <a:t>(" World");   // No change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StringBuffer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StringBuffer</a:t>
            </a:r>
            <a:r>
              <a:rPr lang="en-IN" dirty="0"/>
              <a:t>("Hello");</a:t>
            </a:r>
          </a:p>
          <a:p>
            <a:r>
              <a:rPr lang="en-IN" dirty="0"/>
              <a:t>        </a:t>
            </a:r>
            <a:r>
              <a:rPr lang="en-IN" dirty="0" err="1"/>
              <a:t>sb.append</a:t>
            </a:r>
            <a:r>
              <a:rPr lang="en-IN" dirty="0"/>
              <a:t>(" World");   // Changes</a:t>
            </a:r>
          </a:p>
          <a:p>
            <a:endParaRPr lang="en-IN" dirty="0"/>
          </a:p>
          <a:p>
            <a:r>
              <a:rPr lang="en-IN" dirty="0"/>
              <a:t>        StringBuilder sb2 = new StringBuilder("Hello");</a:t>
            </a:r>
          </a:p>
          <a:p>
            <a:r>
              <a:rPr lang="en-IN" dirty="0"/>
              <a:t>        sb2.append(" World");  // Changes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(str);  // Hello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</a:t>
            </a:r>
            <a:r>
              <a:rPr lang="en-IN" dirty="0"/>
              <a:t>);   // Hello World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(sb2);  // Hello World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1029799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AEA9-D5D7-7339-574E-F1E6A549E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5413664" cy="524741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public class Main {</a:t>
            </a:r>
          </a:p>
          <a:p>
            <a:pPr marL="0" indent="0">
              <a:buNone/>
            </a:pPr>
            <a:r>
              <a:rPr lang="en-US" dirty="0"/>
              <a:t> Defines a class named Main</a:t>
            </a:r>
          </a:p>
          <a:p>
            <a:pPr marL="0" indent="0">
              <a:buNone/>
            </a:pPr>
            <a:r>
              <a:rPr lang="en-US" b="1" dirty="0"/>
              <a:t>Reason:</a:t>
            </a:r>
            <a:br>
              <a:rPr lang="en-US" dirty="0"/>
            </a:br>
            <a:r>
              <a:rPr lang="en-US" dirty="0"/>
              <a:t> Every Java program must be inside a class</a:t>
            </a:r>
            <a:br>
              <a:rPr lang="en-US" dirty="0"/>
            </a:br>
            <a:r>
              <a:rPr lang="en-US" dirty="0"/>
              <a:t> It acts as a container for all code</a:t>
            </a:r>
          </a:p>
          <a:p>
            <a:pPr marL="0" indent="0">
              <a:buNone/>
            </a:pPr>
            <a:r>
              <a:rPr lang="en-US" b="1" dirty="0"/>
              <a:t>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pPr marL="0" indent="0">
              <a:buNone/>
            </a:pPr>
            <a:r>
              <a:rPr lang="en-US" dirty="0"/>
              <a:t>Main method — starting point of the program</a:t>
            </a:r>
          </a:p>
          <a:p>
            <a:pPr marL="0" indent="0">
              <a:buNone/>
            </a:pPr>
            <a:r>
              <a:rPr lang="en-US" b="1" dirty="0"/>
              <a:t>Reason:</a:t>
            </a:r>
            <a:br>
              <a:rPr lang="en-US" dirty="0"/>
            </a:br>
            <a:r>
              <a:rPr lang="en-US" dirty="0"/>
              <a:t> JVM starts execution from main()</a:t>
            </a:r>
            <a:br>
              <a:rPr lang="en-US" dirty="0"/>
            </a:br>
            <a:r>
              <a:rPr lang="en-US" dirty="0"/>
              <a:t>Without this method, program will not run</a:t>
            </a:r>
          </a:p>
          <a:p>
            <a:pPr marL="0" indent="0">
              <a:buNone/>
            </a:pPr>
            <a:r>
              <a:rPr lang="en-US" b="1" dirty="0"/>
              <a:t>String str = "Hello";</a:t>
            </a:r>
          </a:p>
          <a:p>
            <a:pPr marL="0" indent="0">
              <a:buNone/>
            </a:pPr>
            <a:r>
              <a:rPr lang="en-US" dirty="0"/>
              <a:t>Creates a String variable str and assigns value "Hello"</a:t>
            </a:r>
          </a:p>
          <a:p>
            <a:pPr marL="0" indent="0">
              <a:buNone/>
            </a:pPr>
            <a:r>
              <a:rPr lang="en-US" b="1" dirty="0"/>
              <a:t>Reason:</a:t>
            </a:r>
            <a:br>
              <a:rPr lang="en-US" dirty="0"/>
            </a:br>
            <a:r>
              <a:rPr lang="en-US" dirty="0"/>
              <a:t> Used to store text data</a:t>
            </a:r>
            <a:br>
              <a:rPr lang="en-US" dirty="0"/>
            </a:br>
            <a:r>
              <a:rPr lang="en-US" dirty="0"/>
              <a:t>String is </a:t>
            </a:r>
            <a:r>
              <a:rPr lang="en-US" b="1" dirty="0"/>
              <a:t>immutable</a:t>
            </a:r>
            <a:r>
              <a:rPr lang="en-US" dirty="0"/>
              <a:t> (cannot change directly)</a:t>
            </a:r>
            <a:br>
              <a:rPr lang="en-US" dirty="0"/>
            </a:br>
            <a:r>
              <a:rPr lang="en-US" dirty="0"/>
              <a:t>Best for fixed values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35027-244F-9DB3-5703-D972CF5269D8}"/>
              </a:ext>
            </a:extLst>
          </p:cNvPr>
          <p:cNvSpPr txBox="1"/>
          <p:nvPr/>
        </p:nvSpPr>
        <p:spPr>
          <a:xfrm>
            <a:off x="-24244" y="4826675"/>
            <a:ext cx="6120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>
                <a:latin typeface="Courier New" panose="02070309020205020404" pitchFamily="49" charset="0"/>
              </a:rPr>
              <a:t>str.concat</a:t>
            </a:r>
            <a:r>
              <a:rPr lang="en-US" b="1" dirty="0">
                <a:latin typeface="Courier New" panose="02070309020205020404" pitchFamily="49" charset="0"/>
              </a:rPr>
              <a:t>(" World"); // No change</a:t>
            </a:r>
            <a:endParaRPr lang="en-US" b="1" dirty="0"/>
          </a:p>
          <a:p>
            <a:pPr>
              <a:buNone/>
            </a:pPr>
            <a:r>
              <a:rPr lang="en-US" dirty="0"/>
              <a:t> Tries to add </a:t>
            </a:r>
            <a:r>
              <a:rPr lang="en-US" dirty="0">
                <a:latin typeface="Courier New" panose="02070309020205020404" pitchFamily="49" charset="0"/>
              </a:rPr>
              <a:t>" World"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"Hello"</a:t>
            </a:r>
            <a:endParaRPr lang="en-US" dirty="0"/>
          </a:p>
          <a:p>
            <a:pPr>
              <a:buNone/>
            </a:pPr>
            <a:r>
              <a:rPr lang="en-US" b="1" dirty="0"/>
              <a:t>Reason: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concat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creates a </a:t>
            </a:r>
            <a:r>
              <a:rPr lang="en-US" b="1" dirty="0"/>
              <a:t>new String object</a:t>
            </a:r>
            <a:br>
              <a:rPr lang="en-US" dirty="0"/>
            </a:br>
            <a:r>
              <a:rPr lang="en-US" dirty="0"/>
              <a:t> But it is </a:t>
            </a:r>
            <a:r>
              <a:rPr lang="en-US" b="1" dirty="0"/>
              <a:t>not assigned back to </a:t>
            </a:r>
            <a:r>
              <a:rPr lang="en-US" b="1" dirty="0">
                <a:latin typeface="Courier New" panose="02070309020205020404" pitchFamily="49" charset="0"/>
              </a:rPr>
              <a:t>str</a:t>
            </a:r>
            <a:endParaRPr lang="en-US" dirty="0"/>
          </a:p>
          <a:p>
            <a:pPr>
              <a:buNone/>
            </a:pPr>
            <a:r>
              <a:rPr lang="en-US" dirty="0"/>
              <a:t> So original value remains: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str = "Hello"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DE727-2557-7350-AB33-607AFFB0C8DC}"/>
              </a:ext>
            </a:extLst>
          </p:cNvPr>
          <p:cNvSpPr txBox="1"/>
          <p:nvPr/>
        </p:nvSpPr>
        <p:spPr>
          <a:xfrm>
            <a:off x="6061364" y="106831"/>
            <a:ext cx="61306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What is </a:t>
            </a:r>
            <a:r>
              <a:rPr lang="en-IN" b="1" dirty="0" err="1">
                <a:latin typeface="Courier New" panose="02070309020205020404" pitchFamily="49" charset="0"/>
              </a:rPr>
              <a:t>concat</a:t>
            </a:r>
            <a:r>
              <a:rPr lang="en-IN" b="1" dirty="0">
                <a:latin typeface="Courier New" panose="02070309020205020404" pitchFamily="49" charset="0"/>
              </a:rPr>
              <a:t>()</a:t>
            </a:r>
            <a:r>
              <a:rPr lang="en-IN" b="1" dirty="0"/>
              <a:t>?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dirty="0" err="1">
                <a:latin typeface="Courier New" panose="02070309020205020404" pitchFamily="49" charset="0"/>
              </a:rPr>
              <a:t>concat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= </a:t>
            </a:r>
            <a:r>
              <a:rPr lang="en-IN" b="1" dirty="0"/>
              <a:t>join two strings</a:t>
            </a:r>
            <a:endParaRPr lang="en-IN" dirty="0"/>
          </a:p>
          <a:p>
            <a:pPr>
              <a:buNone/>
            </a:pPr>
            <a:r>
              <a:rPr lang="en-IN" b="1" dirty="0"/>
              <a:t>Syntax: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string.concat</a:t>
            </a:r>
            <a:r>
              <a:rPr lang="en-IN" dirty="0">
                <a:latin typeface="Courier New" panose="02070309020205020404" pitchFamily="49" charset="0"/>
              </a:rPr>
              <a:t>("text")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 </a:t>
            </a:r>
            <a:r>
              <a:rPr lang="en-IN" b="1" dirty="0" err="1"/>
              <a:t>Example:</a:t>
            </a:r>
            <a:r>
              <a:rPr lang="en-IN" dirty="0" err="1">
                <a:latin typeface="Courier New" panose="02070309020205020404" pitchFamily="49" charset="0"/>
              </a:rPr>
              <a:t>String</a:t>
            </a:r>
            <a:r>
              <a:rPr lang="en-IN" dirty="0">
                <a:latin typeface="Courier New" panose="02070309020205020404" pitchFamily="49" charset="0"/>
              </a:rPr>
              <a:t> s = "Hello";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String result = </a:t>
            </a:r>
            <a:r>
              <a:rPr lang="en-IN" dirty="0" err="1">
                <a:latin typeface="Courier New" panose="02070309020205020404" pitchFamily="49" charset="0"/>
              </a:rPr>
              <a:t>s.concat</a:t>
            </a:r>
            <a:r>
              <a:rPr lang="en-IN" dirty="0">
                <a:latin typeface="Courier New" panose="02070309020205020404" pitchFamily="49" charset="0"/>
              </a:rPr>
              <a:t>(" World");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(result);</a:t>
            </a:r>
          </a:p>
          <a:p>
            <a:pPr>
              <a:buNone/>
            </a:pPr>
            <a:r>
              <a:rPr lang="en-IN" dirty="0"/>
              <a:t> Output: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Hello World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FFC21-D987-F90D-7DB0-7A06A69F3603}"/>
              </a:ext>
            </a:extLst>
          </p:cNvPr>
          <p:cNvSpPr txBox="1"/>
          <p:nvPr/>
        </p:nvSpPr>
        <p:spPr>
          <a:xfrm>
            <a:off x="5895110" y="3288683"/>
            <a:ext cx="6130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concat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does NOT change original string</a:t>
            </a:r>
          </a:p>
          <a:p>
            <a:pPr>
              <a:buNone/>
            </a:pPr>
            <a:r>
              <a:rPr lang="en-US" dirty="0"/>
              <a:t> It returns a </a:t>
            </a:r>
            <a:r>
              <a:rPr lang="en-US" b="1" dirty="0"/>
              <a:t>new string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92421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62145A-11BE-59BA-D4C7-380F265271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671240"/>
              </p:ext>
            </p:extLst>
          </p:nvPr>
        </p:nvGraphicFramePr>
        <p:xfrm>
          <a:off x="432955" y="196144"/>
          <a:ext cx="11578935" cy="2103120"/>
        </p:xfrm>
        <a:graphic>
          <a:graphicData uri="http://schemas.openxmlformats.org/drawingml/2006/table">
            <a:tbl>
              <a:tblPr/>
              <a:tblGrid>
                <a:gridCol w="3859645">
                  <a:extLst>
                    <a:ext uri="{9D8B030D-6E8A-4147-A177-3AD203B41FA5}">
                      <a16:colId xmlns:a16="http://schemas.microsoft.com/office/drawing/2014/main" val="2788032594"/>
                    </a:ext>
                  </a:extLst>
                </a:gridCol>
                <a:gridCol w="3859645">
                  <a:extLst>
                    <a:ext uri="{9D8B030D-6E8A-4147-A177-3AD203B41FA5}">
                      <a16:colId xmlns:a16="http://schemas.microsoft.com/office/drawing/2014/main" val="1789808573"/>
                    </a:ext>
                  </a:extLst>
                </a:gridCol>
                <a:gridCol w="3859645">
                  <a:extLst>
                    <a:ext uri="{9D8B030D-6E8A-4147-A177-3AD203B41FA5}">
                      <a16:colId xmlns:a16="http://schemas.microsoft.com/office/drawing/2014/main" val="23922708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Immutable (String)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Mutable (</a:t>
                      </a:r>
                      <a:r>
                        <a:rPr lang="en-IN" b="1" dirty="0" err="1"/>
                        <a:t>StringBuffer</a:t>
                      </a:r>
                      <a:r>
                        <a:rPr lang="en-IN" b="1" dirty="0"/>
                        <a:t> / StringBuilder)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105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525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New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989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65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concat()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append()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203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328F2D-1F15-EDD0-3B5D-62323FB1FB26}"/>
              </a:ext>
            </a:extLst>
          </p:cNvPr>
          <p:cNvSpPr txBox="1"/>
          <p:nvPr/>
        </p:nvSpPr>
        <p:spPr>
          <a:xfrm>
            <a:off x="324715" y="2662443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String Methods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43F9D-E706-1042-7DAE-19F4BB50301C}"/>
              </a:ext>
            </a:extLst>
          </p:cNvPr>
          <p:cNvSpPr txBox="1"/>
          <p:nvPr/>
        </p:nvSpPr>
        <p:spPr>
          <a:xfrm>
            <a:off x="218210" y="3031775"/>
            <a:ext cx="60942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String methods are </a:t>
            </a:r>
            <a:r>
              <a:rPr lang="en-IN" b="1" dirty="0"/>
              <a:t>built-in functions</a:t>
            </a:r>
            <a:r>
              <a:rPr lang="en-IN" dirty="0"/>
              <a:t> used to perform operations on strings (like length, case change, substring, etc.)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D43FE7-C5EF-199D-D048-1A8769DB5457}"/>
              </a:ext>
            </a:extLst>
          </p:cNvPr>
          <p:cNvSpPr txBox="1"/>
          <p:nvPr/>
        </p:nvSpPr>
        <p:spPr>
          <a:xfrm>
            <a:off x="6097732" y="2299264"/>
            <a:ext cx="60942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public class Main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public static void main(String[] </a:t>
            </a:r>
            <a:r>
              <a:rPr lang="en-IN" dirty="0" err="1">
                <a:latin typeface="Courier New" panose="02070309020205020404" pitchFamily="49" charset="0"/>
              </a:rPr>
              <a:t>args</a:t>
            </a:r>
            <a:r>
              <a:rPr lang="en-IN" dirty="0">
                <a:latin typeface="Courier New" panose="02070309020205020404" pitchFamily="49" charset="0"/>
              </a:rPr>
              <a:t>)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String text = "Java";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text.length</a:t>
            </a:r>
            <a:r>
              <a:rPr lang="en-IN" dirty="0">
                <a:latin typeface="Courier New" panose="02070309020205020404" pitchFamily="49" charset="0"/>
              </a:rPr>
              <a:t>());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text.toUpperCase</a:t>
            </a:r>
            <a:r>
              <a:rPr lang="en-IN" dirty="0">
                <a:latin typeface="Courier New" panose="02070309020205020404" pitchFamily="49" charset="0"/>
              </a:rPr>
              <a:t>());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text.substring</a:t>
            </a:r>
            <a:r>
              <a:rPr lang="en-IN" dirty="0">
                <a:latin typeface="Courier New" panose="02070309020205020404" pitchFamily="49" charset="0"/>
              </a:rPr>
              <a:t>(1));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372292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5FDF8-8ADB-2DBA-A0DB-5CBB0AB01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225424"/>
            <a:ext cx="10515600" cy="636241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String text = "Java";</a:t>
            </a:r>
          </a:p>
          <a:p>
            <a:pPr marL="0" indent="0">
              <a:buNone/>
            </a:pPr>
            <a:r>
              <a:rPr lang="en-IN" dirty="0"/>
              <a:t>Creates a string variable</a:t>
            </a:r>
          </a:p>
          <a:p>
            <a:pPr marL="0" indent="0">
              <a:buNone/>
            </a:pPr>
            <a:r>
              <a:rPr lang="en-IN" b="1" dirty="0"/>
              <a:t>Reason:</a:t>
            </a:r>
            <a:br>
              <a:rPr lang="en-IN" dirty="0"/>
            </a:br>
            <a:r>
              <a:rPr lang="en-IN" dirty="0"/>
              <a:t>To store text for performing operations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 </a:t>
            </a:r>
            <a:r>
              <a:rPr lang="en-IN" b="1" dirty="0" err="1"/>
              <a:t>text.length</a:t>
            </a:r>
            <a:r>
              <a:rPr lang="en-IN" b="1" dirty="0"/>
              <a:t>();</a:t>
            </a:r>
          </a:p>
          <a:p>
            <a:pPr marL="0" indent="0">
              <a:buNone/>
            </a:pPr>
            <a:r>
              <a:rPr lang="en-IN" dirty="0"/>
              <a:t> Returns number of characters</a:t>
            </a:r>
          </a:p>
          <a:p>
            <a:pPr marL="0" indent="0">
              <a:buNone/>
            </a:pPr>
            <a:r>
              <a:rPr lang="en-IN" b="1" dirty="0"/>
              <a:t>Rason:</a:t>
            </a:r>
            <a:br>
              <a:rPr lang="en-IN" dirty="0"/>
            </a:br>
            <a:r>
              <a:rPr lang="en-IN" dirty="0"/>
              <a:t> Used to find string size</a:t>
            </a:r>
          </a:p>
          <a:p>
            <a:pPr marL="0" indent="0">
              <a:buNone/>
            </a:pPr>
            <a:r>
              <a:rPr lang="en-IN" dirty="0"/>
              <a:t> Output:</a:t>
            </a:r>
          </a:p>
          <a:p>
            <a:pPr marL="0" indent="0">
              <a:buNone/>
            </a:pPr>
            <a:r>
              <a:rPr lang="en-IN" dirty="0"/>
              <a:t>4</a:t>
            </a:r>
          </a:p>
          <a:p>
            <a:pPr marL="0" indent="0">
              <a:buNone/>
            </a:pPr>
            <a:r>
              <a:rPr lang="en-IN" b="1" dirty="0"/>
              <a:t> </a:t>
            </a:r>
            <a:r>
              <a:rPr lang="en-IN" b="1" dirty="0" err="1"/>
              <a:t>text.toUpperCase</a:t>
            </a:r>
            <a:r>
              <a:rPr lang="en-IN" b="1" dirty="0"/>
              <a:t>();</a:t>
            </a:r>
          </a:p>
          <a:p>
            <a:pPr marL="0" indent="0">
              <a:buNone/>
            </a:pPr>
            <a:r>
              <a:rPr lang="en-IN" dirty="0"/>
              <a:t> Converts all characters to uppercase</a:t>
            </a:r>
          </a:p>
          <a:p>
            <a:pPr marL="0" indent="0">
              <a:buNone/>
            </a:pPr>
            <a:r>
              <a:rPr lang="en-IN" b="1" dirty="0"/>
              <a:t>Reason:</a:t>
            </a:r>
            <a:br>
              <a:rPr lang="en-IN" dirty="0"/>
            </a:br>
            <a:r>
              <a:rPr lang="en-IN" dirty="0"/>
              <a:t> Used for formatting text</a:t>
            </a:r>
          </a:p>
          <a:p>
            <a:pPr marL="0" indent="0">
              <a:buNone/>
            </a:pPr>
            <a:r>
              <a:rPr lang="en-IN" dirty="0"/>
              <a:t> Output:</a:t>
            </a:r>
          </a:p>
          <a:p>
            <a:pPr marL="0" indent="0">
              <a:buNone/>
            </a:pPr>
            <a:r>
              <a:rPr lang="en-IN" dirty="0"/>
              <a:t>JAVA</a:t>
            </a:r>
          </a:p>
          <a:p>
            <a:pPr marL="0" indent="0">
              <a:buNone/>
            </a:pPr>
            <a:r>
              <a:rPr lang="en-IN" b="1" dirty="0"/>
              <a:t> </a:t>
            </a:r>
            <a:r>
              <a:rPr lang="en-IN" b="1" dirty="0" err="1"/>
              <a:t>text.substring</a:t>
            </a:r>
            <a:r>
              <a:rPr lang="en-IN" b="1" dirty="0"/>
              <a:t>(1);</a:t>
            </a:r>
          </a:p>
          <a:p>
            <a:pPr marL="0" indent="0">
              <a:buNone/>
            </a:pPr>
            <a:r>
              <a:rPr lang="en-IN" dirty="0"/>
              <a:t> Extracts part of string from index 1</a:t>
            </a:r>
          </a:p>
          <a:p>
            <a:pPr marL="0" indent="0">
              <a:buNone/>
            </a:pPr>
            <a:r>
              <a:rPr lang="en-IN" b="1" dirty="0"/>
              <a:t>Reason:</a:t>
            </a:r>
            <a:br>
              <a:rPr lang="en-IN" dirty="0"/>
            </a:br>
            <a:r>
              <a:rPr lang="en-IN" dirty="0"/>
              <a:t> Used to get a portion of string</a:t>
            </a:r>
          </a:p>
          <a:p>
            <a:pPr marL="0" indent="0">
              <a:buNone/>
            </a:pPr>
            <a:r>
              <a:rPr lang="en-IN" dirty="0"/>
              <a:t> Output:</a:t>
            </a:r>
          </a:p>
          <a:p>
            <a:pPr marL="0" indent="0">
              <a:buNone/>
            </a:pPr>
            <a:r>
              <a:rPr lang="en-IN" dirty="0"/>
              <a:t>ava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21188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C2A1A-A7A1-BED0-5E6F-08C176A41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046" y="79953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String Comparison</a:t>
            </a:r>
          </a:p>
          <a:p>
            <a:pPr marL="0" indent="0">
              <a:buNone/>
            </a:pPr>
            <a:r>
              <a:rPr lang="en-IN" dirty="0"/>
              <a:t> Used to compare two strings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String a = "Java";</a:t>
            </a:r>
            <a:br>
              <a:rPr lang="en-IN" dirty="0"/>
            </a:br>
            <a:r>
              <a:rPr lang="en-IN" dirty="0"/>
              <a:t>        String b = "Java";</a:t>
            </a:r>
            <a:br>
              <a:rPr lang="en-IN" dirty="0"/>
            </a:br>
            <a:r>
              <a:rPr lang="en-IN" dirty="0"/>
              <a:t>        String c = new String("Java");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(a == b);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(a == c);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a.equals</a:t>
            </a:r>
            <a:r>
              <a:rPr lang="en-IN" dirty="0"/>
              <a:t>(c));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73961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BF582-7459-C776-ECA0-E2013D17A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555" y="505980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String a = "Java";</a:t>
            </a:r>
          </a:p>
          <a:p>
            <a:pPr marL="0" indent="0">
              <a:buNone/>
            </a:pPr>
            <a:r>
              <a:rPr lang="en-IN" dirty="0"/>
              <a:t> Creates string in </a:t>
            </a:r>
            <a:r>
              <a:rPr lang="en-IN" b="1" dirty="0"/>
              <a:t>string pool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 String b = "Java";</a:t>
            </a:r>
          </a:p>
          <a:p>
            <a:pPr marL="0" indent="0">
              <a:buNone/>
            </a:pPr>
            <a:r>
              <a:rPr lang="en-IN" dirty="0"/>
              <a:t> Points to same object as a</a:t>
            </a:r>
          </a:p>
          <a:p>
            <a:pPr marL="0" indent="0">
              <a:buNone/>
            </a:pPr>
            <a:r>
              <a:rPr lang="en-IN" b="1" dirty="0"/>
              <a:t>Reason:</a:t>
            </a:r>
            <a:br>
              <a:rPr lang="en-IN" dirty="0"/>
            </a:br>
            <a:r>
              <a:rPr lang="en-IN" dirty="0"/>
              <a:t> Java reuses memory for same values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 String c = new String("Java");</a:t>
            </a:r>
          </a:p>
          <a:p>
            <a:pPr marL="0" indent="0">
              <a:buNone/>
            </a:pPr>
            <a:r>
              <a:rPr lang="en-IN" dirty="0"/>
              <a:t> Creates a </a:t>
            </a:r>
            <a:r>
              <a:rPr lang="en-IN" b="1" dirty="0"/>
              <a:t>new object in heap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Reason:</a:t>
            </a:r>
            <a:br>
              <a:rPr lang="en-IN" dirty="0"/>
            </a:br>
            <a:r>
              <a:rPr lang="en-IN" dirty="0"/>
              <a:t> new keyword forces new memory allocation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14000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62542-3075-DB1B-C87F-88DA86793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0"/>
            <a:ext cx="10515600" cy="62865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a == b</a:t>
            </a:r>
          </a:p>
          <a:p>
            <a:pPr marL="0" indent="0">
              <a:buNone/>
            </a:pPr>
            <a:r>
              <a:rPr lang="en-IN" dirty="0"/>
              <a:t> Compares </a:t>
            </a:r>
            <a:r>
              <a:rPr lang="en-IN" b="1" dirty="0"/>
              <a:t>memory reference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Output:</a:t>
            </a:r>
          </a:p>
          <a:p>
            <a:pPr marL="0" indent="0">
              <a:buNone/>
            </a:pPr>
            <a:r>
              <a:rPr lang="en-IN" dirty="0"/>
              <a:t>true</a:t>
            </a:r>
          </a:p>
          <a:p>
            <a:pPr marL="0" indent="0">
              <a:buNone/>
            </a:pPr>
            <a:r>
              <a:rPr lang="en-IN" b="1" dirty="0"/>
              <a:t>Reason:</a:t>
            </a:r>
            <a:br>
              <a:rPr lang="en-IN" dirty="0"/>
            </a:br>
            <a:r>
              <a:rPr lang="en-IN" dirty="0"/>
              <a:t> Both point to same object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 a == c</a:t>
            </a:r>
          </a:p>
          <a:p>
            <a:pPr marL="0" indent="0">
              <a:buNone/>
            </a:pPr>
            <a:r>
              <a:rPr lang="en-IN" dirty="0"/>
              <a:t> Compares memory</a:t>
            </a:r>
          </a:p>
          <a:p>
            <a:pPr marL="0" indent="0">
              <a:buNone/>
            </a:pPr>
            <a:r>
              <a:rPr lang="en-IN" dirty="0"/>
              <a:t> Output:</a:t>
            </a:r>
          </a:p>
          <a:p>
            <a:pPr marL="0" indent="0">
              <a:buNone/>
            </a:pPr>
            <a:r>
              <a:rPr lang="en-IN" dirty="0"/>
              <a:t>false</a:t>
            </a:r>
          </a:p>
          <a:p>
            <a:pPr marL="0" indent="0">
              <a:buNone/>
            </a:pPr>
            <a:r>
              <a:rPr lang="en-IN" b="1" dirty="0"/>
              <a:t>Reason:</a:t>
            </a:r>
            <a:br>
              <a:rPr lang="en-IN" dirty="0"/>
            </a:br>
            <a:r>
              <a:rPr lang="en-IN" dirty="0"/>
              <a:t> Different objects in memory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 </a:t>
            </a:r>
            <a:r>
              <a:rPr lang="en-IN" b="1" dirty="0" err="1"/>
              <a:t>a.equals</a:t>
            </a:r>
            <a:r>
              <a:rPr lang="en-IN" b="1" dirty="0"/>
              <a:t>(c)</a:t>
            </a:r>
          </a:p>
          <a:p>
            <a:pPr marL="0" indent="0">
              <a:buNone/>
            </a:pPr>
            <a:r>
              <a:rPr lang="en-IN" dirty="0"/>
              <a:t> Compares </a:t>
            </a:r>
            <a:r>
              <a:rPr lang="en-IN" b="1" dirty="0"/>
              <a:t>values (content)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Output:</a:t>
            </a:r>
          </a:p>
          <a:p>
            <a:pPr marL="0" indent="0">
              <a:buNone/>
            </a:pPr>
            <a:r>
              <a:rPr lang="en-IN" dirty="0"/>
              <a:t>true</a:t>
            </a:r>
          </a:p>
          <a:p>
            <a:pPr marL="0" indent="0">
              <a:buNone/>
            </a:pPr>
            <a:r>
              <a:rPr lang="en-IN" b="1" dirty="0"/>
              <a:t>Reason:</a:t>
            </a:r>
            <a:br>
              <a:rPr lang="en-IN" dirty="0"/>
            </a:br>
            <a:r>
              <a:rPr lang="en-IN" dirty="0"/>
              <a:t> Both contain same text "Java"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48013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58B6F-72ED-D88F-4AC3-34D928909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9" y="95147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Introduction of OOPs</a:t>
            </a:r>
          </a:p>
          <a:p>
            <a:pPr marL="0" indent="0">
              <a:buNone/>
            </a:pPr>
            <a:r>
              <a:rPr lang="en-US" b="1" dirty="0"/>
              <a:t>Theory</a:t>
            </a:r>
          </a:p>
          <a:p>
            <a:pPr marL="0" indent="0">
              <a:buNone/>
            </a:pPr>
            <a:r>
              <a:rPr lang="en-US" dirty="0"/>
              <a:t>OOPs (Object-Oriented Programming System) is a way of writing programs using </a:t>
            </a:r>
            <a:r>
              <a:rPr lang="en-US" b="1" dirty="0"/>
              <a:t>objects and classes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Instead of writing everything in one place, we divide into :</a:t>
            </a:r>
          </a:p>
          <a:p>
            <a:pPr marL="0" indent="0">
              <a:buNone/>
            </a:pPr>
            <a:r>
              <a:rPr lang="en-US" dirty="0"/>
              <a:t>Class → Blueprint </a:t>
            </a:r>
          </a:p>
          <a:p>
            <a:pPr marL="0" indent="0">
              <a:buNone/>
            </a:pPr>
            <a:r>
              <a:rPr lang="en-US" dirty="0"/>
              <a:t>Object → Real-world thing </a:t>
            </a:r>
          </a:p>
          <a:p>
            <a:pPr marL="0" indent="0">
              <a:buNone/>
            </a:pPr>
            <a:r>
              <a:rPr lang="en-US" b="1" dirty="0"/>
              <a:t> Why OOPs?</a:t>
            </a:r>
          </a:p>
          <a:p>
            <a:pPr marL="0" indent="0">
              <a:buNone/>
            </a:pPr>
            <a:r>
              <a:rPr lang="en-US" dirty="0"/>
              <a:t>Easy to understand </a:t>
            </a:r>
          </a:p>
          <a:p>
            <a:pPr marL="0" indent="0">
              <a:buNone/>
            </a:pPr>
            <a:r>
              <a:rPr lang="en-US" dirty="0"/>
              <a:t>Code reuse </a:t>
            </a:r>
          </a:p>
          <a:p>
            <a:pPr marL="0" indent="0">
              <a:buNone/>
            </a:pPr>
            <a:r>
              <a:rPr lang="en-US" dirty="0"/>
              <a:t>Real-world mapping </a:t>
            </a:r>
          </a:p>
          <a:p>
            <a:pPr marL="0" indent="0">
              <a:buNone/>
            </a:pPr>
            <a:r>
              <a:rPr lang="en-US" b="1" dirty="0"/>
              <a:t>Example (Real Life)</a:t>
            </a:r>
          </a:p>
          <a:p>
            <a:pPr marL="0" indent="0">
              <a:buNone/>
            </a:pPr>
            <a:r>
              <a:rPr lang="en-US" dirty="0"/>
              <a:t>Class = Car Design </a:t>
            </a:r>
            <a:br>
              <a:rPr lang="en-US" dirty="0"/>
            </a:br>
            <a:br>
              <a:rPr lang="en-US" dirty="0"/>
            </a:br>
            <a:r>
              <a:rPr lang="en-IN" dirty="0"/>
              <a:t>Object = BMW, Audi, Tesla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40110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7C685-65DD-1360-8B26-A3E145DF3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425" y="232799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Practical (Java Example)</a:t>
            </a:r>
          </a:p>
          <a:p>
            <a:pPr marL="0" indent="0">
              <a:buNone/>
            </a:pPr>
            <a:r>
              <a:rPr lang="en-IN" dirty="0"/>
              <a:t>class Car {</a:t>
            </a:r>
            <a:br>
              <a:rPr lang="en-IN" dirty="0"/>
            </a:br>
            <a:r>
              <a:rPr lang="en-IN" dirty="0"/>
              <a:t>    String </a:t>
            </a:r>
            <a:r>
              <a:rPr lang="en-IN" dirty="0" err="1"/>
              <a:t>color</a:t>
            </a:r>
            <a:r>
              <a:rPr lang="en-IN" dirty="0"/>
              <a:t> = "Red";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void drive()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("Car is driving");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Main {</a:t>
            </a: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Car c1 = new Car();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(c1.color);</a:t>
            </a:r>
            <a:br>
              <a:rPr lang="en-IN" dirty="0"/>
            </a:br>
            <a:r>
              <a:rPr lang="en-IN" dirty="0"/>
              <a:t>        c1.drive();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94180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1ED6E-87C1-E2FC-2CBB-7F538F767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97" y="95147"/>
            <a:ext cx="3389671" cy="23629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Class and Object</a:t>
            </a:r>
          </a:p>
          <a:p>
            <a:pPr marL="0" indent="0">
              <a:buNone/>
            </a:pPr>
            <a:r>
              <a:rPr lang="en-US" sz="1800" b="1" dirty="0"/>
              <a:t> Theory</a:t>
            </a:r>
          </a:p>
          <a:p>
            <a:pPr marL="0" indent="0">
              <a:buNone/>
            </a:pPr>
            <a:r>
              <a:rPr lang="en-US" sz="1800" b="1" dirty="0"/>
              <a:t>Class</a:t>
            </a:r>
            <a:r>
              <a:rPr lang="en-US" sz="1800" dirty="0"/>
              <a:t> → Blueprint/template </a:t>
            </a:r>
          </a:p>
          <a:p>
            <a:pPr marL="0" indent="0">
              <a:buNone/>
            </a:pPr>
            <a:r>
              <a:rPr lang="en-US" sz="1800" b="1" dirty="0"/>
              <a:t>Object</a:t>
            </a:r>
            <a:r>
              <a:rPr lang="en-US" sz="1800" dirty="0"/>
              <a:t> → Instance of class </a:t>
            </a:r>
          </a:p>
          <a:p>
            <a:pPr marL="0" indent="0">
              <a:buNone/>
            </a:pPr>
            <a:r>
              <a:rPr lang="en-US" sz="1800" b="1" dirty="0"/>
              <a:t>Example</a:t>
            </a:r>
          </a:p>
          <a:p>
            <a:pPr marL="0" indent="0">
              <a:buNone/>
            </a:pPr>
            <a:r>
              <a:rPr lang="en-US" sz="1800" dirty="0"/>
              <a:t>Class = Student</a:t>
            </a:r>
            <a:br>
              <a:rPr lang="en-US" sz="1800" dirty="0"/>
            </a:br>
            <a:r>
              <a:rPr lang="en-US" sz="1800" dirty="0"/>
              <a:t>Object = s1, s2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ADF04-ED50-1F55-EB2F-001EB441BF0F}"/>
              </a:ext>
            </a:extLst>
          </p:cNvPr>
          <p:cNvSpPr txBox="1"/>
          <p:nvPr/>
        </p:nvSpPr>
        <p:spPr>
          <a:xfrm>
            <a:off x="7718323" y="95147"/>
            <a:ext cx="531925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/>
              <a:t>class Student {</a:t>
            </a:r>
            <a:br>
              <a:rPr lang="en-IN" dirty="0"/>
            </a:br>
            <a:r>
              <a:rPr lang="en-IN" dirty="0"/>
              <a:t>String name;</a:t>
            </a:r>
            <a:br>
              <a:rPr lang="en-IN" dirty="0"/>
            </a:br>
            <a:r>
              <a:rPr lang="en-IN" dirty="0"/>
              <a:t>int age;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void display() {</a:t>
            </a: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(name + " " + age);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Main {</a:t>
            </a:r>
            <a:br>
              <a:rPr lang="en-IN" dirty="0"/>
            </a:b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Student s1 = new Student();</a:t>
            </a:r>
            <a:br>
              <a:rPr lang="en-IN" dirty="0"/>
            </a:br>
            <a:r>
              <a:rPr lang="en-IN" dirty="0"/>
              <a:t>s1.name = "Priya";</a:t>
            </a:r>
            <a:br>
              <a:rPr lang="en-IN" dirty="0"/>
            </a:br>
            <a:r>
              <a:rPr lang="en-IN" dirty="0"/>
              <a:t>s1.age = 20;</a:t>
            </a:r>
            <a:br>
              <a:rPr lang="en-IN" dirty="0"/>
            </a:br>
            <a:r>
              <a:rPr lang="en-IN" dirty="0"/>
              <a:t>s1.display();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32D742-3AFB-A5CB-8F27-D709FBF489DF}"/>
              </a:ext>
            </a:extLst>
          </p:cNvPr>
          <p:cNvSpPr txBox="1"/>
          <p:nvPr/>
        </p:nvSpPr>
        <p:spPr>
          <a:xfrm>
            <a:off x="7069393" y="5203754"/>
            <a:ext cx="64106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Tasks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class </a:t>
            </a:r>
            <a:r>
              <a:rPr lang="en-US" dirty="0">
                <a:latin typeface="Courier New" panose="02070309020205020404" pitchFamily="49" charset="0"/>
              </a:rPr>
              <a:t>Employee</a:t>
            </a:r>
            <a:r>
              <a:rPr lang="en-US" dirty="0"/>
              <a:t> and print id &amp; salary. 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2 objects and display different values.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55FEB5F-FE51-47D6-143D-96B44E3C8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91" y="3350708"/>
            <a:ext cx="48842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class Student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Blueprint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name, 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Data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display()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Function to show data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 s1 = new Student()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Object creation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s1.name = "Priya"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Assign value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s1.display()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Print output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534107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6488-FBE5-23E6-07BD-97FCD842B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" y="119318"/>
            <a:ext cx="10515600" cy="1325563"/>
          </a:xfrm>
        </p:spPr>
        <p:txBody>
          <a:bodyPr>
            <a:normAutofit/>
          </a:bodyPr>
          <a:lstStyle/>
          <a:p>
            <a:r>
              <a:rPr lang="en-US" sz="1600" b="1" dirty="0"/>
              <a:t>Access Modifiers</a:t>
            </a:r>
            <a:br>
              <a:rPr lang="en-US" sz="1600" b="1" dirty="0"/>
            </a:br>
            <a:r>
              <a:rPr lang="en-US" sz="1600" b="1" dirty="0"/>
              <a:t> Theory</a:t>
            </a:r>
            <a:br>
              <a:rPr lang="en-US" sz="1600" b="1" dirty="0"/>
            </a:br>
            <a:r>
              <a:rPr lang="en-US" sz="1600" dirty="0"/>
              <a:t>Controls visibility of variables/methods.</a:t>
            </a:r>
            <a:br>
              <a:rPr lang="en-US" sz="1600" dirty="0"/>
            </a:br>
            <a:endParaRPr lang="en-IN" sz="1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6EA5D3-D826-258D-AAF4-9655E1259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4424761"/>
              </p:ext>
            </p:extLst>
          </p:nvPr>
        </p:nvGraphicFramePr>
        <p:xfrm>
          <a:off x="317090" y="1444881"/>
          <a:ext cx="6624484" cy="1828800"/>
        </p:xfrm>
        <a:graphic>
          <a:graphicData uri="http://schemas.openxmlformats.org/drawingml/2006/table">
            <a:tbl>
              <a:tblPr/>
              <a:tblGrid>
                <a:gridCol w="3312242">
                  <a:extLst>
                    <a:ext uri="{9D8B030D-6E8A-4147-A177-3AD203B41FA5}">
                      <a16:colId xmlns:a16="http://schemas.microsoft.com/office/drawing/2014/main" val="1197944675"/>
                    </a:ext>
                  </a:extLst>
                </a:gridCol>
                <a:gridCol w="3312242">
                  <a:extLst>
                    <a:ext uri="{9D8B030D-6E8A-4147-A177-3AD203B41FA5}">
                      <a16:colId xmlns:a16="http://schemas.microsoft.com/office/drawing/2014/main" val="10883673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258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public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Everywhere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393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private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Inside class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987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protected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package + subclass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364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Same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972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86915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83B3E-EDAA-0898-30E7-AAEB6A97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46984"/>
          </a:xfrm>
        </p:spPr>
        <p:txBody>
          <a:bodyPr/>
          <a:lstStyle/>
          <a:p>
            <a:r>
              <a:rPr lang="en-US" dirty="0"/>
              <a:t>Local Scope and Global Scope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D1BCF-9968-02E9-EA67-A484F322F26A}"/>
              </a:ext>
            </a:extLst>
          </p:cNvPr>
          <p:cNvSpPr txBox="1"/>
          <p:nvPr/>
        </p:nvSpPr>
        <p:spPr>
          <a:xfrm>
            <a:off x="179440" y="605135"/>
            <a:ext cx="62189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Theory</a:t>
            </a:r>
          </a:p>
          <a:p>
            <a:r>
              <a:rPr lang="en-US" b="1" dirty="0"/>
              <a:t>Local Variable</a:t>
            </a:r>
            <a:r>
              <a:rPr lang="en-US" dirty="0"/>
              <a:t> → Inside method </a:t>
            </a:r>
          </a:p>
          <a:p>
            <a:r>
              <a:rPr lang="en-US" b="1" dirty="0"/>
              <a:t>Global Variable</a:t>
            </a:r>
            <a:r>
              <a:rPr lang="en-US" dirty="0"/>
              <a:t> → Inside class (outside method)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78203-F3AB-0403-D03F-A667D8613D5B}"/>
              </a:ext>
            </a:extLst>
          </p:cNvPr>
          <p:cNvSpPr txBox="1"/>
          <p:nvPr/>
        </p:nvSpPr>
        <p:spPr>
          <a:xfrm>
            <a:off x="358880" y="1528465"/>
            <a:ext cx="62189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Practical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class Test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int global = 100; // global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void show()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int local = 50; // local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(local);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(global);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9ECF0-4990-4AB2-DAF4-9F74DC7D9F08}"/>
              </a:ext>
            </a:extLst>
          </p:cNvPr>
          <p:cNvSpPr txBox="1"/>
          <p:nvPr/>
        </p:nvSpPr>
        <p:spPr>
          <a:xfrm>
            <a:off x="258098" y="4390787"/>
            <a:ext cx="62189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Tasks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local variable and print inside method. </a:t>
            </a:r>
          </a:p>
          <a:p>
            <a:pPr>
              <a:buFont typeface="+mj-lt"/>
              <a:buAutoNum type="arabicPeriod"/>
            </a:pPr>
            <a:r>
              <a:rPr lang="en-US" dirty="0"/>
              <a:t>Try printing local variable outside method → error. </a:t>
            </a:r>
          </a:p>
        </p:txBody>
      </p:sp>
    </p:spTree>
    <p:extLst>
      <p:ext uri="{BB962C8B-B14F-4D97-AF65-F5344CB8AC3E}">
        <p14:creationId xmlns:p14="http://schemas.microsoft.com/office/powerpoint/2010/main" val="95659458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61E9E-CF9C-8D99-BF44-9B492F004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162" y="1265186"/>
            <a:ext cx="7017774" cy="3178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What is Inheritance</a:t>
            </a:r>
          </a:p>
          <a:p>
            <a:pPr marL="0" indent="0">
              <a:buNone/>
            </a:pPr>
            <a:r>
              <a:rPr lang="en-US" sz="1800" b="1" dirty="0"/>
              <a:t> Theory</a:t>
            </a:r>
          </a:p>
          <a:p>
            <a:pPr marL="0" indent="0">
              <a:buNone/>
            </a:pPr>
            <a:r>
              <a:rPr lang="en-US" sz="1800" dirty="0"/>
              <a:t>Inheritance means </a:t>
            </a:r>
            <a:r>
              <a:rPr lang="en-US" sz="1800" b="1" dirty="0"/>
              <a:t>one class gets properties of another class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Parent → Superclass </a:t>
            </a:r>
          </a:p>
          <a:p>
            <a:pPr marL="0" indent="0">
              <a:buNone/>
            </a:pPr>
            <a:r>
              <a:rPr lang="en-US" sz="1800" dirty="0"/>
              <a:t>Child → Subclass </a:t>
            </a:r>
          </a:p>
          <a:p>
            <a:pPr marL="0" indent="0">
              <a:buNone/>
            </a:pPr>
            <a:r>
              <a:rPr lang="en-US" sz="1800" b="1" dirty="0"/>
              <a:t>Use:</a:t>
            </a:r>
          </a:p>
          <a:p>
            <a:pPr marL="0" indent="0">
              <a:buNone/>
            </a:pPr>
            <a:r>
              <a:rPr lang="en-US" sz="1800" dirty="0"/>
              <a:t>Code reuse </a:t>
            </a:r>
          </a:p>
          <a:p>
            <a:pPr marL="0" indent="0">
              <a:buNone/>
            </a:pPr>
            <a:r>
              <a:rPr lang="en-US" sz="1800" dirty="0"/>
              <a:t>Reduce duplication 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5047590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459A1-F58F-D0A3-D991-4C709748D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22966"/>
            <a:ext cx="5415116" cy="593202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class Animal {</a:t>
            </a:r>
          </a:p>
          <a:p>
            <a:pPr marL="0" indent="0">
              <a:buNone/>
            </a:pPr>
            <a:r>
              <a:rPr lang="en-IN" dirty="0"/>
              <a:t>    void sound()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("Animal makes sound");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Dog extends Animal {</a:t>
            </a:r>
          </a:p>
          <a:p>
            <a:pPr marL="0" indent="0">
              <a:buNone/>
            </a:pPr>
            <a:r>
              <a:rPr lang="en-IN" dirty="0"/>
              <a:t>    void bark()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barks");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Dog d = new Dog();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d.sound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d.bark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0859C-A87B-4763-8A13-C371CBE0AEBE}"/>
              </a:ext>
            </a:extLst>
          </p:cNvPr>
          <p:cNvSpPr txBox="1"/>
          <p:nvPr/>
        </p:nvSpPr>
        <p:spPr>
          <a:xfrm>
            <a:off x="6243486" y="272731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Tasks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</a:t>
            </a:r>
            <a:r>
              <a:rPr lang="en-US" dirty="0">
                <a:latin typeface="Courier New" panose="02070309020205020404" pitchFamily="49" charset="0"/>
              </a:rPr>
              <a:t>Vehicle</a:t>
            </a:r>
            <a:r>
              <a:rPr lang="en-US" dirty="0"/>
              <a:t> → </a:t>
            </a:r>
            <a:r>
              <a:rPr lang="en-US" dirty="0">
                <a:latin typeface="Courier New" panose="02070309020205020404" pitchFamily="49" charset="0"/>
              </a:rPr>
              <a:t>Car</a:t>
            </a:r>
            <a:r>
              <a:rPr lang="en-US" dirty="0"/>
              <a:t> inheritance. </a:t>
            </a:r>
          </a:p>
          <a:p>
            <a:pPr>
              <a:buFont typeface="+mj-lt"/>
              <a:buAutoNum type="arabicPeriod"/>
            </a:pPr>
            <a:r>
              <a:rPr lang="en-US" dirty="0"/>
              <a:t>Call parent method using child object. </a:t>
            </a:r>
          </a:p>
        </p:txBody>
      </p:sp>
    </p:spTree>
    <p:extLst>
      <p:ext uri="{BB962C8B-B14F-4D97-AF65-F5344CB8AC3E}">
        <p14:creationId xmlns:p14="http://schemas.microsoft.com/office/powerpoint/2010/main" val="281559712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2AB4CA-EE52-6DE2-E591-50BA5A415CA2}"/>
              </a:ext>
            </a:extLst>
          </p:cNvPr>
          <p:cNvSpPr txBox="1"/>
          <p:nvPr/>
        </p:nvSpPr>
        <p:spPr>
          <a:xfrm>
            <a:off x="2576052" y="2121676"/>
            <a:ext cx="68432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Types of Inheritance</a:t>
            </a:r>
          </a:p>
          <a:p>
            <a:pPr>
              <a:buNone/>
            </a:pPr>
            <a:r>
              <a:rPr lang="en-IN" b="1" dirty="0"/>
              <a:t> Types: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Single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Multilevel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Hierarchical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Hybrid (Java doesn’t support directly via classes) </a:t>
            </a:r>
          </a:p>
        </p:txBody>
      </p:sp>
    </p:spTree>
    <p:extLst>
      <p:ext uri="{BB962C8B-B14F-4D97-AF65-F5344CB8AC3E}">
        <p14:creationId xmlns:p14="http://schemas.microsoft.com/office/powerpoint/2010/main" val="131253672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A0C22-68BE-38A9-2934-13A0FCDC3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152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Single Inheritance</a:t>
            </a:r>
          </a:p>
          <a:p>
            <a:pPr marL="0" indent="0">
              <a:buNone/>
            </a:pPr>
            <a:r>
              <a:rPr lang="en-US" sz="1800" b="1" dirty="0"/>
              <a:t> Theory</a:t>
            </a:r>
          </a:p>
          <a:p>
            <a:pPr marL="0" indent="0">
              <a:buNone/>
            </a:pPr>
            <a:r>
              <a:rPr lang="en-US" sz="1800" dirty="0"/>
              <a:t>One parent → One child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4EB59D-00F9-A39E-B25D-E777B75150FC}"/>
              </a:ext>
            </a:extLst>
          </p:cNvPr>
          <p:cNvSpPr txBox="1"/>
          <p:nvPr/>
        </p:nvSpPr>
        <p:spPr>
          <a:xfrm>
            <a:off x="-115529" y="1105213"/>
            <a:ext cx="61205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Parent {  </a:t>
            </a:r>
          </a:p>
          <a:p>
            <a:r>
              <a:rPr lang="en-IN" dirty="0"/>
              <a:t>    // Define a class named Parent</a:t>
            </a:r>
          </a:p>
          <a:p>
            <a:endParaRPr lang="en-IN" dirty="0"/>
          </a:p>
          <a:p>
            <a:r>
              <a:rPr lang="en-IN" dirty="0"/>
              <a:t>    void </a:t>
            </a:r>
            <a:r>
              <a:rPr lang="en-IN" dirty="0" err="1"/>
              <a:t>showParent</a:t>
            </a:r>
            <a:r>
              <a:rPr lang="en-IN" dirty="0"/>
              <a:t>() {  </a:t>
            </a:r>
          </a:p>
          <a:p>
            <a:r>
              <a:rPr lang="en-IN" dirty="0"/>
              <a:t>        // Method declaration</a:t>
            </a:r>
          </a:p>
          <a:p>
            <a:r>
              <a:rPr lang="en-IN" dirty="0"/>
              <a:t>        // 'void' means this method does not return any value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("Parent class");  </a:t>
            </a:r>
          </a:p>
          <a:p>
            <a:r>
              <a:rPr lang="en-IN" dirty="0"/>
              <a:t>        // Prints the message "Parent class"</a:t>
            </a:r>
          </a:p>
          <a:p>
            <a:r>
              <a:rPr lang="en-IN" dirty="0"/>
              <a:t>    }  </a:t>
            </a:r>
          </a:p>
          <a:p>
            <a:r>
              <a:rPr lang="en-IN" dirty="0"/>
              <a:t>}  </a:t>
            </a:r>
          </a:p>
          <a:p>
            <a:r>
              <a:rPr lang="en-IN" dirty="0"/>
              <a:t>// End of Parent class</a:t>
            </a:r>
          </a:p>
          <a:p>
            <a:r>
              <a:rPr lang="en-IN" dirty="0"/>
              <a:t>class Child extends Parent {  </a:t>
            </a:r>
          </a:p>
          <a:p>
            <a:r>
              <a:rPr lang="en-IN" dirty="0"/>
              <a:t>    // Child class is created</a:t>
            </a:r>
          </a:p>
          <a:p>
            <a:r>
              <a:rPr lang="en-IN" dirty="0"/>
              <a:t>    // 'extends Parent' means Child inherits all properties and methods of Parent</a:t>
            </a:r>
          </a:p>
          <a:p>
            <a:endParaRPr lang="en-IN" dirty="0"/>
          </a:p>
          <a:p>
            <a:r>
              <a:rPr lang="en-IN" dirty="0"/>
              <a:t>    void </a:t>
            </a:r>
            <a:r>
              <a:rPr lang="en-IN" dirty="0" err="1"/>
              <a:t>showChild</a:t>
            </a:r>
            <a:r>
              <a:rPr lang="en-IN" dirty="0"/>
              <a:t>() {  </a:t>
            </a:r>
          </a:p>
          <a:p>
            <a:r>
              <a:rPr lang="en-IN" dirty="0"/>
              <a:t>        // Method inside Child class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70B67-F0B3-123E-4321-C0E3DD752B45}"/>
              </a:ext>
            </a:extLst>
          </p:cNvPr>
          <p:cNvSpPr txBox="1"/>
          <p:nvPr/>
        </p:nvSpPr>
        <p:spPr>
          <a:xfrm>
            <a:off x="6012426" y="0"/>
            <a:ext cx="617957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System.out.println</a:t>
            </a:r>
            <a:r>
              <a:rPr lang="en-IN" dirty="0"/>
              <a:t>("Child class");  </a:t>
            </a:r>
          </a:p>
          <a:p>
            <a:r>
              <a:rPr lang="en-IN" dirty="0"/>
              <a:t>        // Prints the message "Child class"</a:t>
            </a:r>
          </a:p>
          <a:p>
            <a:r>
              <a:rPr lang="en-IN" dirty="0"/>
              <a:t>    }  </a:t>
            </a:r>
          </a:p>
          <a:p>
            <a:r>
              <a:rPr lang="en-IN" dirty="0"/>
              <a:t>}  </a:t>
            </a:r>
          </a:p>
          <a:p>
            <a:r>
              <a:rPr lang="en-IN" dirty="0"/>
              <a:t>// End of Child class</a:t>
            </a:r>
          </a:p>
          <a:p>
            <a:r>
              <a:rPr lang="en-IN" dirty="0"/>
              <a:t>public class </a:t>
            </a:r>
            <a:r>
              <a:rPr lang="en-IN" dirty="0" err="1"/>
              <a:t>SingleInheritance</a:t>
            </a:r>
            <a:r>
              <a:rPr lang="en-IN" dirty="0"/>
              <a:t> {  </a:t>
            </a:r>
          </a:p>
          <a:p>
            <a:r>
              <a:rPr lang="en-IN" dirty="0"/>
              <a:t>    // Main class (program execution starts here)</a:t>
            </a:r>
          </a:p>
          <a:p>
            <a:r>
              <a:rPr lang="en-IN" dirty="0"/>
              <a:t>    // 'public' means it can be accessed from anywhere</a:t>
            </a:r>
          </a:p>
          <a:p>
            <a:endParaRPr lang="en-IN" dirty="0"/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  </a:t>
            </a:r>
          </a:p>
          <a:p>
            <a:r>
              <a:rPr lang="en-IN" dirty="0"/>
              <a:t>        // Main method → entry point of Java program</a:t>
            </a:r>
          </a:p>
          <a:p>
            <a:r>
              <a:rPr lang="en-IN" dirty="0"/>
              <a:t>        // JVM starts execution from here</a:t>
            </a:r>
          </a:p>
          <a:p>
            <a:r>
              <a:rPr lang="en-IN" dirty="0"/>
              <a:t>        Child c = new Child();  </a:t>
            </a:r>
          </a:p>
          <a:p>
            <a:r>
              <a:rPr lang="en-IN" dirty="0"/>
              <a:t>        // Object creation</a:t>
            </a:r>
          </a:p>
          <a:p>
            <a:r>
              <a:rPr lang="en-IN" dirty="0"/>
              <a:t>        // 'Child c' → reference variable</a:t>
            </a:r>
          </a:p>
          <a:p>
            <a:r>
              <a:rPr lang="en-IN" dirty="0"/>
              <a:t>        // 'new Child()' → creates object in memory</a:t>
            </a:r>
          </a:p>
          <a:p>
            <a:r>
              <a:rPr lang="en-IN" dirty="0"/>
              <a:t>        </a:t>
            </a:r>
            <a:r>
              <a:rPr lang="en-IN" dirty="0" err="1"/>
              <a:t>c.showParent</a:t>
            </a:r>
            <a:r>
              <a:rPr lang="en-IN" dirty="0"/>
              <a:t>();  </a:t>
            </a:r>
          </a:p>
          <a:p>
            <a:r>
              <a:rPr lang="en-IN" dirty="0"/>
              <a:t>        // Calling parent class method using child object</a:t>
            </a:r>
          </a:p>
          <a:p>
            <a:r>
              <a:rPr lang="en-IN" dirty="0"/>
              <a:t>        // This works because Child inherits Parent</a:t>
            </a:r>
          </a:p>
          <a:p>
            <a:r>
              <a:rPr lang="en-IN" dirty="0"/>
              <a:t>        </a:t>
            </a:r>
            <a:r>
              <a:rPr lang="en-IN" dirty="0" err="1"/>
              <a:t>c.showChild</a:t>
            </a:r>
            <a:r>
              <a:rPr lang="en-IN" dirty="0"/>
              <a:t>();  </a:t>
            </a:r>
          </a:p>
          <a:p>
            <a:r>
              <a:rPr lang="en-IN" dirty="0"/>
              <a:t>        // Calling child class method</a:t>
            </a:r>
          </a:p>
          <a:p>
            <a:r>
              <a:rPr lang="en-IN" dirty="0"/>
              <a:t>    }  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// End of program</a:t>
            </a:r>
          </a:p>
        </p:txBody>
      </p:sp>
    </p:spTree>
    <p:extLst>
      <p:ext uri="{BB962C8B-B14F-4D97-AF65-F5344CB8AC3E}">
        <p14:creationId xmlns:p14="http://schemas.microsoft.com/office/powerpoint/2010/main" val="224539726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CC519-D430-6013-E90D-D4F554868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52" y="311458"/>
            <a:ext cx="4028767" cy="1251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Multilevel Inheritance</a:t>
            </a:r>
          </a:p>
          <a:p>
            <a:pPr marL="0" indent="0">
              <a:buNone/>
            </a:pPr>
            <a:r>
              <a:rPr lang="en-IN" sz="1800" b="1" dirty="0"/>
              <a:t>Theory</a:t>
            </a:r>
          </a:p>
          <a:p>
            <a:pPr marL="0" indent="0">
              <a:buNone/>
            </a:pPr>
            <a:r>
              <a:rPr lang="en-IN" sz="1800" dirty="0"/>
              <a:t>Grandparent → Parent → Child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C7C38-65F2-19C9-F3C7-661237307BCE}"/>
              </a:ext>
            </a:extLst>
          </p:cNvPr>
          <p:cNvSpPr txBox="1"/>
          <p:nvPr/>
        </p:nvSpPr>
        <p:spPr>
          <a:xfrm>
            <a:off x="974623" y="1563329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A {</a:t>
            </a:r>
          </a:p>
          <a:p>
            <a:r>
              <a:rPr lang="en-IN" dirty="0"/>
              <a:t>    void </a:t>
            </a:r>
            <a:r>
              <a:rPr lang="en-IN" dirty="0" err="1"/>
              <a:t>showA</a:t>
            </a:r>
            <a:r>
              <a:rPr lang="en-IN" dirty="0"/>
              <a:t>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("Class A");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B extends A {</a:t>
            </a:r>
          </a:p>
          <a:p>
            <a:r>
              <a:rPr lang="en-IN" dirty="0"/>
              <a:t>    void </a:t>
            </a:r>
            <a:r>
              <a:rPr lang="en-IN" dirty="0" err="1"/>
              <a:t>showB</a:t>
            </a:r>
            <a:r>
              <a:rPr lang="en-IN" dirty="0"/>
              <a:t>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("Class B");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C extends B {</a:t>
            </a:r>
          </a:p>
          <a:p>
            <a:r>
              <a:rPr lang="en-IN" dirty="0"/>
              <a:t>    void </a:t>
            </a:r>
            <a:r>
              <a:rPr lang="en-IN" dirty="0" err="1"/>
              <a:t>showC</a:t>
            </a:r>
            <a:r>
              <a:rPr lang="en-IN" dirty="0"/>
              <a:t>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("Class C");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F7BF23-F2A4-436D-2739-0CF65AF3FD23}"/>
              </a:ext>
            </a:extLst>
          </p:cNvPr>
          <p:cNvSpPr txBox="1"/>
          <p:nvPr/>
        </p:nvSpPr>
        <p:spPr>
          <a:xfrm>
            <a:off x="6567948" y="273381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Tasks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3-level inheritance (A → B → C). </a:t>
            </a:r>
          </a:p>
          <a:p>
            <a:pPr>
              <a:buFont typeface="+mj-lt"/>
              <a:buAutoNum type="arabicPeriod"/>
            </a:pPr>
            <a:r>
              <a:rPr lang="en-US" dirty="0"/>
              <a:t>Call all methods using child class. </a:t>
            </a:r>
          </a:p>
        </p:txBody>
      </p:sp>
    </p:spTree>
    <p:extLst>
      <p:ext uri="{BB962C8B-B14F-4D97-AF65-F5344CB8AC3E}">
        <p14:creationId xmlns:p14="http://schemas.microsoft.com/office/powerpoint/2010/main" val="1803685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9EA89-7DAC-887D-BF8A-6B696EA4D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4109884" cy="1238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Hierarchical Inheritance</a:t>
            </a:r>
          </a:p>
          <a:p>
            <a:pPr marL="0" indent="0">
              <a:buNone/>
            </a:pPr>
            <a:r>
              <a:rPr lang="en-US" sz="1800" b="1" dirty="0"/>
              <a:t> Theory</a:t>
            </a:r>
          </a:p>
          <a:p>
            <a:pPr marL="0" indent="0">
              <a:buNone/>
            </a:pPr>
            <a:r>
              <a:rPr lang="en-US" sz="1800" dirty="0"/>
              <a:t>One parent → Multiple children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0225B-7087-B7CF-1A69-6770FC0070CF}"/>
              </a:ext>
            </a:extLst>
          </p:cNvPr>
          <p:cNvSpPr txBox="1"/>
          <p:nvPr/>
        </p:nvSpPr>
        <p:spPr>
          <a:xfrm>
            <a:off x="100781" y="1613618"/>
            <a:ext cx="61205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Parent {</a:t>
            </a:r>
          </a:p>
          <a:p>
            <a:r>
              <a:rPr lang="en-IN" dirty="0"/>
              <a:t>    void show()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("Parent class");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Child1 extends Parent {}</a:t>
            </a:r>
          </a:p>
          <a:p>
            <a:r>
              <a:rPr lang="en-IN" dirty="0"/>
              <a:t>class Child2 extends Parent {}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C755B3-DB39-2CF0-45A6-DAD0736E382D}"/>
              </a:ext>
            </a:extLst>
          </p:cNvPr>
          <p:cNvSpPr txBox="1"/>
          <p:nvPr/>
        </p:nvSpPr>
        <p:spPr>
          <a:xfrm>
            <a:off x="5970639" y="2679741"/>
            <a:ext cx="61205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Tasks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</a:t>
            </a:r>
            <a:r>
              <a:rPr lang="en-US" dirty="0">
                <a:latin typeface="Courier New" panose="02070309020205020404" pitchFamily="49" charset="0"/>
              </a:rPr>
              <a:t>Animal</a:t>
            </a:r>
            <a:r>
              <a:rPr lang="en-US" dirty="0"/>
              <a:t> → </a:t>
            </a:r>
            <a:r>
              <a:rPr lang="en-US" dirty="0">
                <a:latin typeface="Courier New" panose="02070309020205020404" pitchFamily="49" charset="0"/>
              </a:rPr>
              <a:t>Dog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Cat</a:t>
            </a:r>
            <a:r>
              <a:rPr lang="en-US" dirty="0"/>
              <a:t>. </a:t>
            </a:r>
          </a:p>
          <a:p>
            <a:pPr>
              <a:buFont typeface="+mj-lt"/>
              <a:buAutoNum type="arabicPeriod"/>
            </a:pPr>
            <a:r>
              <a:rPr lang="en-US" dirty="0"/>
              <a:t>Call parent method from both classes. </a:t>
            </a:r>
          </a:p>
        </p:txBody>
      </p:sp>
    </p:spTree>
    <p:extLst>
      <p:ext uri="{BB962C8B-B14F-4D97-AF65-F5344CB8AC3E}">
        <p14:creationId xmlns:p14="http://schemas.microsoft.com/office/powerpoint/2010/main" val="62861266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9A47F-9F49-1F7E-9673-3C1B5525F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812"/>
            <a:ext cx="6213987" cy="2766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Hybrid Inheritance</a:t>
            </a:r>
          </a:p>
          <a:p>
            <a:pPr marL="0" indent="0">
              <a:buNone/>
            </a:pPr>
            <a:r>
              <a:rPr lang="en-US" sz="1800" b="1" dirty="0"/>
              <a:t>Theory</a:t>
            </a:r>
          </a:p>
          <a:p>
            <a:pPr marL="0" indent="0">
              <a:buNone/>
            </a:pPr>
            <a:r>
              <a:rPr lang="en-US" sz="1800" dirty="0"/>
              <a:t>Combination of multiple inheritance types.</a:t>
            </a:r>
          </a:p>
          <a:p>
            <a:pPr marL="0" indent="0">
              <a:buNone/>
            </a:pPr>
            <a:r>
              <a:rPr lang="en-US" sz="1800" dirty="0"/>
              <a:t> Java does NOT support multiple inheritance using classes</a:t>
            </a:r>
            <a:br>
              <a:rPr lang="en-US" sz="1800" dirty="0"/>
            </a:br>
            <a:r>
              <a:rPr lang="en-US" sz="1800" dirty="0"/>
              <a:t> Achieved using </a:t>
            </a:r>
            <a:r>
              <a:rPr lang="en-US" sz="1800" b="1" dirty="0"/>
              <a:t>interfaces</a:t>
            </a:r>
            <a:endParaRPr lang="en-US" sz="1800" dirty="0"/>
          </a:p>
          <a:p>
            <a:r>
              <a:rPr lang="en-US" sz="1800" dirty="0"/>
              <a:t>Combination of:</a:t>
            </a:r>
          </a:p>
          <a:p>
            <a:r>
              <a:rPr lang="en-US" sz="1800" dirty="0"/>
              <a:t>Hierarchical (A → B, A → C) </a:t>
            </a:r>
          </a:p>
          <a:p>
            <a:r>
              <a:rPr lang="en-US" sz="1800" dirty="0"/>
              <a:t>Multiple (D uses B and C features via interface)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605F9-CCC8-B321-1724-1EB6DD85057E}"/>
              </a:ext>
            </a:extLst>
          </p:cNvPr>
          <p:cNvSpPr txBox="1"/>
          <p:nvPr/>
        </p:nvSpPr>
        <p:spPr>
          <a:xfrm>
            <a:off x="7189838" y="588349"/>
            <a:ext cx="46088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interface A {</a:t>
            </a:r>
          </a:p>
          <a:p>
            <a:r>
              <a:rPr lang="en-IN" dirty="0"/>
              <a:t>    void show();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interface B {</a:t>
            </a:r>
          </a:p>
          <a:p>
            <a:r>
              <a:rPr lang="en-IN" dirty="0"/>
              <a:t>    void display();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C implements A, B {</a:t>
            </a:r>
          </a:p>
          <a:p>
            <a:r>
              <a:rPr lang="en-IN" dirty="0"/>
              <a:t>    public void show()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("Interface A");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void display()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("Interface B");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E0771-56D5-6A42-FDC7-93DB6BD9AC67}"/>
              </a:ext>
            </a:extLst>
          </p:cNvPr>
          <p:cNvSpPr txBox="1"/>
          <p:nvPr/>
        </p:nvSpPr>
        <p:spPr>
          <a:xfrm>
            <a:off x="646472" y="2881303"/>
            <a:ext cx="6681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Tasks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2 interfaces and implement in one class. </a:t>
            </a:r>
          </a:p>
          <a:p>
            <a:pPr>
              <a:buFont typeface="+mj-lt"/>
              <a:buAutoNum type="arabicPeriod"/>
            </a:pPr>
            <a:r>
              <a:rPr lang="en-US" dirty="0"/>
              <a:t>Print messages from both methods. </a:t>
            </a:r>
          </a:p>
        </p:txBody>
      </p:sp>
    </p:spTree>
    <p:extLst>
      <p:ext uri="{BB962C8B-B14F-4D97-AF65-F5344CB8AC3E}">
        <p14:creationId xmlns:p14="http://schemas.microsoft.com/office/powerpoint/2010/main" val="155586963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977347-DDD3-12AA-FB5D-37EDFEF8F1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4062547"/>
              </p:ext>
            </p:extLst>
          </p:nvPr>
        </p:nvGraphicFramePr>
        <p:xfrm>
          <a:off x="700548" y="782212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812173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78818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66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parent → One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379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Chain (Grand → Parent → Child)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132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Hierarchical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One parent → Many children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252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77115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983A-F155-26D4-408B-11485C6C7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261" y="363231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FCDBC-AE19-19FD-C503-113D7D251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261" y="1817236"/>
            <a:ext cx="10515600" cy="9175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Polymorphism means: "One thing having many forms"</a:t>
            </a:r>
          </a:p>
          <a:p>
            <a:pPr marL="0" indent="0">
              <a:buNone/>
            </a:pPr>
            <a:r>
              <a:rPr lang="en-US" dirty="0"/>
              <a:t>Poly = Many Morph = Forms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C36C6-ED5C-0CD5-045B-BF7CB5FC294E}"/>
              </a:ext>
            </a:extLst>
          </p:cNvPr>
          <p:cNvSpPr txBox="1"/>
          <p:nvPr/>
        </p:nvSpPr>
        <p:spPr>
          <a:xfrm>
            <a:off x="1249261" y="2966528"/>
            <a:ext cx="60946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Real-Life Example</a:t>
            </a:r>
          </a:p>
          <a:p>
            <a:pPr>
              <a:buNone/>
            </a:pPr>
            <a:r>
              <a:rPr lang="en-US" dirty="0"/>
              <a:t>A person can behave differently: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home → Son/Daughter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school → Student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office → Employee</a:t>
            </a:r>
          </a:p>
          <a:p>
            <a:pPr>
              <a:buNone/>
            </a:pPr>
            <a:r>
              <a:rPr lang="en-US" dirty="0"/>
              <a:t>Same person, different behaviors.</a:t>
            </a:r>
          </a:p>
          <a:p>
            <a:pPr>
              <a:buNone/>
            </a:pPr>
            <a:r>
              <a:rPr lang="en-US" dirty="0"/>
              <a:t>This concept is called Polymorphism.</a:t>
            </a:r>
          </a:p>
        </p:txBody>
      </p:sp>
    </p:spTree>
    <p:extLst>
      <p:ext uri="{BB962C8B-B14F-4D97-AF65-F5344CB8AC3E}">
        <p14:creationId xmlns:p14="http://schemas.microsoft.com/office/powerpoint/2010/main" val="374804927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30BF6-4894-EC32-7B44-EAC3A3D8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Polymorphism?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41A5-69CE-9EA5-5C2E-4A63F6EC9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Advantages of Polymorphism</a:t>
            </a:r>
          </a:p>
          <a:p>
            <a:pPr marL="0" indent="0">
              <a:buNone/>
            </a:pPr>
            <a:r>
              <a:rPr lang="en-US" dirty="0"/>
              <a:t>Code Reusability</a:t>
            </a:r>
          </a:p>
          <a:p>
            <a:pPr marL="0" indent="0">
              <a:buNone/>
            </a:pPr>
            <a:r>
              <a:rPr lang="en-US" dirty="0"/>
              <a:t>Flexibility</a:t>
            </a:r>
          </a:p>
          <a:p>
            <a:pPr marL="0" indent="0">
              <a:buNone/>
            </a:pPr>
            <a:r>
              <a:rPr lang="en-US" dirty="0"/>
              <a:t>Easy Maintenance</a:t>
            </a:r>
          </a:p>
          <a:p>
            <a:pPr marL="0" indent="0">
              <a:buNone/>
            </a:pPr>
            <a:r>
              <a:rPr lang="en-US" dirty="0"/>
              <a:t>Reduces Duplicate Code</a:t>
            </a:r>
          </a:p>
          <a:p>
            <a:pPr marL="0" indent="0">
              <a:buNone/>
            </a:pPr>
            <a:r>
              <a:rPr lang="en-US" dirty="0"/>
              <a:t>Improves Readability</a:t>
            </a:r>
          </a:p>
          <a:p>
            <a:pPr marL="0" indent="0">
              <a:buNone/>
            </a:pPr>
            <a:r>
              <a:rPr lang="en-US" b="1" dirty="0"/>
              <a:t>Practical Explanation</a:t>
            </a:r>
          </a:p>
          <a:p>
            <a:pPr marL="0" indent="0">
              <a:buNone/>
            </a:pPr>
            <a:r>
              <a:rPr lang="en-US" dirty="0"/>
              <a:t>Instead of creating many different method names, we can use the same method name for different operations.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add(10,20) add(10,20,30)</a:t>
            </a:r>
          </a:p>
          <a:p>
            <a:pPr marL="0" indent="0">
              <a:buNone/>
            </a:pPr>
            <a:r>
              <a:rPr lang="en-US" dirty="0"/>
              <a:t>Same method name → Different behavior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23510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4FB04-973F-B3A8-1F85-4C94F1BA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Polymorphism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0E748-744E-A25E-FF47-177AD5D87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754" y="151523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Two Types of Polymorphism</a:t>
            </a:r>
          </a:p>
          <a:p>
            <a:pPr marL="0" indent="0">
              <a:buNone/>
            </a:pPr>
            <a:r>
              <a:rPr lang="en-IN" b="1" dirty="0"/>
              <a:t>1. Compile-time Polymorphism</a:t>
            </a:r>
          </a:p>
          <a:p>
            <a:pPr marL="0" indent="0">
              <a:buNone/>
            </a:pPr>
            <a:r>
              <a:rPr lang="en-IN" dirty="0"/>
              <a:t>Also called Static Polymorphism</a:t>
            </a:r>
          </a:p>
          <a:p>
            <a:pPr marL="0" indent="0">
              <a:buNone/>
            </a:pPr>
            <a:r>
              <a:rPr lang="en-IN" dirty="0"/>
              <a:t>Achieved using Method Overloading</a:t>
            </a:r>
          </a:p>
          <a:p>
            <a:pPr marL="0" indent="0">
              <a:buNone/>
            </a:pPr>
            <a:r>
              <a:rPr lang="en-IN" dirty="0"/>
              <a:t>Decision made during compilation</a:t>
            </a:r>
          </a:p>
          <a:p>
            <a:pPr marL="0" indent="0">
              <a:buNone/>
            </a:pPr>
            <a:r>
              <a:rPr lang="en-IN" b="1" dirty="0"/>
              <a:t>2. Runtime Polymorphism</a:t>
            </a:r>
          </a:p>
          <a:p>
            <a:pPr marL="0" indent="0">
              <a:buNone/>
            </a:pPr>
            <a:r>
              <a:rPr lang="en-IN" dirty="0"/>
              <a:t>Also called Dynamic Polymorphism</a:t>
            </a:r>
          </a:p>
          <a:p>
            <a:pPr marL="0" indent="0">
              <a:buNone/>
            </a:pPr>
            <a:r>
              <a:rPr lang="en-IN" dirty="0"/>
              <a:t>Achieved using Method Overriding</a:t>
            </a:r>
          </a:p>
          <a:p>
            <a:pPr marL="0" indent="0">
              <a:buNone/>
            </a:pPr>
            <a:r>
              <a:rPr lang="en-IN" dirty="0"/>
              <a:t>Decision made during execution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31136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3F73-CDF1-BFE1-98D6-4B66986A5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Compile-time 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5331E-8BD0-B793-88D9-E00885220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When the method call is decided during compilation, it is called Compile-time Polymorphism.</a:t>
            </a:r>
          </a:p>
          <a:p>
            <a:pPr marL="0" indent="0">
              <a:buNone/>
            </a:pPr>
            <a:r>
              <a:rPr lang="en-US" b="1" dirty="0"/>
              <a:t>Achieved By</a:t>
            </a:r>
          </a:p>
          <a:p>
            <a:pPr marL="0" indent="0">
              <a:buNone/>
            </a:pPr>
            <a:r>
              <a:rPr lang="en-US" dirty="0"/>
              <a:t>Method Overloading</a:t>
            </a:r>
          </a:p>
          <a:p>
            <a:pPr marL="0" indent="0">
              <a:buNone/>
            </a:pPr>
            <a:r>
              <a:rPr lang="en-US" b="1" dirty="0"/>
              <a:t>Key Point</a:t>
            </a:r>
          </a:p>
          <a:p>
            <a:pPr marL="0" indent="0">
              <a:buNone/>
            </a:pPr>
            <a:r>
              <a:rPr lang="en-US" dirty="0"/>
              <a:t>Same method name but different parameters.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53795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435F-8182-982F-DABA-FD354425B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F204D-C90B-4A2D-950A-0591D5A9D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What is Method Overloading?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If multiple methods have:</a:t>
            </a:r>
          </a:p>
          <a:p>
            <a:pPr marL="0" indent="0">
              <a:buNone/>
            </a:pPr>
            <a:r>
              <a:rPr lang="en-US" dirty="0"/>
              <a:t>Same method name</a:t>
            </a:r>
          </a:p>
          <a:p>
            <a:pPr marL="0" indent="0">
              <a:buNone/>
            </a:pPr>
            <a:r>
              <a:rPr lang="en-US" dirty="0"/>
              <a:t>Different parameters</a:t>
            </a:r>
          </a:p>
          <a:p>
            <a:pPr marL="0" indent="0">
              <a:buNone/>
            </a:pPr>
            <a:r>
              <a:rPr lang="en-US" dirty="0"/>
              <a:t>then it is called Method Overloading.</a:t>
            </a:r>
          </a:p>
          <a:p>
            <a:pPr marL="0" indent="0">
              <a:buNone/>
            </a:pPr>
            <a:r>
              <a:rPr lang="en-US" b="1" dirty="0"/>
              <a:t>Rules</a:t>
            </a:r>
          </a:p>
          <a:p>
            <a:pPr marL="0" indent="0">
              <a:buNone/>
            </a:pPr>
            <a:r>
              <a:rPr lang="en-US" dirty="0"/>
              <a:t>Methods can differ by:</a:t>
            </a:r>
          </a:p>
          <a:p>
            <a:pPr marL="0" indent="0">
              <a:buNone/>
            </a:pPr>
            <a:r>
              <a:rPr lang="en-US" dirty="0"/>
              <a:t>Number of parameters</a:t>
            </a:r>
          </a:p>
          <a:p>
            <a:pPr marL="0" indent="0">
              <a:buNone/>
            </a:pPr>
            <a:r>
              <a:rPr lang="en-US" dirty="0"/>
              <a:t>Type of parameters</a:t>
            </a:r>
          </a:p>
          <a:p>
            <a:pPr marL="0" indent="0">
              <a:buNone/>
            </a:pPr>
            <a:r>
              <a:rPr lang="en-US" dirty="0"/>
              <a:t>Order of parameters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03898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A8835-ABB1-E504-53E5-667AA60D4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420" y="-79492"/>
            <a:ext cx="10515600" cy="1325563"/>
          </a:xfrm>
        </p:spPr>
        <p:txBody>
          <a:bodyPr/>
          <a:lstStyle/>
          <a:p>
            <a:r>
              <a:rPr lang="en-IN" dirty="0"/>
              <a:t>Method Overloading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EDE9E-71BE-D9EF-74F8-2DD390E5C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420" y="709889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class Calculator {</a:t>
            </a:r>
          </a:p>
          <a:p>
            <a:pPr marL="0" indent="0">
              <a:buNone/>
            </a:pPr>
            <a:r>
              <a:rPr lang="en-IN" sz="1600" dirty="0"/>
              <a:t>void add(int a, int b) {</a:t>
            </a:r>
          </a:p>
          <a:p>
            <a:pPr marL="0" indent="0">
              <a:buNone/>
            </a:pPr>
            <a:r>
              <a:rPr lang="en-IN" sz="1600" dirty="0" err="1"/>
              <a:t>System.out.println</a:t>
            </a:r>
            <a:r>
              <a:rPr lang="en-IN" sz="1600" dirty="0"/>
              <a:t>(a + b);</a:t>
            </a:r>
          </a:p>
          <a:p>
            <a:pPr marL="0" indent="0">
              <a:buNone/>
            </a:pPr>
            <a:r>
              <a:rPr lang="en-IN" sz="1600" dirty="0"/>
              <a:t>}</a:t>
            </a:r>
            <a:br>
              <a:rPr lang="en-IN" sz="1600" dirty="0"/>
            </a:br>
            <a:r>
              <a:rPr lang="en-IN" sz="1600" dirty="0"/>
              <a:t>void add(int a, int b, int c) {</a:t>
            </a:r>
          </a:p>
          <a:p>
            <a:pPr marL="0" indent="0">
              <a:buNone/>
            </a:pPr>
            <a:r>
              <a:rPr lang="en-IN" sz="1600" dirty="0" err="1"/>
              <a:t>System.out.println</a:t>
            </a:r>
            <a:r>
              <a:rPr lang="en-IN" sz="1600" dirty="0"/>
              <a:t>(a + b + c);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/>
              <a:t>void add(double a, double b) {</a:t>
            </a:r>
          </a:p>
          <a:p>
            <a:pPr marL="0" indent="0">
              <a:buNone/>
            </a:pPr>
            <a:r>
              <a:rPr lang="en-IN" sz="1600" dirty="0" err="1"/>
              <a:t>System.out.println</a:t>
            </a:r>
            <a:r>
              <a:rPr lang="en-IN" sz="1600" dirty="0"/>
              <a:t>(a + b);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/>
              <a:t>public class Main {</a:t>
            </a:r>
          </a:p>
          <a:p>
            <a:pPr marL="0" indent="0">
              <a:buNone/>
            </a:pPr>
            <a:r>
              <a:rPr lang="en-IN" sz="1600" dirty="0"/>
              <a:t>public static void main(String[] </a:t>
            </a:r>
            <a:r>
              <a:rPr lang="en-IN" sz="1600" dirty="0" err="1"/>
              <a:t>args</a:t>
            </a:r>
            <a:r>
              <a:rPr lang="en-IN" sz="1600" dirty="0"/>
              <a:t>) {</a:t>
            </a:r>
          </a:p>
          <a:p>
            <a:pPr marL="0" indent="0">
              <a:buNone/>
            </a:pPr>
            <a:r>
              <a:rPr lang="en-IN" sz="1600" dirty="0"/>
              <a:t>Calculator </a:t>
            </a:r>
            <a:r>
              <a:rPr lang="en-IN" sz="1600" dirty="0" err="1"/>
              <a:t>obj</a:t>
            </a:r>
            <a:r>
              <a:rPr lang="en-IN" sz="1600" dirty="0"/>
              <a:t> = new Calculator();</a:t>
            </a:r>
            <a:br>
              <a:rPr lang="en-IN" sz="1600" dirty="0"/>
            </a:b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32053B-88AD-43C2-DDC6-3ED3DBF2AFD1}"/>
              </a:ext>
            </a:extLst>
          </p:cNvPr>
          <p:cNvSpPr txBox="1"/>
          <p:nvPr/>
        </p:nvSpPr>
        <p:spPr>
          <a:xfrm>
            <a:off x="670420" y="5380672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 err="1"/>
              <a:t>obj.add</a:t>
            </a:r>
            <a:r>
              <a:rPr lang="en-IN" sz="1800" dirty="0"/>
              <a:t>(10, 20);</a:t>
            </a:r>
          </a:p>
          <a:p>
            <a:pPr marL="0" indent="0">
              <a:buNone/>
            </a:pPr>
            <a:r>
              <a:rPr lang="en-IN" sz="1800" dirty="0" err="1"/>
              <a:t>obj.add</a:t>
            </a:r>
            <a:r>
              <a:rPr lang="en-IN" sz="1800" dirty="0"/>
              <a:t>(10, 20, 30);</a:t>
            </a:r>
          </a:p>
          <a:p>
            <a:pPr marL="0" indent="0">
              <a:buNone/>
            </a:pPr>
            <a:r>
              <a:rPr lang="en-IN" sz="1800" dirty="0" err="1"/>
              <a:t>obj.add</a:t>
            </a:r>
            <a:r>
              <a:rPr lang="en-IN" sz="1800" dirty="0"/>
              <a:t>(5.5, 2.5);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23309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086E2-8781-0432-D0BA-B2851AF2D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07" y="10066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Slide 8: Method Overloading Program Explanation</a:t>
            </a:r>
          </a:p>
          <a:p>
            <a:pPr marL="0" indent="0">
              <a:buNone/>
            </a:pPr>
            <a:r>
              <a:rPr lang="en-US" sz="1800" b="1" dirty="0"/>
              <a:t>Line by Line Explanation</a:t>
            </a:r>
          </a:p>
          <a:p>
            <a:pPr marL="0" indent="0">
              <a:buNone/>
            </a:pPr>
            <a:r>
              <a:rPr lang="en-US" sz="1800" b="1" dirty="0"/>
              <a:t>Step 1</a:t>
            </a:r>
          </a:p>
          <a:p>
            <a:pPr marL="0" indent="0">
              <a:buNone/>
            </a:pPr>
            <a:r>
              <a:rPr lang="en-US" sz="1800" dirty="0"/>
              <a:t>class Calculator</a:t>
            </a:r>
          </a:p>
          <a:p>
            <a:pPr marL="0" indent="0">
              <a:buNone/>
            </a:pPr>
            <a:r>
              <a:rPr lang="en-US" sz="1800" dirty="0"/>
              <a:t>Creates a class named Calculator.</a:t>
            </a:r>
          </a:p>
          <a:p>
            <a:pPr marL="0" indent="0">
              <a:buNone/>
            </a:pPr>
            <a:r>
              <a:rPr lang="en-US" sz="1800" b="1" dirty="0"/>
              <a:t>Step 2</a:t>
            </a:r>
          </a:p>
          <a:p>
            <a:pPr marL="0" indent="0">
              <a:buNone/>
            </a:pPr>
            <a:r>
              <a:rPr lang="en-US" sz="1800" dirty="0"/>
              <a:t>void add(int a, int b)</a:t>
            </a:r>
          </a:p>
          <a:p>
            <a:pPr marL="0" indent="0">
              <a:buNone/>
            </a:pPr>
            <a:r>
              <a:rPr lang="en-US" sz="1800" dirty="0"/>
              <a:t>Method with 2 integer parameters.</a:t>
            </a:r>
          </a:p>
          <a:p>
            <a:pPr marL="0" indent="0">
              <a:buNone/>
            </a:pPr>
            <a:r>
              <a:rPr lang="en-US" sz="1800" b="1" dirty="0"/>
              <a:t>Step 3</a:t>
            </a:r>
          </a:p>
          <a:p>
            <a:pPr marL="0" indent="0">
              <a:buNone/>
            </a:pPr>
            <a:r>
              <a:rPr lang="en-US" sz="1800" dirty="0"/>
              <a:t>void add(int a, int b, int c)</a:t>
            </a:r>
          </a:p>
          <a:p>
            <a:pPr marL="0" indent="0">
              <a:buNone/>
            </a:pPr>
            <a:r>
              <a:rPr lang="en-US" sz="1800" dirty="0"/>
              <a:t>Same method name but 3 parameters.</a:t>
            </a:r>
          </a:p>
          <a:p>
            <a:pPr marL="0" indent="0">
              <a:buNone/>
            </a:pPr>
            <a:r>
              <a:rPr lang="en-US" sz="1800" b="1" dirty="0"/>
              <a:t>Step 4</a:t>
            </a:r>
          </a:p>
          <a:p>
            <a:pPr marL="0" indent="0">
              <a:buNone/>
            </a:pPr>
            <a:r>
              <a:rPr lang="en-US" sz="1800" dirty="0"/>
              <a:t>void add(double a, double b)</a:t>
            </a:r>
          </a:p>
          <a:p>
            <a:pPr marL="0" indent="0">
              <a:buNone/>
            </a:pPr>
            <a:r>
              <a:rPr lang="en-US" sz="1800" dirty="0"/>
              <a:t>Same method name but double datatype.</a:t>
            </a:r>
          </a:p>
          <a:p>
            <a:pPr marL="0" indent="0">
              <a:buNone/>
            </a:pPr>
            <a:r>
              <a:rPr lang="en-US" sz="1800" b="1" dirty="0"/>
              <a:t>Step 5</a:t>
            </a:r>
          </a:p>
          <a:p>
            <a:pPr marL="0" indent="0">
              <a:buNone/>
            </a:pPr>
            <a:r>
              <a:rPr lang="en-US" sz="1800" dirty="0"/>
              <a:t>Calculator obj = new Calculator();</a:t>
            </a:r>
          </a:p>
          <a:p>
            <a:pPr marL="0" indent="0">
              <a:buNone/>
            </a:pPr>
            <a:r>
              <a:rPr lang="en-US" sz="1800" dirty="0"/>
              <a:t>Creates object.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4D756-FB7D-F4D4-22D1-ADA3DBAFEDD4}"/>
              </a:ext>
            </a:extLst>
          </p:cNvPr>
          <p:cNvSpPr txBox="1"/>
          <p:nvPr/>
        </p:nvSpPr>
        <p:spPr>
          <a:xfrm>
            <a:off x="7074017" y="657535"/>
            <a:ext cx="60946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Step 6</a:t>
            </a:r>
          </a:p>
          <a:p>
            <a:pPr marL="0" indent="0">
              <a:buNone/>
            </a:pPr>
            <a:r>
              <a:rPr lang="en-US" sz="1800" dirty="0" err="1"/>
              <a:t>obj.add</a:t>
            </a:r>
            <a:r>
              <a:rPr lang="en-US" sz="1800" dirty="0"/>
              <a:t>(10,20);</a:t>
            </a:r>
          </a:p>
          <a:p>
            <a:pPr marL="0" indent="0">
              <a:buNone/>
            </a:pPr>
            <a:r>
              <a:rPr lang="en-US" sz="1800" dirty="0"/>
              <a:t>Calls first method.</a:t>
            </a:r>
          </a:p>
          <a:p>
            <a:pPr marL="0" indent="0">
              <a:buNone/>
            </a:pPr>
            <a:r>
              <a:rPr lang="en-US" sz="1800" b="1" dirty="0"/>
              <a:t>Step 7</a:t>
            </a:r>
          </a:p>
          <a:p>
            <a:pPr marL="0" indent="0">
              <a:buNone/>
            </a:pPr>
            <a:r>
              <a:rPr lang="en-US" sz="1800" dirty="0" err="1"/>
              <a:t>obj.add</a:t>
            </a:r>
            <a:r>
              <a:rPr lang="en-US" sz="1800" dirty="0"/>
              <a:t>(10,20,30);</a:t>
            </a:r>
          </a:p>
          <a:p>
            <a:pPr marL="0" indent="0">
              <a:buNone/>
            </a:pPr>
            <a:r>
              <a:rPr lang="en-US" sz="1800" dirty="0"/>
              <a:t>Calls second method.</a:t>
            </a:r>
          </a:p>
          <a:p>
            <a:pPr marL="0" indent="0">
              <a:buNone/>
            </a:pPr>
            <a:r>
              <a:rPr lang="en-US" sz="1800" b="1" dirty="0"/>
              <a:t>Step 8</a:t>
            </a:r>
          </a:p>
          <a:p>
            <a:pPr marL="0" indent="0">
              <a:buNone/>
            </a:pPr>
            <a:r>
              <a:rPr lang="en-US" sz="1800" dirty="0" err="1"/>
              <a:t>obj.add</a:t>
            </a:r>
            <a:r>
              <a:rPr lang="en-US" sz="1800" dirty="0"/>
              <a:t>(5.5,2.5);</a:t>
            </a:r>
          </a:p>
          <a:p>
            <a:pPr marL="0" indent="0">
              <a:buNone/>
            </a:pPr>
            <a:r>
              <a:rPr lang="en-US" sz="1800" dirty="0"/>
              <a:t>Calls third method.</a:t>
            </a:r>
          </a:p>
          <a:p>
            <a:pPr marL="0" indent="0">
              <a:buNone/>
            </a:pP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Slide 9: Output for Method Overloading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EB9C3-7CEF-DDFB-D999-CBD66A9D38C8}"/>
              </a:ext>
            </a:extLst>
          </p:cNvPr>
          <p:cNvSpPr txBox="1"/>
          <p:nvPr/>
        </p:nvSpPr>
        <p:spPr>
          <a:xfrm>
            <a:off x="7193560" y="4085543"/>
            <a:ext cx="65853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30</a:t>
            </a:r>
          </a:p>
          <a:p>
            <a:pPr>
              <a:buNone/>
            </a:pPr>
            <a:r>
              <a:rPr lang="en-IN" dirty="0"/>
              <a:t>60</a:t>
            </a:r>
          </a:p>
          <a:p>
            <a:pPr>
              <a:buNone/>
            </a:pPr>
            <a:r>
              <a:rPr lang="en-IN" dirty="0"/>
              <a:t>8.0</a:t>
            </a:r>
          </a:p>
        </p:txBody>
      </p:sp>
    </p:spTree>
    <p:extLst>
      <p:ext uri="{BB962C8B-B14F-4D97-AF65-F5344CB8AC3E}">
        <p14:creationId xmlns:p14="http://schemas.microsoft.com/office/powerpoint/2010/main" val="203568619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08E99-52FE-EF9F-7C9B-9E8065A9B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54" y="258082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Real Time Example</a:t>
            </a:r>
          </a:p>
          <a:p>
            <a:pPr marL="0" indent="0">
              <a:buNone/>
            </a:pPr>
            <a:r>
              <a:rPr lang="en-IN" b="1" dirty="0"/>
              <a:t>Mobile Recharge</a:t>
            </a:r>
          </a:p>
          <a:p>
            <a:pPr marL="0" indent="0">
              <a:buNone/>
            </a:pPr>
            <a:r>
              <a:rPr lang="en-IN" dirty="0"/>
              <a:t>Same recharge option behaves differently.</a:t>
            </a:r>
          </a:p>
          <a:p>
            <a:pPr marL="0" indent="0">
              <a:buNone/>
            </a:pPr>
            <a:r>
              <a:rPr lang="en-IN" dirty="0"/>
              <a:t>Recharge:</a:t>
            </a:r>
          </a:p>
          <a:p>
            <a:pPr marL="0" indent="0">
              <a:buNone/>
            </a:pPr>
            <a:r>
              <a:rPr lang="en-IN" dirty="0"/>
              <a:t>₹199 → 28 days</a:t>
            </a:r>
          </a:p>
          <a:p>
            <a:pPr marL="0" indent="0">
              <a:buNone/>
            </a:pPr>
            <a:r>
              <a:rPr lang="en-IN" dirty="0"/>
              <a:t>₹399 → 56 days</a:t>
            </a:r>
          </a:p>
          <a:p>
            <a:pPr marL="0" indent="0">
              <a:buNone/>
            </a:pPr>
            <a:r>
              <a:rPr lang="en-IN" dirty="0"/>
              <a:t>₹699 → 84 days</a:t>
            </a:r>
          </a:p>
          <a:p>
            <a:pPr marL="0" indent="0">
              <a:buNone/>
            </a:pPr>
            <a:r>
              <a:rPr lang="en-IN" dirty="0"/>
              <a:t>Same recharge name → Different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Programming Example</a:t>
            </a:r>
          </a:p>
          <a:p>
            <a:pPr marL="0" indent="0">
              <a:buNone/>
            </a:pPr>
            <a:r>
              <a:rPr lang="en-IN" dirty="0"/>
              <a:t>print() print("Hello") print(100)</a:t>
            </a:r>
          </a:p>
          <a:p>
            <a:pPr marL="0" indent="0">
              <a:buNone/>
            </a:pPr>
            <a:r>
              <a:rPr lang="en-IN" dirty="0"/>
              <a:t>Same method name → Different inputs.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60633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50A8-CEA0-6807-F84F-DDD2E067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35" y="558073"/>
            <a:ext cx="10515600" cy="62477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Runtime Polymorphism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45CC2-A70F-9813-1273-793D8B50C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250" y="7770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When the method call is decided during program execution, it is called Runtime Polymorphism.</a:t>
            </a:r>
          </a:p>
          <a:p>
            <a:pPr marL="0" indent="0">
              <a:buNone/>
            </a:pPr>
            <a:r>
              <a:rPr lang="en-US" b="1" dirty="0"/>
              <a:t>Achieved By</a:t>
            </a:r>
          </a:p>
          <a:p>
            <a:pPr marL="0" indent="0">
              <a:buNone/>
            </a:pPr>
            <a:r>
              <a:rPr lang="en-US" dirty="0"/>
              <a:t>Method Overriding.</a:t>
            </a:r>
          </a:p>
          <a:p>
            <a:pPr marL="0" indent="0">
              <a:buNone/>
            </a:pPr>
            <a:r>
              <a:rPr lang="en-US" b="1" dirty="0"/>
              <a:t>Key Point</a:t>
            </a:r>
          </a:p>
          <a:p>
            <a:pPr marL="0" indent="0">
              <a:buNone/>
            </a:pPr>
            <a:r>
              <a:rPr lang="en-US" dirty="0"/>
              <a:t>Parent class method is redefined in child class.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292482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DEEA-DF7D-C8DE-E319-C2704AA8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38" y="105779"/>
            <a:ext cx="10515600" cy="1325563"/>
          </a:xfrm>
        </p:spPr>
        <p:txBody>
          <a:bodyPr/>
          <a:lstStyle/>
          <a:p>
            <a:r>
              <a:rPr lang="en-IN" dirty="0"/>
              <a:t>Method Overriding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52E84-7678-E282-1D80-79611AAF4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138" y="11796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is Method Overriding?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When child class provides its own implementation for parent class method, it is called Method Overriding.</a:t>
            </a:r>
          </a:p>
          <a:p>
            <a:pPr marL="0" indent="0">
              <a:buNone/>
            </a:pPr>
            <a:r>
              <a:rPr lang="en-US" b="1" dirty="0"/>
              <a:t>Rules</a:t>
            </a:r>
          </a:p>
          <a:p>
            <a:pPr marL="0" indent="0">
              <a:buNone/>
            </a:pPr>
            <a:r>
              <a:rPr lang="en-US" dirty="0"/>
              <a:t>Method name must be same</a:t>
            </a:r>
          </a:p>
          <a:p>
            <a:pPr marL="0" indent="0">
              <a:buNone/>
            </a:pPr>
            <a:r>
              <a:rPr lang="en-US" dirty="0"/>
              <a:t>Parameters must be same</a:t>
            </a:r>
          </a:p>
          <a:p>
            <a:pPr marL="0" indent="0">
              <a:buNone/>
            </a:pPr>
            <a:r>
              <a:rPr lang="en-US" dirty="0"/>
              <a:t>Inheritance is required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95758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C852-137F-661E-CD8D-70D784205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 Overriding Program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0F2C6-E4C9-28AA-24E8-5A2A4E08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477" y="114611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class Animal {</a:t>
            </a:r>
          </a:p>
          <a:p>
            <a:pPr marL="0" indent="0">
              <a:buNone/>
            </a:pPr>
            <a:r>
              <a:rPr lang="en-IN" sz="1400" dirty="0"/>
              <a:t>void sound() {</a:t>
            </a:r>
          </a:p>
          <a:p>
            <a:pPr marL="0" indent="0">
              <a:buNone/>
            </a:pPr>
            <a:r>
              <a:rPr lang="en-IN" sz="1400" dirty="0" err="1"/>
              <a:t>System.out.println</a:t>
            </a:r>
            <a:r>
              <a:rPr lang="en-IN" sz="1400" dirty="0"/>
              <a:t>("Animal makes sound");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r>
              <a:rPr lang="en-IN" sz="1400" dirty="0"/>
              <a:t>class Dog extends Animal {</a:t>
            </a:r>
            <a:br>
              <a:rPr lang="en-IN" sz="1400" dirty="0"/>
            </a:br>
            <a:endParaRPr lang="en-IN" sz="1400" dirty="0"/>
          </a:p>
          <a:p>
            <a:pPr marL="0" indent="0">
              <a:buNone/>
            </a:pPr>
            <a:r>
              <a:rPr lang="en-IN" sz="1400" dirty="0"/>
              <a:t>void sound() {</a:t>
            </a:r>
          </a:p>
          <a:p>
            <a:pPr marL="0" indent="0">
              <a:buNone/>
            </a:pPr>
            <a:r>
              <a:rPr lang="en-IN" sz="1400" dirty="0" err="1"/>
              <a:t>System.out.println</a:t>
            </a:r>
            <a:r>
              <a:rPr lang="en-IN" sz="1400" dirty="0"/>
              <a:t>("Dog barks");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r>
              <a:rPr lang="en-IN" sz="1400" dirty="0"/>
              <a:t>public class Main {</a:t>
            </a:r>
          </a:p>
          <a:p>
            <a:pPr marL="0" indent="0">
              <a:buNone/>
            </a:pPr>
            <a:r>
              <a:rPr lang="en-IN" sz="1400" dirty="0"/>
              <a:t>public static void main(String[] </a:t>
            </a:r>
            <a:r>
              <a:rPr lang="en-IN" sz="1400" dirty="0" err="1"/>
              <a:t>args</a:t>
            </a:r>
            <a:r>
              <a:rPr lang="en-IN" sz="1400" dirty="0"/>
              <a:t>) {</a:t>
            </a:r>
            <a:br>
              <a:rPr lang="en-IN" sz="1400" dirty="0"/>
            </a:br>
            <a:endParaRPr lang="en-IN" sz="1400" dirty="0"/>
          </a:p>
          <a:p>
            <a:pPr marL="0" indent="0">
              <a:buNone/>
            </a:pPr>
            <a:r>
              <a:rPr lang="en-IN" sz="1400" dirty="0"/>
              <a:t>Animal </a:t>
            </a:r>
            <a:r>
              <a:rPr lang="en-IN" sz="1400" dirty="0" err="1"/>
              <a:t>obj</a:t>
            </a:r>
            <a:r>
              <a:rPr lang="en-IN" sz="1400" dirty="0"/>
              <a:t> = new Dog();</a:t>
            </a:r>
          </a:p>
          <a:p>
            <a:pPr marL="0" indent="0">
              <a:buNone/>
            </a:pPr>
            <a:r>
              <a:rPr lang="en-IN" sz="1400" dirty="0" err="1"/>
              <a:t>obj.sound</a:t>
            </a:r>
            <a:r>
              <a:rPr lang="en-IN" sz="1400" dirty="0"/>
              <a:t>();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02023681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2172-084F-FB5D-1106-26A28F81E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06" y="-188549"/>
            <a:ext cx="10515600" cy="1325563"/>
          </a:xfrm>
        </p:spPr>
        <p:txBody>
          <a:bodyPr/>
          <a:lstStyle/>
          <a:p>
            <a:r>
              <a:rPr lang="en-IN" dirty="0"/>
              <a:t>Method Overriding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37C78-0FA3-AF1A-DE14-3FFA57CB9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421" y="74999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Step 1</a:t>
            </a:r>
          </a:p>
          <a:p>
            <a:pPr marL="0" indent="0">
              <a:buNone/>
            </a:pPr>
            <a:r>
              <a:rPr lang="en-US" sz="1200" dirty="0"/>
              <a:t>class Animal</a:t>
            </a:r>
          </a:p>
          <a:p>
            <a:pPr marL="0" indent="0">
              <a:buNone/>
            </a:pPr>
            <a:r>
              <a:rPr lang="en-US" sz="1200" dirty="0"/>
              <a:t>Parent class created.</a:t>
            </a:r>
          </a:p>
          <a:p>
            <a:pPr marL="0" indent="0">
              <a:buNone/>
            </a:pPr>
            <a:r>
              <a:rPr lang="en-US" sz="1200" b="1" dirty="0"/>
              <a:t>Step 2</a:t>
            </a:r>
          </a:p>
          <a:p>
            <a:pPr marL="0" indent="0">
              <a:buNone/>
            </a:pPr>
            <a:r>
              <a:rPr lang="en-US" sz="1200" dirty="0"/>
              <a:t>void sound()</a:t>
            </a:r>
          </a:p>
          <a:p>
            <a:pPr marL="0" indent="0">
              <a:buNone/>
            </a:pPr>
            <a:r>
              <a:rPr lang="en-US" sz="1200" dirty="0"/>
              <a:t>Parent method.</a:t>
            </a:r>
          </a:p>
          <a:p>
            <a:pPr marL="0" indent="0">
              <a:buNone/>
            </a:pPr>
            <a:r>
              <a:rPr lang="en-US" sz="1200" b="1" dirty="0"/>
              <a:t>Step 3</a:t>
            </a:r>
          </a:p>
          <a:p>
            <a:pPr marL="0" indent="0">
              <a:buNone/>
            </a:pPr>
            <a:r>
              <a:rPr lang="en-US" sz="1200" dirty="0"/>
              <a:t>class Dog extends Animal</a:t>
            </a:r>
          </a:p>
          <a:p>
            <a:pPr marL="0" indent="0">
              <a:buNone/>
            </a:pPr>
            <a:r>
              <a:rPr lang="en-US" sz="1200" dirty="0"/>
              <a:t>Dog inherits Animal class.</a:t>
            </a:r>
          </a:p>
          <a:p>
            <a:pPr marL="0" indent="0">
              <a:buNone/>
            </a:pPr>
            <a:r>
              <a:rPr lang="en-US" sz="1200" b="1" dirty="0"/>
              <a:t>Step 4</a:t>
            </a:r>
          </a:p>
          <a:p>
            <a:pPr marL="0" indent="0">
              <a:buNone/>
            </a:pPr>
            <a:r>
              <a:rPr lang="en-US" sz="1200" dirty="0"/>
              <a:t>void sound()</a:t>
            </a:r>
          </a:p>
          <a:p>
            <a:pPr marL="0" indent="0">
              <a:buNone/>
            </a:pPr>
            <a:r>
              <a:rPr lang="en-US" sz="1200" dirty="0"/>
              <a:t>Child class overrides parent method.</a:t>
            </a:r>
          </a:p>
          <a:p>
            <a:pPr marL="0" indent="0">
              <a:buNone/>
            </a:pPr>
            <a:r>
              <a:rPr lang="en-US" sz="1200" b="1" dirty="0"/>
              <a:t>Step 5</a:t>
            </a:r>
          </a:p>
          <a:p>
            <a:pPr marL="0" indent="0">
              <a:buNone/>
            </a:pPr>
            <a:r>
              <a:rPr lang="en-US" sz="1200" dirty="0"/>
              <a:t>Animal obj = new Dog();</a:t>
            </a:r>
          </a:p>
          <a:p>
            <a:pPr marL="0" indent="0">
              <a:buNone/>
            </a:pPr>
            <a:r>
              <a:rPr lang="en-US" sz="1200" dirty="0"/>
              <a:t>Parent reference stores child object.</a:t>
            </a:r>
          </a:p>
          <a:p>
            <a:pPr marL="0" indent="0">
              <a:buNone/>
            </a:pPr>
            <a:r>
              <a:rPr lang="en-US" sz="1200" b="1" dirty="0"/>
              <a:t>Step 6</a:t>
            </a:r>
          </a:p>
          <a:p>
            <a:pPr marL="0" indent="0">
              <a:buNone/>
            </a:pPr>
            <a:r>
              <a:rPr lang="en-US" sz="1200" dirty="0" err="1"/>
              <a:t>obj.sound</a:t>
            </a:r>
            <a:r>
              <a:rPr lang="en-US" sz="1200" dirty="0"/>
              <a:t>();</a:t>
            </a:r>
          </a:p>
          <a:p>
            <a:pPr marL="0" indent="0">
              <a:buNone/>
            </a:pPr>
            <a:r>
              <a:rPr lang="en-US" sz="1200" dirty="0"/>
              <a:t>Child class method executes.</a:t>
            </a:r>
          </a:p>
          <a:p>
            <a:pPr marL="0" indent="0">
              <a:buNone/>
            </a:pPr>
            <a:r>
              <a:rPr lang="en-US" sz="1200" dirty="0"/>
              <a:t>Runtime decides which method to call.</a:t>
            </a:r>
            <a:br>
              <a:rPr lang="en-US" sz="1200" dirty="0"/>
            </a:b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Slide 15: Output for Method Overriding</a:t>
            </a:r>
          </a:p>
          <a:p>
            <a:pPr marL="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24558640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47E3-039F-7892-9A35-3F5B78FA8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Abstraction?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7AAB7-D85A-46CD-0089-4BFC86DB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Abstraction means:</a:t>
            </a:r>
          </a:p>
          <a:p>
            <a:pPr marL="0" indent="0">
              <a:buNone/>
            </a:pPr>
            <a:r>
              <a:rPr lang="en-US" dirty="0"/>
              <a:t>hiding internal details </a:t>
            </a:r>
          </a:p>
          <a:p>
            <a:pPr marL="0" indent="0">
              <a:buNone/>
            </a:pPr>
            <a:r>
              <a:rPr lang="en-US" dirty="0"/>
              <a:t>showing only important features </a:t>
            </a:r>
          </a:p>
          <a:p>
            <a:pPr marL="0" indent="0">
              <a:buNone/>
            </a:pPr>
            <a:r>
              <a:rPr lang="en-US" dirty="0"/>
              <a:t>User knows </a:t>
            </a:r>
            <a:r>
              <a:rPr lang="en-US" b="1" dirty="0"/>
              <a:t>what the object does</a:t>
            </a:r>
            <a:br>
              <a:rPr lang="en-US" dirty="0"/>
            </a:br>
            <a:r>
              <a:rPr lang="en-US" dirty="0"/>
              <a:t>but not </a:t>
            </a:r>
            <a:r>
              <a:rPr lang="en-US" b="1" dirty="0"/>
              <a:t>how it works internally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35559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C8ECE-3398-5273-904C-D237EC418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164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Real Time Example</a:t>
            </a:r>
          </a:p>
          <a:p>
            <a:pPr marL="0" indent="0">
              <a:buNone/>
            </a:pPr>
            <a:r>
              <a:rPr lang="en-US" b="1" dirty="0"/>
              <a:t>ATM Machine</a:t>
            </a:r>
          </a:p>
          <a:p>
            <a:pPr marL="0" indent="0">
              <a:buNone/>
            </a:pPr>
            <a:r>
              <a:rPr lang="en-US" dirty="0"/>
              <a:t>You:</a:t>
            </a:r>
          </a:p>
          <a:p>
            <a:pPr marL="0" indent="0">
              <a:buNone/>
            </a:pPr>
            <a:r>
              <a:rPr lang="en-US" dirty="0"/>
              <a:t>insert card </a:t>
            </a:r>
          </a:p>
          <a:p>
            <a:pPr marL="0" indent="0">
              <a:buNone/>
            </a:pPr>
            <a:r>
              <a:rPr lang="en-US" dirty="0"/>
              <a:t>enter PIN </a:t>
            </a:r>
          </a:p>
          <a:p>
            <a:pPr marL="0" indent="0">
              <a:buNone/>
            </a:pPr>
            <a:r>
              <a:rPr lang="en-US" dirty="0"/>
              <a:t>withdraw money </a:t>
            </a:r>
          </a:p>
          <a:p>
            <a:pPr marL="0" indent="0">
              <a:buNone/>
            </a:pPr>
            <a:r>
              <a:rPr lang="en-US" dirty="0"/>
              <a:t>You do NOT know:</a:t>
            </a:r>
          </a:p>
          <a:p>
            <a:pPr marL="0" indent="0">
              <a:buNone/>
            </a:pPr>
            <a:r>
              <a:rPr lang="en-US" dirty="0"/>
              <a:t>bank server process </a:t>
            </a:r>
          </a:p>
          <a:p>
            <a:pPr marL="0" indent="0">
              <a:buNone/>
            </a:pPr>
            <a:r>
              <a:rPr lang="en-US" dirty="0"/>
              <a:t>database connection </a:t>
            </a:r>
          </a:p>
          <a:p>
            <a:pPr marL="0" indent="0">
              <a:buNone/>
            </a:pPr>
            <a:r>
              <a:rPr lang="en-US" dirty="0"/>
              <a:t>transaction logic </a:t>
            </a:r>
          </a:p>
          <a:p>
            <a:pPr marL="0" indent="0">
              <a:buNone/>
            </a:pPr>
            <a:r>
              <a:rPr lang="en-US" dirty="0"/>
              <a:t>This is abstraction.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A106AC-7CE9-4788-BE71-611342FFC48C}"/>
              </a:ext>
            </a:extLst>
          </p:cNvPr>
          <p:cNvSpPr txBox="1"/>
          <p:nvPr/>
        </p:nvSpPr>
        <p:spPr>
          <a:xfrm>
            <a:off x="838200" y="4905420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Abstraction?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complexity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maintenance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code</a:t>
            </a:r>
          </a:p>
        </p:txBody>
      </p:sp>
    </p:spTree>
    <p:extLst>
      <p:ext uri="{BB962C8B-B14F-4D97-AF65-F5344CB8AC3E}">
        <p14:creationId xmlns:p14="http://schemas.microsoft.com/office/powerpoint/2010/main" val="401268652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39957-2083-C302-EBAC-E869045C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1" y="1"/>
            <a:ext cx="10515600" cy="953170"/>
          </a:xfrm>
        </p:spPr>
        <p:txBody>
          <a:bodyPr/>
          <a:lstStyle/>
          <a:p>
            <a:r>
              <a:rPr lang="en-IN" dirty="0"/>
              <a:t>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CC219-66EC-F624-6A31-A5F021A1C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247" y="953170"/>
            <a:ext cx="3666689" cy="2142368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Definition</a:t>
            </a:r>
          </a:p>
          <a:p>
            <a:pPr marL="0" indent="0">
              <a:buNone/>
            </a:pPr>
            <a:r>
              <a:rPr lang="en-US" sz="1400" dirty="0"/>
              <a:t>A class declared using abstract keyword.</a:t>
            </a:r>
          </a:p>
          <a:p>
            <a:pPr marL="0" indent="0">
              <a:buNone/>
            </a:pPr>
            <a:r>
              <a:rPr lang="en-US" sz="1400" dirty="0"/>
              <a:t>It:</a:t>
            </a:r>
          </a:p>
          <a:p>
            <a:pPr marL="0" indent="0">
              <a:buNone/>
            </a:pPr>
            <a:r>
              <a:rPr lang="en-US" sz="1400" dirty="0"/>
              <a:t>can contain abstract methods </a:t>
            </a:r>
          </a:p>
          <a:p>
            <a:pPr marL="0" indent="0">
              <a:buNone/>
            </a:pPr>
            <a:r>
              <a:rPr lang="en-US" sz="1400" dirty="0"/>
              <a:t>can contain normal methods </a:t>
            </a:r>
          </a:p>
          <a:p>
            <a:pPr marL="0" indent="0">
              <a:buNone/>
            </a:pPr>
            <a:r>
              <a:rPr lang="en-US" sz="1400" dirty="0"/>
              <a:t>cannot create objects directly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C4F96-B358-A36B-42C8-6C956DF05F08}"/>
              </a:ext>
            </a:extLst>
          </p:cNvPr>
          <p:cNvSpPr txBox="1"/>
          <p:nvPr/>
        </p:nvSpPr>
        <p:spPr>
          <a:xfrm>
            <a:off x="83191" y="2973546"/>
            <a:ext cx="61784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Abstract Method</a:t>
            </a:r>
          </a:p>
          <a:p>
            <a:pPr>
              <a:buNone/>
            </a:pPr>
            <a:r>
              <a:rPr lang="en-US" dirty="0"/>
              <a:t>A method without body.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abstract void display();</a:t>
            </a:r>
          </a:p>
        </p:txBody>
      </p:sp>
    </p:spTree>
    <p:extLst>
      <p:ext uri="{BB962C8B-B14F-4D97-AF65-F5344CB8AC3E}">
        <p14:creationId xmlns:p14="http://schemas.microsoft.com/office/powerpoint/2010/main" val="294507142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1A40-0E14-582A-6F58-D1B80241B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974" y="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abstract class Animal {</a:t>
            </a:r>
          </a:p>
          <a:p>
            <a:pPr marL="0" indent="0">
              <a:buNone/>
            </a:pPr>
            <a:r>
              <a:rPr lang="en-IN" sz="1600" dirty="0"/>
              <a:t>    abstract void sound();</a:t>
            </a:r>
          </a:p>
          <a:p>
            <a:pPr marL="0" indent="0">
              <a:buNone/>
            </a:pPr>
            <a:r>
              <a:rPr lang="en-IN" sz="1600" dirty="0"/>
              <a:t>    void sleep() 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System.out.println</a:t>
            </a:r>
            <a:r>
              <a:rPr lang="en-IN" sz="1600" dirty="0"/>
              <a:t>("Animal is sleeping");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class Dog extends Animal {</a:t>
            </a:r>
          </a:p>
          <a:p>
            <a:pPr marL="0" indent="0">
              <a:buNone/>
            </a:pPr>
            <a:r>
              <a:rPr lang="en-IN" sz="1600" dirty="0"/>
              <a:t>    void sound() 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System.out.println</a:t>
            </a:r>
            <a:r>
              <a:rPr lang="en-IN" sz="1600" dirty="0"/>
              <a:t>("Dog barks");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/>
              <a:t>public class Main {</a:t>
            </a:r>
          </a:p>
          <a:p>
            <a:pPr marL="0" indent="0">
              <a:buNone/>
            </a:pPr>
            <a:r>
              <a:rPr lang="en-IN" sz="1600" dirty="0"/>
              <a:t>    public static void main(String[] </a:t>
            </a:r>
            <a:r>
              <a:rPr lang="en-IN" sz="1600" dirty="0" err="1"/>
              <a:t>args</a:t>
            </a:r>
            <a:r>
              <a:rPr lang="en-IN" sz="1600" dirty="0"/>
              <a:t>) {</a:t>
            </a:r>
          </a:p>
          <a:p>
            <a:pPr marL="0" indent="0">
              <a:buNone/>
            </a:pPr>
            <a:r>
              <a:rPr lang="en-IN" sz="1600" dirty="0"/>
              <a:t>        Dog </a:t>
            </a:r>
            <a:r>
              <a:rPr lang="en-IN" sz="1600" dirty="0" err="1"/>
              <a:t>obj</a:t>
            </a:r>
            <a:r>
              <a:rPr lang="en-IN" sz="1600" dirty="0"/>
              <a:t> = new Dog();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obj.sound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obj.sleep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709452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AB3DB-7B8D-7B8B-24A7-D88ED01D8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563" y="248495"/>
            <a:ext cx="562132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Line by Line Explanation</a:t>
            </a:r>
          </a:p>
          <a:p>
            <a:pPr marL="0" indent="0">
              <a:buNone/>
            </a:pPr>
            <a:r>
              <a:rPr lang="en-US" sz="1600" dirty="0"/>
              <a:t>abstract class Animal</a:t>
            </a:r>
          </a:p>
          <a:p>
            <a:pPr marL="0" indent="0">
              <a:buNone/>
            </a:pPr>
            <a:r>
              <a:rPr lang="en-US" sz="1600" dirty="0"/>
              <a:t>Creates abstract class.</a:t>
            </a:r>
          </a:p>
          <a:p>
            <a:pPr marL="0" indent="0">
              <a:buNone/>
            </a:pPr>
            <a:r>
              <a:rPr lang="en-US" sz="1600" dirty="0"/>
              <a:t>Cannot create object directly.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abstract void sound();</a:t>
            </a:r>
          </a:p>
          <a:p>
            <a:pPr marL="0" indent="0">
              <a:buNone/>
            </a:pPr>
            <a:r>
              <a:rPr lang="en-US" sz="1600" dirty="0"/>
              <a:t>Abstract method.</a:t>
            </a:r>
          </a:p>
          <a:p>
            <a:pPr marL="0" indent="0">
              <a:buNone/>
            </a:pPr>
            <a:r>
              <a:rPr lang="en-US" sz="1600" dirty="0"/>
              <a:t>No body.</a:t>
            </a:r>
          </a:p>
          <a:p>
            <a:pPr marL="0" indent="0">
              <a:buNone/>
            </a:pPr>
            <a:r>
              <a:rPr lang="en-US" sz="1600" dirty="0"/>
              <a:t>Child class MUST implement it.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void sleep()</a:t>
            </a:r>
          </a:p>
          <a:p>
            <a:pPr marL="0" indent="0">
              <a:buNone/>
            </a:pPr>
            <a:r>
              <a:rPr lang="en-US" sz="1600" dirty="0"/>
              <a:t>Normal method inside abstract class.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class Dog extends Animal</a:t>
            </a:r>
          </a:p>
          <a:p>
            <a:pPr marL="0" indent="0">
              <a:buNone/>
            </a:pPr>
            <a:r>
              <a:rPr lang="en-US" sz="1600" dirty="0"/>
              <a:t>Dog inherits Animal.</a:t>
            </a:r>
          </a:p>
          <a:p>
            <a:pPr marL="0" indent="0">
              <a:buNone/>
            </a:pPr>
            <a:r>
              <a:rPr lang="en-US" sz="1600" dirty="0"/>
              <a:t>void sound()</a:t>
            </a:r>
          </a:p>
          <a:p>
            <a:pPr marL="0" indent="0">
              <a:buNone/>
            </a:pPr>
            <a:r>
              <a:rPr lang="en-US" sz="1600" dirty="0"/>
              <a:t>Implementation of abstract method.</a:t>
            </a:r>
          </a:p>
          <a:p>
            <a:pPr marL="0" indent="0">
              <a:buNone/>
            </a:pPr>
            <a:r>
              <a:rPr lang="en-US" sz="1600" dirty="0"/>
              <a:t>Dog obj = new Dog();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D2B1F-5979-376A-5BC5-342D49C8154F}"/>
              </a:ext>
            </a:extLst>
          </p:cNvPr>
          <p:cNvSpPr txBox="1"/>
          <p:nvPr/>
        </p:nvSpPr>
        <p:spPr>
          <a:xfrm>
            <a:off x="4263705" y="644615"/>
            <a:ext cx="60946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Creates Dog object.</a:t>
            </a:r>
          </a:p>
          <a:p>
            <a:r>
              <a:rPr lang="en-US" dirty="0" err="1"/>
              <a:t>obj.sound</a:t>
            </a:r>
            <a:r>
              <a:rPr lang="en-US" dirty="0"/>
              <a:t>();</a:t>
            </a:r>
          </a:p>
          <a:p>
            <a:r>
              <a:rPr lang="en-US" dirty="0"/>
              <a:t>Calls Dog method.</a:t>
            </a:r>
          </a:p>
          <a:p>
            <a:r>
              <a:rPr lang="en-US" dirty="0"/>
              <a:t>Output:</a:t>
            </a:r>
          </a:p>
          <a:p>
            <a:r>
              <a:rPr lang="en-US" dirty="0"/>
              <a:t>Dog barks</a:t>
            </a:r>
          </a:p>
          <a:p>
            <a:endParaRPr lang="en-US" dirty="0"/>
          </a:p>
          <a:p>
            <a:r>
              <a:rPr lang="en-US" dirty="0" err="1"/>
              <a:t>obj.sleep</a:t>
            </a:r>
            <a:r>
              <a:rPr lang="en-US" dirty="0"/>
              <a:t>();</a:t>
            </a:r>
          </a:p>
          <a:p>
            <a:r>
              <a:rPr lang="en-US" dirty="0"/>
              <a:t>Calls inherited normal method.</a:t>
            </a:r>
          </a:p>
          <a:p>
            <a:r>
              <a:rPr lang="en-US" dirty="0"/>
              <a:t>Output:</a:t>
            </a:r>
          </a:p>
          <a:p>
            <a:r>
              <a:rPr lang="en-US" dirty="0"/>
              <a:t>Animal is sleeping</a:t>
            </a:r>
          </a:p>
        </p:txBody>
      </p:sp>
    </p:spTree>
    <p:extLst>
      <p:ext uri="{BB962C8B-B14F-4D97-AF65-F5344CB8AC3E}">
        <p14:creationId xmlns:p14="http://schemas.microsoft.com/office/powerpoint/2010/main" val="76431372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4C923-2E37-E604-9A1D-CEDFE46E8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13" y="18255"/>
            <a:ext cx="10515600" cy="1325563"/>
          </a:xfrm>
        </p:spPr>
        <p:txBody>
          <a:bodyPr/>
          <a:lstStyle/>
          <a:p>
            <a:r>
              <a:rPr lang="en-IN" dirty="0"/>
              <a:t>Interface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9F18C-2C53-FBAF-B245-C7497ED25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193" y="1374199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Definition</a:t>
            </a:r>
          </a:p>
          <a:p>
            <a:pPr marL="0" indent="0">
              <a:buNone/>
            </a:pPr>
            <a:r>
              <a:rPr lang="en-IN" dirty="0"/>
              <a:t>Interface is used to achieve:</a:t>
            </a:r>
          </a:p>
          <a:p>
            <a:pPr marL="0" indent="0">
              <a:buNone/>
            </a:pPr>
            <a:r>
              <a:rPr lang="en-IN" dirty="0"/>
              <a:t>full abstraction </a:t>
            </a:r>
          </a:p>
          <a:p>
            <a:pPr marL="0" indent="0">
              <a:buNone/>
            </a:pPr>
            <a:r>
              <a:rPr lang="en-IN" dirty="0"/>
              <a:t>multiple inheritance </a:t>
            </a:r>
          </a:p>
          <a:p>
            <a:pPr marL="0" indent="0">
              <a:buNone/>
            </a:pPr>
            <a:r>
              <a:rPr lang="en-IN" dirty="0"/>
              <a:t>Interface contains:</a:t>
            </a:r>
          </a:p>
          <a:p>
            <a:pPr marL="0" indent="0">
              <a:buNone/>
            </a:pPr>
            <a:r>
              <a:rPr lang="en-IN" dirty="0"/>
              <a:t>abstract methods </a:t>
            </a:r>
          </a:p>
          <a:p>
            <a:pPr marL="0" indent="0">
              <a:buNone/>
            </a:pPr>
            <a:r>
              <a:rPr lang="en-IN" dirty="0"/>
              <a:t>public static final variables 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Syntax</a:t>
            </a:r>
          </a:p>
          <a:p>
            <a:pPr marL="0" indent="0">
              <a:buNone/>
            </a:pPr>
            <a:r>
              <a:rPr lang="en-IN" dirty="0"/>
              <a:t>interface Vehicle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void start();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71672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9C1F2-5A56-1FC2-D1D3-A03D55A80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40" y="307218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Interface using Implements</a:t>
            </a:r>
          </a:p>
          <a:p>
            <a:pPr marL="0" indent="0">
              <a:buNone/>
            </a:pPr>
            <a:r>
              <a:rPr lang="en-IN" b="1" dirty="0"/>
              <a:t>Program Example</a:t>
            </a:r>
          </a:p>
          <a:p>
            <a:pPr marL="0" indent="0">
              <a:buNone/>
            </a:pPr>
            <a:r>
              <a:rPr lang="en-IN" dirty="0"/>
              <a:t>interface Vehicle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void start();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Car implements Vehicle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void start()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("Car starts with key");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Car </a:t>
            </a:r>
            <a:r>
              <a:rPr lang="en-IN" dirty="0" err="1"/>
              <a:t>obj</a:t>
            </a:r>
            <a:r>
              <a:rPr lang="en-IN" dirty="0"/>
              <a:t> = new Car();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obj.start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B60071-ED9F-DB1A-0EEE-A89F6EDD805E}"/>
              </a:ext>
            </a:extLst>
          </p:cNvPr>
          <p:cNvSpPr txBox="1"/>
          <p:nvPr/>
        </p:nvSpPr>
        <p:spPr>
          <a:xfrm>
            <a:off x="6226729" y="307218"/>
            <a:ext cx="60946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Line by Line Explanation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interface Vehicle</a:t>
            </a:r>
          </a:p>
          <a:p>
            <a:pPr>
              <a:buNone/>
            </a:pPr>
            <a:r>
              <a:rPr lang="en-US" dirty="0"/>
              <a:t>Creates interface.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void start();</a:t>
            </a:r>
          </a:p>
          <a:p>
            <a:pPr>
              <a:buNone/>
            </a:pPr>
            <a:r>
              <a:rPr lang="en-US" dirty="0"/>
              <a:t>Abstract method inside interface.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Car implements Vehicle</a:t>
            </a:r>
          </a:p>
          <a:p>
            <a:pPr>
              <a:buNone/>
            </a:pPr>
            <a:r>
              <a:rPr lang="en-US" dirty="0"/>
              <a:t>Car class implements interface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public void start()</a:t>
            </a:r>
          </a:p>
          <a:p>
            <a:pPr>
              <a:buNone/>
            </a:pPr>
            <a:r>
              <a:rPr lang="en-US" dirty="0"/>
              <a:t>Method implementation.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public</a:t>
            </a:r>
            <a:r>
              <a:rPr lang="en-US" dirty="0"/>
              <a:t> is compulsory.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Car obj = new Car();</a:t>
            </a:r>
          </a:p>
          <a:p>
            <a:pPr>
              <a:buNone/>
            </a:pPr>
            <a:r>
              <a:rPr lang="en-US" dirty="0"/>
              <a:t>Creates object.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obj.start</a:t>
            </a:r>
            <a:r>
              <a:rPr lang="en-US" dirty="0">
                <a:latin typeface="Courier New" panose="02070309020205020404" pitchFamily="49" charset="0"/>
              </a:rPr>
              <a:t>();</a:t>
            </a:r>
          </a:p>
          <a:p>
            <a:pPr>
              <a:buNone/>
            </a:pPr>
            <a:r>
              <a:rPr lang="en-US" dirty="0"/>
              <a:t>Calls implemented method.</a:t>
            </a:r>
          </a:p>
          <a:p>
            <a:pPr>
              <a:buNone/>
            </a:pPr>
            <a:r>
              <a:rPr lang="en-US" dirty="0"/>
              <a:t>Output: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Car starts with key</a:t>
            </a:r>
          </a:p>
        </p:txBody>
      </p:sp>
    </p:spTree>
    <p:extLst>
      <p:ext uri="{BB962C8B-B14F-4D97-AF65-F5344CB8AC3E}">
        <p14:creationId xmlns:p14="http://schemas.microsoft.com/office/powerpoint/2010/main" val="23965569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954A8E-C201-22C3-FCE5-73FB185BAD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014626"/>
              </p:ext>
            </p:extLst>
          </p:nvPr>
        </p:nvGraphicFramePr>
        <p:xfrm>
          <a:off x="511029" y="863811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4941228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842032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209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51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Abstract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1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and static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621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Keyword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6850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6468C0-6DED-83A4-297B-EF514A9D6450}"/>
              </a:ext>
            </a:extLst>
          </p:cNvPr>
          <p:cNvSpPr txBox="1"/>
          <p:nvPr/>
        </p:nvSpPr>
        <p:spPr>
          <a:xfrm>
            <a:off x="511029" y="360619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Important Points</a:t>
            </a:r>
          </a:p>
        </p:txBody>
      </p:sp>
    </p:spTree>
    <p:extLst>
      <p:ext uri="{BB962C8B-B14F-4D97-AF65-F5344CB8AC3E}">
        <p14:creationId xmlns:p14="http://schemas.microsoft.com/office/powerpoint/2010/main" val="90222104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ABE7-854C-8A4C-6C03-8D59951A1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Aggregation in Java</a:t>
            </a:r>
            <a:br>
              <a:rPr lang="en-IN" b="1" dirty="0"/>
            </a:br>
            <a:r>
              <a:rPr lang="en-IN" b="1" dirty="0"/>
              <a:t>Definition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3B688-D375-894E-5854-A762ABF34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143" y="1532010"/>
            <a:ext cx="4513976" cy="1194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Aggregation represents:</a:t>
            </a:r>
          </a:p>
          <a:p>
            <a:pPr marL="0" indent="0">
              <a:buNone/>
            </a:pPr>
            <a:r>
              <a:rPr lang="en-US" sz="1800" b="1" dirty="0"/>
              <a:t>HAS-A Relationship</a:t>
            </a:r>
          </a:p>
          <a:p>
            <a:pPr marL="0" indent="0">
              <a:buNone/>
            </a:pPr>
            <a:r>
              <a:rPr lang="en-US" sz="1800" dirty="0"/>
              <a:t>One class contains another class object.</a:t>
            </a:r>
          </a:p>
          <a:p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F4848A-EAED-7175-E0C7-8D46FD50853C}"/>
              </a:ext>
            </a:extLst>
          </p:cNvPr>
          <p:cNvSpPr txBox="1"/>
          <p:nvPr/>
        </p:nvSpPr>
        <p:spPr>
          <a:xfrm>
            <a:off x="6096000" y="1312526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 Time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Department HAS-A Teacher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Library HAS-A Books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College HAS-A Students </a:t>
            </a:r>
          </a:p>
        </p:txBody>
      </p:sp>
    </p:spTree>
    <p:extLst>
      <p:ext uri="{BB962C8B-B14F-4D97-AF65-F5344CB8AC3E}">
        <p14:creationId xmlns:p14="http://schemas.microsoft.com/office/powerpoint/2010/main" val="132569228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519AB-F93F-90F6-46C3-C816A1E8D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76" y="0"/>
            <a:ext cx="232046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100" b="1" dirty="0"/>
              <a:t>Program Example</a:t>
            </a:r>
          </a:p>
          <a:p>
            <a:pPr marL="0" indent="0">
              <a:buNone/>
            </a:pPr>
            <a:r>
              <a:rPr lang="en-IN" sz="1100" dirty="0"/>
              <a:t>class Address {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String city;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Address(String city) {</a:t>
            </a:r>
            <a:br>
              <a:rPr lang="en-IN" sz="1100" dirty="0"/>
            </a:br>
            <a:r>
              <a:rPr lang="en-IN" sz="1100" dirty="0"/>
              <a:t>        </a:t>
            </a:r>
            <a:r>
              <a:rPr lang="en-IN" sz="1100" dirty="0" err="1"/>
              <a:t>this.city</a:t>
            </a:r>
            <a:r>
              <a:rPr lang="en-IN" sz="1100" dirty="0"/>
              <a:t> = city;</a:t>
            </a:r>
            <a:br>
              <a:rPr lang="en-IN" sz="1100" dirty="0"/>
            </a:br>
            <a:r>
              <a:rPr lang="en-IN" sz="1100" dirty="0"/>
              <a:t>    }</a:t>
            </a:r>
            <a:br>
              <a:rPr lang="en-IN" sz="1100" dirty="0"/>
            </a:br>
            <a:r>
              <a:rPr lang="en-IN" sz="1100" dirty="0"/>
              <a:t>}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class Student {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String name;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Address </a:t>
            </a:r>
            <a:r>
              <a:rPr lang="en-IN" sz="1100" dirty="0" err="1"/>
              <a:t>address</a:t>
            </a:r>
            <a:r>
              <a:rPr lang="en-IN" sz="1100" dirty="0"/>
              <a:t>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Student(String name, Address address) {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    this.name = name;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    </a:t>
            </a:r>
            <a:r>
              <a:rPr lang="en-IN" sz="1100" dirty="0" err="1"/>
              <a:t>this.address</a:t>
            </a:r>
            <a:r>
              <a:rPr lang="en-IN" sz="1100" dirty="0"/>
              <a:t> = address;</a:t>
            </a:r>
            <a:br>
              <a:rPr lang="en-IN" sz="1100" dirty="0"/>
            </a:br>
            <a:r>
              <a:rPr lang="en-IN" sz="1100" dirty="0"/>
              <a:t>    }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void display() {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    </a:t>
            </a:r>
            <a:r>
              <a:rPr lang="en-IN" sz="1100" dirty="0" err="1"/>
              <a:t>System.out.println</a:t>
            </a:r>
            <a:r>
              <a:rPr lang="en-IN" sz="1100" dirty="0"/>
              <a:t>(name);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    </a:t>
            </a:r>
            <a:r>
              <a:rPr lang="en-IN" sz="1100" dirty="0" err="1"/>
              <a:t>System.out.println</a:t>
            </a:r>
            <a:r>
              <a:rPr lang="en-IN" sz="1100" dirty="0"/>
              <a:t>(</a:t>
            </a:r>
            <a:r>
              <a:rPr lang="en-IN" sz="1100" dirty="0" err="1"/>
              <a:t>address.city</a:t>
            </a:r>
            <a:r>
              <a:rPr lang="en-IN" sz="1100" dirty="0"/>
              <a:t>);</a:t>
            </a:r>
            <a:br>
              <a:rPr lang="en-IN" sz="1100" dirty="0"/>
            </a:br>
            <a:r>
              <a:rPr lang="en-IN" sz="1100" dirty="0"/>
              <a:t>    }</a:t>
            </a:r>
            <a:br>
              <a:rPr lang="en-IN" sz="1100" dirty="0"/>
            </a:br>
            <a:r>
              <a:rPr lang="en-IN" sz="1100" dirty="0"/>
              <a:t>}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public class Main {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public static void main(String[] </a:t>
            </a:r>
            <a:r>
              <a:rPr lang="en-IN" sz="1100" dirty="0" err="1"/>
              <a:t>args</a:t>
            </a:r>
            <a:r>
              <a:rPr lang="en-IN" sz="1100" dirty="0"/>
              <a:t>) {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    Address a1 = new Address("Chennai");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    Student s1 = new Student("Arun", a1);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    s1.display();</a:t>
            </a:r>
            <a:br>
              <a:rPr lang="en-IN" sz="1100" dirty="0"/>
            </a:br>
            <a:r>
              <a:rPr lang="en-IN" sz="1100" dirty="0"/>
              <a:t>    }</a:t>
            </a:r>
            <a:br>
              <a:rPr lang="en-IN" sz="1100" dirty="0"/>
            </a:br>
            <a:r>
              <a:rPr lang="en-IN" sz="1100" dirty="0"/>
              <a:t>}</a:t>
            </a:r>
          </a:p>
          <a:p>
            <a:pPr marL="0" indent="0">
              <a:buNone/>
            </a:pPr>
            <a:endParaRPr lang="en-IN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25C0B-CB6C-8929-C702-40FA2FFB8992}"/>
              </a:ext>
            </a:extLst>
          </p:cNvPr>
          <p:cNvSpPr txBox="1"/>
          <p:nvPr/>
        </p:nvSpPr>
        <p:spPr>
          <a:xfrm>
            <a:off x="7680960" y="0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Line by Line Explanation</a:t>
            </a:r>
          </a:p>
          <a:p>
            <a:pPr marL="0" indent="0">
              <a:buNone/>
            </a:pPr>
            <a:r>
              <a:rPr lang="en-US" sz="1800" dirty="0"/>
              <a:t>class Address</a:t>
            </a:r>
          </a:p>
          <a:p>
            <a:pPr marL="0" indent="0">
              <a:buNone/>
            </a:pPr>
            <a:r>
              <a:rPr lang="en-US" sz="1800" dirty="0"/>
              <a:t>Address class created.</a:t>
            </a:r>
          </a:p>
          <a:p>
            <a:pPr marL="0" indent="0">
              <a:buNone/>
            </a:pPr>
            <a:r>
              <a:rPr lang="en-US" sz="1800" dirty="0"/>
              <a:t>String city;</a:t>
            </a:r>
          </a:p>
          <a:p>
            <a:pPr marL="0" indent="0">
              <a:buNone/>
            </a:pPr>
            <a:r>
              <a:rPr lang="en-US" sz="1800" dirty="0"/>
              <a:t>Stores city name.</a:t>
            </a:r>
          </a:p>
          <a:p>
            <a:pPr marL="0" indent="0">
              <a:buNone/>
            </a:pPr>
            <a:r>
              <a:rPr lang="en-US" sz="1800" dirty="0"/>
              <a:t>Address </a:t>
            </a:r>
            <a:r>
              <a:rPr lang="en-US" sz="1800" dirty="0" err="1"/>
              <a:t>address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r>
              <a:rPr lang="en-US" sz="1800" dirty="0"/>
              <a:t>Student HAS-A Address object.</a:t>
            </a:r>
          </a:p>
          <a:p>
            <a:pPr marL="0" indent="0">
              <a:buNone/>
            </a:pPr>
            <a:r>
              <a:rPr lang="en-US" sz="1800" dirty="0"/>
              <a:t>Aggregation relationship.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dirty="0"/>
              <a:t>Student(String name, Address address)</a:t>
            </a:r>
          </a:p>
          <a:p>
            <a:pPr marL="0" indent="0">
              <a:buNone/>
            </a:pPr>
            <a:r>
              <a:rPr lang="en-US" sz="1800" dirty="0"/>
              <a:t>Constructor receives Address object.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this.address</a:t>
            </a:r>
            <a:r>
              <a:rPr lang="en-US" sz="1800" dirty="0"/>
              <a:t> = address;</a:t>
            </a:r>
          </a:p>
          <a:p>
            <a:pPr marL="0" indent="0">
              <a:buNone/>
            </a:pPr>
            <a:r>
              <a:rPr lang="en-US" sz="1800" dirty="0"/>
              <a:t>Stores address object.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System.out.println</a:t>
            </a:r>
            <a:r>
              <a:rPr lang="en-US" sz="1800" dirty="0"/>
              <a:t>(</a:t>
            </a:r>
            <a:r>
              <a:rPr lang="en-US" sz="1800" dirty="0" err="1"/>
              <a:t>address.city</a:t>
            </a:r>
            <a:r>
              <a:rPr lang="en-US" sz="1800" dirty="0"/>
              <a:t>);</a:t>
            </a:r>
          </a:p>
          <a:p>
            <a:pPr marL="0" indent="0">
              <a:buNone/>
            </a:pPr>
            <a:r>
              <a:rPr lang="en-US" sz="1800" dirty="0"/>
              <a:t>Access city through object.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Output</a:t>
            </a:r>
          </a:p>
          <a:p>
            <a:pPr marL="0" indent="0">
              <a:buNone/>
            </a:pPr>
            <a:r>
              <a:rPr lang="en-US" sz="1800" dirty="0"/>
              <a:t>Arun</a:t>
            </a:r>
            <a:br>
              <a:rPr lang="en-US" sz="1800" dirty="0"/>
            </a:br>
            <a:r>
              <a:rPr lang="en-US" sz="1800" dirty="0"/>
              <a:t>Chennai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7533735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A1537-8EBE-3C92-2612-DCC2AE0F5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453" y="69130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b="1" dirty="0"/>
              <a:t>Line by Line Explanation</a:t>
            </a:r>
          </a:p>
          <a:p>
            <a:pPr marL="0" indent="0">
              <a:buNone/>
            </a:pPr>
            <a:r>
              <a:rPr lang="en-US" sz="1100" dirty="0"/>
              <a:t>class Address</a:t>
            </a:r>
          </a:p>
          <a:p>
            <a:pPr marL="0" indent="0">
              <a:buNone/>
            </a:pPr>
            <a:r>
              <a:rPr lang="en-US" sz="1100" dirty="0"/>
              <a:t>Address class created.</a:t>
            </a:r>
          </a:p>
          <a:p>
            <a:pPr marL="0" indent="0">
              <a:buNone/>
            </a:pPr>
            <a:r>
              <a:rPr lang="en-US" sz="1100" dirty="0"/>
              <a:t>String city;</a:t>
            </a:r>
          </a:p>
          <a:p>
            <a:pPr marL="0" indent="0">
              <a:buNone/>
            </a:pPr>
            <a:r>
              <a:rPr lang="en-US" sz="1100" dirty="0"/>
              <a:t>Stores city name.</a:t>
            </a:r>
          </a:p>
          <a:p>
            <a:pPr marL="0" indent="0">
              <a:buNone/>
            </a:pPr>
            <a:r>
              <a:rPr lang="en-US" sz="1100" dirty="0"/>
              <a:t>Address </a:t>
            </a:r>
            <a:r>
              <a:rPr lang="en-US" sz="1100" dirty="0" err="1"/>
              <a:t>address</a:t>
            </a:r>
            <a:r>
              <a:rPr lang="en-US" sz="1100" dirty="0"/>
              <a:t>;</a:t>
            </a:r>
          </a:p>
          <a:p>
            <a:pPr marL="0" indent="0">
              <a:buNone/>
            </a:pPr>
            <a:r>
              <a:rPr lang="en-US" sz="1100" dirty="0"/>
              <a:t>Student HAS-A Address object.</a:t>
            </a:r>
          </a:p>
          <a:p>
            <a:pPr marL="0" indent="0">
              <a:buNone/>
            </a:pPr>
            <a:r>
              <a:rPr lang="en-US" sz="1100" dirty="0"/>
              <a:t>Aggregation relationship.</a:t>
            </a:r>
            <a:br>
              <a:rPr lang="en-US" sz="1100" dirty="0"/>
            </a:br>
            <a:endParaRPr lang="en-US" sz="1100" dirty="0"/>
          </a:p>
          <a:p>
            <a:pPr marL="0" indent="0">
              <a:buNone/>
            </a:pPr>
            <a:r>
              <a:rPr lang="en-US" sz="1100" dirty="0"/>
              <a:t>Student(String name, Address address)</a:t>
            </a:r>
          </a:p>
          <a:p>
            <a:pPr marL="0" indent="0">
              <a:buNone/>
            </a:pPr>
            <a:r>
              <a:rPr lang="en-US" sz="1100" dirty="0"/>
              <a:t>Constructor receives Address object.</a:t>
            </a:r>
            <a:br>
              <a:rPr lang="en-US" sz="1100" dirty="0"/>
            </a:br>
            <a:endParaRPr lang="en-US" sz="1100" dirty="0"/>
          </a:p>
          <a:p>
            <a:pPr marL="0" indent="0">
              <a:buNone/>
            </a:pPr>
            <a:r>
              <a:rPr lang="en-US" sz="1100" dirty="0" err="1"/>
              <a:t>this.address</a:t>
            </a:r>
            <a:r>
              <a:rPr lang="en-US" sz="1100" dirty="0"/>
              <a:t> = address;</a:t>
            </a:r>
          </a:p>
          <a:p>
            <a:pPr marL="0" indent="0">
              <a:buNone/>
            </a:pPr>
            <a:r>
              <a:rPr lang="en-US" sz="1100" dirty="0"/>
              <a:t>Stores address object.</a:t>
            </a:r>
            <a:br>
              <a:rPr lang="en-US" sz="1100" dirty="0"/>
            </a:br>
            <a:endParaRPr lang="en-US" sz="1100" dirty="0"/>
          </a:p>
          <a:p>
            <a:pPr marL="0" indent="0">
              <a:buNone/>
            </a:pPr>
            <a:r>
              <a:rPr lang="en-US" sz="1100" dirty="0" err="1"/>
              <a:t>System.out.println</a:t>
            </a:r>
            <a:r>
              <a:rPr lang="en-US" sz="1100" dirty="0"/>
              <a:t>(</a:t>
            </a:r>
            <a:r>
              <a:rPr lang="en-US" sz="1100" dirty="0" err="1"/>
              <a:t>address.city</a:t>
            </a:r>
            <a:r>
              <a:rPr lang="en-US" sz="1100" dirty="0"/>
              <a:t>);</a:t>
            </a:r>
          </a:p>
          <a:p>
            <a:pPr marL="0" indent="0">
              <a:buNone/>
            </a:pPr>
            <a:r>
              <a:rPr lang="en-US" sz="1100" dirty="0"/>
              <a:t>Access city through object.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/>
              <a:t>Output</a:t>
            </a:r>
          </a:p>
          <a:p>
            <a:pPr marL="0" indent="0">
              <a:buNone/>
            </a:pPr>
            <a:r>
              <a:rPr lang="en-US" sz="1100" dirty="0"/>
              <a:t>Arun</a:t>
            </a:r>
            <a:br>
              <a:rPr lang="en-US" sz="1100" dirty="0"/>
            </a:br>
            <a:r>
              <a:rPr lang="en-US" sz="1100" dirty="0"/>
              <a:t>Chennai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414192977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C17E-6A91-D5F4-0A29-68141213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Encapsulation?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2A5E0-A5D8-9A00-572A-EBFECCFCE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477" y="157395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Encapsulation means:</a:t>
            </a:r>
          </a:p>
          <a:p>
            <a:pPr marL="0" indent="0">
              <a:buNone/>
            </a:pPr>
            <a:r>
              <a:rPr lang="en-US" dirty="0"/>
              <a:t>binding data and methods into a single unit 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hiding data using private variables </a:t>
            </a:r>
          </a:p>
          <a:p>
            <a:pPr marL="0" indent="0">
              <a:buNone/>
            </a:pPr>
            <a:r>
              <a:rPr lang="en-US" dirty="0"/>
              <a:t>accessing data using methods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443809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DC479-8B6A-FBD1-53FD-854E3ED20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696" y="10035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Real Time Example</a:t>
            </a:r>
          </a:p>
          <a:p>
            <a:pPr marL="0" indent="0">
              <a:buNone/>
            </a:pPr>
            <a:r>
              <a:rPr lang="en-US" b="1" dirty="0"/>
              <a:t>ATM Machine</a:t>
            </a:r>
          </a:p>
          <a:p>
            <a:pPr marL="0" indent="0">
              <a:buNone/>
            </a:pPr>
            <a:r>
              <a:rPr lang="en-US" dirty="0"/>
              <a:t>You cannot directly access:</a:t>
            </a:r>
          </a:p>
          <a:p>
            <a:pPr marL="0" indent="0">
              <a:buNone/>
            </a:pPr>
            <a:r>
              <a:rPr lang="en-US" dirty="0"/>
              <a:t>account balance </a:t>
            </a:r>
          </a:p>
          <a:p>
            <a:pPr marL="0" indent="0">
              <a:buNone/>
            </a:pPr>
            <a:r>
              <a:rPr lang="en-US" dirty="0"/>
              <a:t>PIN </a:t>
            </a:r>
          </a:p>
          <a:p>
            <a:pPr marL="0" indent="0">
              <a:buNone/>
            </a:pPr>
            <a:r>
              <a:rPr lang="en-US" dirty="0"/>
              <a:t>You access them using:</a:t>
            </a:r>
          </a:p>
          <a:p>
            <a:pPr marL="0" indent="0">
              <a:buNone/>
            </a:pPr>
            <a:r>
              <a:rPr lang="en-US" dirty="0"/>
              <a:t>ATM options </a:t>
            </a:r>
          </a:p>
          <a:p>
            <a:pPr marL="0" indent="0">
              <a:buNone/>
            </a:pPr>
            <a:r>
              <a:rPr lang="en-US" dirty="0"/>
              <a:t>This is encapsulation.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83614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DC0FD-4D68-0815-5119-30839FD17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085" y="290440"/>
            <a:ext cx="10515600" cy="264570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 Encapsulation?</a:t>
            </a:r>
          </a:p>
          <a:p>
            <a:pPr marL="0" indent="0">
              <a:buNone/>
            </a:pPr>
            <a:r>
              <a:rPr lang="en-US" dirty="0"/>
              <a:t>Data security </a:t>
            </a:r>
          </a:p>
          <a:p>
            <a:pPr marL="0" indent="0">
              <a:buNone/>
            </a:pPr>
            <a:r>
              <a:rPr lang="en-US" dirty="0"/>
              <a:t>Data hiding </a:t>
            </a:r>
          </a:p>
          <a:p>
            <a:pPr marL="0" indent="0">
              <a:buNone/>
            </a:pPr>
            <a:r>
              <a:rPr lang="en-US" dirty="0"/>
              <a:t>Better control </a:t>
            </a:r>
          </a:p>
          <a:p>
            <a:pPr marL="0" indent="0">
              <a:buNone/>
            </a:pPr>
            <a:r>
              <a:rPr lang="en-US" dirty="0"/>
              <a:t>Easy maintenance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C78A3-436B-2F93-7883-7762B28D6E9E}"/>
              </a:ext>
            </a:extLst>
          </p:cNvPr>
          <p:cNvSpPr txBox="1"/>
          <p:nvPr/>
        </p:nvSpPr>
        <p:spPr>
          <a:xfrm>
            <a:off x="469085" y="2874241"/>
            <a:ext cx="609460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Syntax Structure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Student {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private int age;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public void </a:t>
            </a:r>
            <a:r>
              <a:rPr lang="en-US" dirty="0" err="1">
                <a:latin typeface="Courier New" panose="02070309020205020404" pitchFamily="49" charset="0"/>
              </a:rPr>
              <a:t>setAge</a:t>
            </a:r>
            <a:r>
              <a:rPr lang="en-US" dirty="0">
                <a:latin typeface="Courier New" panose="02070309020205020404" pitchFamily="49" charset="0"/>
              </a:rPr>
              <a:t>(int age)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this.age</a:t>
            </a:r>
            <a:r>
              <a:rPr lang="en-US" dirty="0">
                <a:latin typeface="Courier New" panose="02070309020205020404" pitchFamily="49" charset="0"/>
              </a:rPr>
              <a:t> = age;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}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public int </a:t>
            </a:r>
            <a:r>
              <a:rPr lang="en-US" dirty="0" err="1">
                <a:latin typeface="Courier New" panose="02070309020205020404" pitchFamily="49" charset="0"/>
              </a:rPr>
              <a:t>getAge</a:t>
            </a:r>
            <a:r>
              <a:rPr lang="en-US" dirty="0">
                <a:latin typeface="Courier New" panose="02070309020205020404" pitchFamily="49" charset="0"/>
              </a:rPr>
              <a:t>()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return age;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}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355675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ECF4E-06CA-110C-2948-220733DDF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66" y="709889"/>
            <a:ext cx="10515600" cy="475134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Encapsulation Program</a:t>
            </a:r>
          </a:p>
          <a:p>
            <a:pPr marL="0" indent="0">
              <a:buNone/>
            </a:pPr>
            <a:r>
              <a:rPr lang="en-IN" dirty="0"/>
              <a:t>class Student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private int age;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void </a:t>
            </a:r>
            <a:r>
              <a:rPr lang="en-IN" dirty="0" err="1"/>
              <a:t>setAge</a:t>
            </a:r>
            <a:r>
              <a:rPr lang="en-IN" dirty="0"/>
              <a:t>(int age)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this.age</a:t>
            </a:r>
            <a:r>
              <a:rPr lang="en-IN" dirty="0"/>
              <a:t> = age;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int </a:t>
            </a:r>
            <a:r>
              <a:rPr lang="en-IN" dirty="0" err="1"/>
              <a:t>getAge</a:t>
            </a:r>
            <a:r>
              <a:rPr lang="en-IN" dirty="0"/>
              <a:t>() {</a:t>
            </a:r>
            <a:br>
              <a:rPr lang="en-IN" dirty="0"/>
            </a:br>
            <a:r>
              <a:rPr lang="en-IN" dirty="0"/>
              <a:t>        return age;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Student s = new Student();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s.setAge</a:t>
            </a:r>
            <a:r>
              <a:rPr lang="en-IN" dirty="0"/>
              <a:t>(21);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s.getAge</a:t>
            </a:r>
            <a:r>
              <a:rPr lang="en-IN" dirty="0"/>
              <a:t>());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01888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65A82-2131-48AB-583B-AC4E3456D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17" y="118155"/>
            <a:ext cx="5841274" cy="662168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Line by Line Explanation</a:t>
            </a:r>
          </a:p>
          <a:p>
            <a:pPr marL="0" indent="0">
              <a:buNone/>
            </a:pPr>
            <a:r>
              <a:rPr lang="en-US" dirty="0"/>
              <a:t>private int age;</a:t>
            </a:r>
          </a:p>
          <a:p>
            <a:pPr marL="0" indent="0">
              <a:buNone/>
            </a:pPr>
            <a:r>
              <a:rPr lang="en-US" dirty="0"/>
              <a:t>Private variable.</a:t>
            </a:r>
          </a:p>
          <a:p>
            <a:pPr marL="0" indent="0">
              <a:buNone/>
            </a:pPr>
            <a:r>
              <a:rPr lang="en-US" dirty="0"/>
              <a:t>Cannot access directly outside class.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public void </a:t>
            </a:r>
            <a:r>
              <a:rPr lang="en-US" dirty="0" err="1"/>
              <a:t>setAge</a:t>
            </a:r>
            <a:r>
              <a:rPr lang="en-US" dirty="0"/>
              <a:t>(int age)</a:t>
            </a:r>
          </a:p>
          <a:p>
            <a:pPr marL="0" indent="0">
              <a:buNone/>
            </a:pPr>
            <a:r>
              <a:rPr lang="en-US" dirty="0"/>
              <a:t>Setter method.</a:t>
            </a:r>
          </a:p>
          <a:p>
            <a:pPr marL="0" indent="0">
              <a:buNone/>
            </a:pPr>
            <a:r>
              <a:rPr lang="en-US" dirty="0"/>
              <a:t>Used to assign value.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pPr marL="0" indent="0">
              <a:buNone/>
            </a:pPr>
            <a:r>
              <a:rPr lang="en-US" dirty="0"/>
              <a:t>Current object variable gets value.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int </a:t>
            </a:r>
            <a:r>
              <a:rPr lang="en-US" dirty="0" err="1"/>
              <a:t>getAge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Getter method.</a:t>
            </a:r>
          </a:p>
          <a:p>
            <a:pPr marL="0" indent="0">
              <a:buNone/>
            </a:pPr>
            <a:r>
              <a:rPr lang="en-US" dirty="0"/>
              <a:t>Used to return value.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return age;</a:t>
            </a:r>
          </a:p>
          <a:p>
            <a:pPr marL="0" indent="0">
              <a:buNone/>
            </a:pPr>
            <a:r>
              <a:rPr lang="en-US" dirty="0"/>
              <a:t>Returns age value.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Student s = new Student();</a:t>
            </a:r>
          </a:p>
          <a:p>
            <a:pPr marL="0" indent="0">
              <a:buNone/>
            </a:pPr>
            <a:r>
              <a:rPr lang="en-US" dirty="0"/>
              <a:t>Creates object.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CA066-1CBA-92A2-E437-E3A243BF19F8}"/>
              </a:ext>
            </a:extLst>
          </p:cNvPr>
          <p:cNvSpPr txBox="1"/>
          <p:nvPr/>
        </p:nvSpPr>
        <p:spPr>
          <a:xfrm>
            <a:off x="7678024" y="758365"/>
            <a:ext cx="60946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s.setAge</a:t>
            </a:r>
            <a:r>
              <a:rPr lang="en-US" dirty="0"/>
              <a:t>(21);</a:t>
            </a:r>
          </a:p>
          <a:p>
            <a:r>
              <a:rPr lang="en-US" dirty="0"/>
              <a:t>Sets value.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s.getAge</a:t>
            </a:r>
            <a:r>
              <a:rPr lang="en-US" dirty="0"/>
              <a:t>());</a:t>
            </a:r>
          </a:p>
          <a:p>
            <a:r>
              <a:rPr lang="en-US" dirty="0"/>
              <a:t>Gets value and prints.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Output</a:t>
            </a:r>
          </a:p>
          <a:p>
            <a:r>
              <a:rPr lang="en-US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37696590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9625B-AF46-3E2A-7963-9D151B8E7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234" y="528048"/>
            <a:ext cx="4552406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Student Task 1</a:t>
            </a:r>
          </a:p>
          <a:p>
            <a:pPr marL="0" indent="0">
              <a:buNone/>
            </a:pPr>
            <a:r>
              <a:rPr lang="en-US" b="1" dirty="0"/>
              <a:t>Task:</a:t>
            </a:r>
          </a:p>
          <a:p>
            <a:pPr marL="0" indent="0">
              <a:buNone/>
            </a:pPr>
            <a:r>
              <a:rPr lang="en-US" dirty="0"/>
              <a:t>Create class:</a:t>
            </a:r>
          </a:p>
          <a:p>
            <a:pPr marL="0" indent="0">
              <a:buNone/>
            </a:pPr>
            <a:r>
              <a:rPr lang="en-US" dirty="0"/>
              <a:t>Employee</a:t>
            </a:r>
          </a:p>
          <a:p>
            <a:pPr marL="0" indent="0">
              <a:buNone/>
            </a:pPr>
            <a:r>
              <a:rPr lang="en-US" dirty="0"/>
              <a:t>Private variable:</a:t>
            </a:r>
          </a:p>
          <a:p>
            <a:pPr marL="0" indent="0">
              <a:buNone/>
            </a:pPr>
            <a:r>
              <a:rPr lang="en-US" dirty="0"/>
              <a:t>salary</a:t>
            </a:r>
          </a:p>
          <a:p>
            <a:pPr marL="0" indent="0">
              <a:buNone/>
            </a:pPr>
            <a:r>
              <a:rPr lang="en-US" dirty="0"/>
              <a:t>Create:</a:t>
            </a:r>
          </a:p>
          <a:p>
            <a:pPr marL="0" indent="0">
              <a:buNone/>
            </a:pPr>
            <a:r>
              <a:rPr lang="en-US" dirty="0" err="1"/>
              <a:t>setSalary</a:t>
            </a:r>
            <a:r>
              <a:rPr lang="en-US" dirty="0"/>
              <a:t>() </a:t>
            </a:r>
          </a:p>
          <a:p>
            <a:pPr marL="0" indent="0">
              <a:buNone/>
            </a:pPr>
            <a:r>
              <a:rPr lang="en-US" dirty="0" err="1"/>
              <a:t>getSalary</a:t>
            </a:r>
            <a:r>
              <a:rPr lang="en-US" dirty="0"/>
              <a:t>() </a:t>
            </a:r>
          </a:p>
          <a:p>
            <a:pPr marL="0" indent="0">
              <a:buNone/>
            </a:pPr>
            <a:r>
              <a:rPr lang="en-US" dirty="0"/>
              <a:t>Print salary.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619848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8836-7DA8-2D3C-72E8-A5C8C9A96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421" y="659555"/>
            <a:ext cx="4337808" cy="355171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Getter and Setter</a:t>
            </a:r>
          </a:p>
          <a:p>
            <a:pPr marL="0" indent="0">
              <a:buNone/>
            </a:pPr>
            <a:r>
              <a:rPr lang="en-US" b="1" dirty="0"/>
              <a:t>Getter</a:t>
            </a:r>
          </a:p>
          <a:p>
            <a:pPr marL="0" indent="0">
              <a:buNone/>
            </a:pPr>
            <a:r>
              <a:rPr lang="en-US" dirty="0"/>
              <a:t>Used to:</a:t>
            </a:r>
          </a:p>
          <a:p>
            <a:pPr marL="0" indent="0">
              <a:buNone/>
            </a:pPr>
            <a:r>
              <a:rPr lang="en-US" dirty="0"/>
              <a:t>retrieve value </a:t>
            </a:r>
          </a:p>
          <a:p>
            <a:pPr marL="0" indent="0">
              <a:buNone/>
            </a:pPr>
            <a:r>
              <a:rPr lang="en-US" b="1" dirty="0"/>
              <a:t>Setter</a:t>
            </a:r>
          </a:p>
          <a:p>
            <a:pPr marL="0" indent="0">
              <a:buNone/>
            </a:pPr>
            <a:r>
              <a:rPr lang="en-US" dirty="0"/>
              <a:t>Used to:</a:t>
            </a:r>
          </a:p>
          <a:p>
            <a:pPr marL="0" indent="0">
              <a:buNone/>
            </a:pPr>
            <a:r>
              <a:rPr lang="en-US" dirty="0"/>
              <a:t>assign value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22700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D2BEC-3FB5-5227-0E67-B037A95D3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27" y="338931"/>
            <a:ext cx="4446865" cy="587731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Getter and Setter Example</a:t>
            </a:r>
          </a:p>
          <a:p>
            <a:pPr marL="0" indent="0">
              <a:buNone/>
            </a:pPr>
            <a:r>
              <a:rPr lang="en-IN" dirty="0"/>
              <a:t>class Person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private String name;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void </a:t>
            </a:r>
            <a:r>
              <a:rPr lang="en-IN" dirty="0" err="1"/>
              <a:t>setName</a:t>
            </a:r>
            <a:r>
              <a:rPr lang="en-IN" dirty="0"/>
              <a:t>(String name) {</a:t>
            </a:r>
            <a:br>
              <a:rPr lang="en-IN" dirty="0"/>
            </a:br>
            <a:r>
              <a:rPr lang="en-IN" dirty="0"/>
              <a:t>        this.name = name;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String </a:t>
            </a:r>
            <a:r>
              <a:rPr lang="en-IN" dirty="0" err="1"/>
              <a:t>getName</a:t>
            </a:r>
            <a:r>
              <a:rPr lang="en-IN" dirty="0"/>
              <a:t>() {</a:t>
            </a:r>
            <a:br>
              <a:rPr lang="en-IN" dirty="0"/>
            </a:br>
            <a:r>
              <a:rPr lang="en-IN" dirty="0"/>
              <a:t>        return name;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Person p = new Person();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p.setName</a:t>
            </a:r>
            <a:r>
              <a:rPr lang="en-IN" dirty="0"/>
              <a:t>("Arun");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p.getName</a:t>
            </a:r>
            <a:r>
              <a:rPr lang="en-IN" dirty="0"/>
              <a:t>());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Arun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86040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BE493D-9B4F-7133-1D09-29C1BEFADCFC}"/>
              </a:ext>
            </a:extLst>
          </p:cNvPr>
          <p:cNvSpPr txBox="1"/>
          <p:nvPr/>
        </p:nvSpPr>
        <p:spPr>
          <a:xfrm>
            <a:off x="438325" y="406028"/>
            <a:ext cx="60946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This Keyword</a:t>
            </a:r>
          </a:p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this</a:t>
            </a:r>
            <a:r>
              <a:rPr lang="en-US" dirty="0"/>
              <a:t> refers to:</a:t>
            </a:r>
          </a:p>
          <a:p>
            <a:pPr>
              <a:buNone/>
            </a:pPr>
            <a:r>
              <a:rPr lang="en-US" b="1" dirty="0"/>
              <a:t>current object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Why Use this?</a:t>
            </a:r>
          </a:p>
          <a:p>
            <a:pPr>
              <a:buNone/>
            </a:pPr>
            <a:r>
              <a:rPr lang="en-US" dirty="0"/>
              <a:t>To differentiate:</a:t>
            </a:r>
          </a:p>
          <a:p>
            <a:r>
              <a:rPr lang="en-US" dirty="0"/>
              <a:t>local variable </a:t>
            </a:r>
          </a:p>
          <a:p>
            <a:r>
              <a:rPr lang="en-US" dirty="0"/>
              <a:t>instance variable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E11E21-C1E6-4BF9-CEEE-559B5E755AB3}"/>
              </a:ext>
            </a:extLst>
          </p:cNvPr>
          <p:cNvSpPr txBox="1"/>
          <p:nvPr/>
        </p:nvSpPr>
        <p:spPr>
          <a:xfrm>
            <a:off x="4943213" y="0"/>
            <a:ext cx="609460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Program 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class Student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int age;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Student(int age)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this.age</a:t>
            </a:r>
            <a:r>
              <a:rPr lang="en-IN" dirty="0">
                <a:latin typeface="Courier New" panose="02070309020205020404" pitchFamily="49" charset="0"/>
              </a:rPr>
              <a:t> = age;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}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void display()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this.age</a:t>
            </a:r>
            <a:r>
              <a:rPr lang="en-IN" dirty="0">
                <a:latin typeface="Courier New" panose="02070309020205020404" pitchFamily="49" charset="0"/>
              </a:rPr>
              <a:t>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public class Main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public static void main(String[] </a:t>
            </a:r>
            <a:r>
              <a:rPr lang="en-IN" dirty="0" err="1">
                <a:latin typeface="Courier New" panose="02070309020205020404" pitchFamily="49" charset="0"/>
              </a:rPr>
              <a:t>args</a:t>
            </a:r>
            <a:r>
              <a:rPr lang="en-IN" dirty="0">
                <a:latin typeface="Courier New" panose="02070309020205020404" pitchFamily="49" charset="0"/>
              </a:rPr>
              <a:t>)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Student s = new Student(20);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s.display</a:t>
            </a:r>
            <a:r>
              <a:rPr lang="en-IN" dirty="0">
                <a:latin typeface="Courier New" panose="02070309020205020404" pitchFamily="49" charset="0"/>
              </a:rPr>
              <a:t>();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750777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9271A-EF70-7F7E-CEB4-BF06D51D5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754" y="315607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Line by Line Explanation</a:t>
            </a:r>
          </a:p>
          <a:p>
            <a:pPr marL="0" indent="0">
              <a:buNone/>
            </a:pPr>
            <a:r>
              <a:rPr lang="en-US" dirty="0"/>
              <a:t>int age;</a:t>
            </a:r>
          </a:p>
          <a:p>
            <a:pPr marL="0" indent="0">
              <a:buNone/>
            </a:pPr>
            <a:r>
              <a:rPr lang="en-US" dirty="0"/>
              <a:t>Instance variable.</a:t>
            </a:r>
          </a:p>
          <a:p>
            <a:pPr marL="0" indent="0">
              <a:buNone/>
            </a:pPr>
            <a:r>
              <a:rPr lang="en-US" dirty="0"/>
              <a:t>Student(int age)</a:t>
            </a:r>
          </a:p>
          <a:p>
            <a:pPr marL="0" indent="0">
              <a:buNone/>
            </a:pPr>
            <a:r>
              <a:rPr lang="en-US" dirty="0"/>
              <a:t>Constructor parameter.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pPr marL="0" indent="0">
              <a:buNone/>
            </a:pPr>
            <a:r>
              <a:rPr lang="en-US" dirty="0"/>
              <a:t>Current object variable gets parameter value.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this.age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Prints current object value.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Output</a:t>
            </a:r>
          </a:p>
          <a:p>
            <a:pPr marL="0" indent="0">
              <a:buNone/>
            </a:pPr>
            <a:r>
              <a:rPr lang="en-US" dirty="0"/>
              <a:t>20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20479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B2919-5B12-7F3E-0271-E0B07E7DB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14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Super Keyword Definition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EDB8-E62B-3AA2-5235-3D01D9014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142" y="9112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050" dirty="0"/>
              <a:t>super refers to:</a:t>
            </a:r>
          </a:p>
          <a:p>
            <a:pPr marL="0" indent="0">
              <a:buNone/>
            </a:pPr>
            <a:r>
              <a:rPr lang="en-IN" sz="1050" b="1" dirty="0"/>
              <a:t>parent class object</a:t>
            </a:r>
            <a:endParaRPr lang="en-IN" sz="1050" dirty="0"/>
          </a:p>
          <a:p>
            <a:pPr marL="0" indent="0">
              <a:buNone/>
            </a:pPr>
            <a:r>
              <a:rPr lang="en-IN" sz="1050" b="1" dirty="0"/>
              <a:t>Uses of super</a:t>
            </a:r>
          </a:p>
          <a:p>
            <a:pPr marL="0" indent="0">
              <a:buNone/>
            </a:pPr>
            <a:r>
              <a:rPr lang="en-IN" sz="1050" dirty="0"/>
              <a:t>Access parent variable </a:t>
            </a:r>
          </a:p>
          <a:p>
            <a:pPr marL="0" indent="0">
              <a:buNone/>
            </a:pPr>
            <a:r>
              <a:rPr lang="en-IN" sz="1050" dirty="0"/>
              <a:t>Access parent method </a:t>
            </a:r>
          </a:p>
          <a:p>
            <a:pPr marL="0" indent="0">
              <a:buNone/>
            </a:pPr>
            <a:r>
              <a:rPr lang="en-IN" sz="1050" dirty="0"/>
              <a:t>Call parent constructor </a:t>
            </a:r>
            <a:br>
              <a:rPr lang="en-IN" sz="1050" dirty="0"/>
            </a:br>
            <a:endParaRPr lang="en-IN" sz="1050" dirty="0"/>
          </a:p>
          <a:p>
            <a:pPr marL="0" indent="0">
              <a:buNone/>
            </a:pPr>
            <a:r>
              <a:rPr lang="en-IN" sz="1050" b="1" dirty="0"/>
              <a:t>Program Example</a:t>
            </a:r>
          </a:p>
          <a:p>
            <a:pPr marL="0" indent="0">
              <a:buNone/>
            </a:pPr>
            <a:r>
              <a:rPr lang="en-IN" sz="1050" dirty="0"/>
              <a:t>class Animal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void sound() {</a:t>
            </a:r>
            <a:br>
              <a:rPr lang="en-IN" sz="1050" dirty="0"/>
            </a:br>
            <a:r>
              <a:rPr lang="en-IN" sz="1050" dirty="0"/>
              <a:t>        </a:t>
            </a:r>
            <a:r>
              <a:rPr lang="en-IN" sz="1050" dirty="0" err="1"/>
              <a:t>System.out.println</a:t>
            </a:r>
            <a:r>
              <a:rPr lang="en-IN" sz="1050" dirty="0"/>
              <a:t>("Animal sound");</a:t>
            </a:r>
            <a:br>
              <a:rPr lang="en-IN" sz="1050" dirty="0"/>
            </a:br>
            <a:r>
              <a:rPr lang="en-IN" sz="1050" dirty="0"/>
              <a:t>    }</a:t>
            </a:r>
            <a:br>
              <a:rPr lang="en-IN" sz="1050" dirty="0"/>
            </a:br>
            <a:r>
              <a:rPr lang="en-IN" sz="1050" dirty="0"/>
              <a:t>}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class Dog extends Animal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void sound()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</a:t>
            </a:r>
            <a:r>
              <a:rPr lang="en-IN" sz="1050" dirty="0" err="1"/>
              <a:t>super.sound</a:t>
            </a:r>
            <a:r>
              <a:rPr lang="en-IN" sz="1050" dirty="0"/>
              <a:t>();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</a:t>
            </a:r>
            <a:r>
              <a:rPr lang="en-IN" sz="1050" dirty="0" err="1"/>
              <a:t>System.out.println</a:t>
            </a:r>
            <a:r>
              <a:rPr lang="en-IN" sz="1050" dirty="0"/>
              <a:t>("Dog barks");</a:t>
            </a:r>
            <a:br>
              <a:rPr lang="en-IN" sz="1050" dirty="0"/>
            </a:br>
            <a:r>
              <a:rPr lang="en-IN" sz="1050" dirty="0"/>
              <a:t>    }</a:t>
            </a:r>
            <a:br>
              <a:rPr lang="en-IN" sz="1050" dirty="0"/>
            </a:br>
            <a:r>
              <a:rPr lang="en-IN" sz="1050" dirty="0"/>
              <a:t>}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public class Main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public static void main(String[] </a:t>
            </a:r>
            <a:r>
              <a:rPr lang="en-IN" sz="1050" dirty="0" err="1"/>
              <a:t>args</a:t>
            </a:r>
            <a:r>
              <a:rPr lang="en-IN" sz="1050" dirty="0"/>
              <a:t>)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Dog d = new Dog();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</a:t>
            </a:r>
            <a:r>
              <a:rPr lang="en-IN" sz="1050" dirty="0" err="1"/>
              <a:t>d.sound</a:t>
            </a:r>
            <a:r>
              <a:rPr lang="en-IN" sz="1050" dirty="0"/>
              <a:t>();</a:t>
            </a:r>
            <a:br>
              <a:rPr lang="en-IN" sz="1050" dirty="0"/>
            </a:br>
            <a:r>
              <a:rPr lang="en-IN" sz="1050" dirty="0"/>
              <a:t>    }</a:t>
            </a:r>
            <a:br>
              <a:rPr lang="en-IN" sz="1050" dirty="0"/>
            </a:br>
            <a:r>
              <a:rPr lang="en-IN" sz="1050" dirty="0"/>
              <a:t>}</a:t>
            </a:r>
          </a:p>
          <a:p>
            <a:pPr marL="0" indent="0">
              <a:buNone/>
            </a:pP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4082080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B6F3F-C354-8EC7-5CA7-A8C0D6C60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582" y="365941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Line by Line Explanation</a:t>
            </a:r>
          </a:p>
          <a:p>
            <a:pPr marL="0" indent="0">
              <a:buNone/>
            </a:pPr>
            <a:r>
              <a:rPr lang="en-US" dirty="0"/>
              <a:t>class Dog extends Animal</a:t>
            </a:r>
          </a:p>
          <a:p>
            <a:pPr marL="0" indent="0">
              <a:buNone/>
            </a:pPr>
            <a:r>
              <a:rPr lang="en-US" dirty="0"/>
              <a:t>Dog inherits Animal.</a:t>
            </a:r>
          </a:p>
          <a:p>
            <a:pPr marL="0" indent="0">
              <a:buNone/>
            </a:pPr>
            <a:r>
              <a:rPr lang="en-US" dirty="0" err="1"/>
              <a:t>super.sound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Calls parent class method.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("Dog barks");</a:t>
            </a:r>
          </a:p>
          <a:p>
            <a:pPr marL="0" indent="0">
              <a:buNone/>
            </a:pPr>
            <a:r>
              <a:rPr lang="en-US" dirty="0"/>
              <a:t>Calls child class method.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Output</a:t>
            </a:r>
          </a:p>
          <a:p>
            <a:pPr marL="0" indent="0">
              <a:buNone/>
            </a:pPr>
            <a:r>
              <a:rPr lang="en-US" dirty="0"/>
              <a:t>Animal sound</a:t>
            </a:r>
            <a:br>
              <a:rPr lang="en-US" dirty="0"/>
            </a:br>
            <a:r>
              <a:rPr lang="en-US" dirty="0"/>
              <a:t>Dog barks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040704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F4EC4-E889-2ED3-F4AD-DF60C34A0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022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Final Keyword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final keyword is used to:</a:t>
            </a:r>
          </a:p>
          <a:p>
            <a:pPr marL="0" indent="0">
              <a:buNone/>
            </a:pPr>
            <a:r>
              <a:rPr lang="en-US" dirty="0"/>
              <a:t>stop value change </a:t>
            </a:r>
          </a:p>
          <a:p>
            <a:pPr marL="0" indent="0">
              <a:buNone/>
            </a:pPr>
            <a:r>
              <a:rPr lang="en-US" dirty="0"/>
              <a:t>stop method overriding </a:t>
            </a:r>
          </a:p>
          <a:p>
            <a:pPr marL="0" indent="0">
              <a:buNone/>
            </a:pPr>
            <a:r>
              <a:rPr lang="en-US" dirty="0"/>
              <a:t>stop inheritance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696168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17E09-A032-982B-5854-53B9CD164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528" y="273662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final Variable</a:t>
            </a:r>
          </a:p>
          <a:p>
            <a:pPr marL="0" indent="0">
              <a:buNone/>
            </a:pPr>
            <a:r>
              <a:rPr lang="en-IN" dirty="0"/>
              <a:t>final int x = 10;</a:t>
            </a:r>
          </a:p>
          <a:p>
            <a:pPr marL="0" indent="0">
              <a:buNone/>
            </a:pPr>
            <a:r>
              <a:rPr lang="en-IN" dirty="0"/>
              <a:t>Value cannot change.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final Variable Program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final int x = 100;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(x);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100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58177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133E3-F61A-AD3E-DD59-6FB68F934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752" y="298829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final Method Program</a:t>
            </a:r>
          </a:p>
          <a:p>
            <a:pPr marL="0" indent="0">
              <a:buNone/>
            </a:pPr>
            <a:r>
              <a:rPr lang="en-IN" dirty="0"/>
              <a:t>class Parent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final void show()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("Final method");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Child extends Parent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final Class Program</a:t>
            </a:r>
          </a:p>
          <a:p>
            <a:pPr marL="0" indent="0">
              <a:buNone/>
            </a:pPr>
            <a:r>
              <a:rPr lang="en-IN" dirty="0"/>
              <a:t>final class Animal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Dog extends Animal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This gives error because final class cannot inherit.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03180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E4AC7B-535D-AAB9-34A1-F1DB77F3D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8027009"/>
              </p:ext>
            </p:extLst>
          </p:nvPr>
        </p:nvGraphicFramePr>
        <p:xfrm>
          <a:off x="505437" y="1331918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902698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30088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Used With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66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 cannot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937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Cannot override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56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Cannot inherit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18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A52336-4BFB-370C-6AE8-129D2E920C48}"/>
              </a:ext>
            </a:extLst>
          </p:cNvPr>
          <p:cNvSpPr txBox="1"/>
          <p:nvPr/>
        </p:nvSpPr>
        <p:spPr>
          <a:xfrm>
            <a:off x="505437" y="662622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Important Points</a:t>
            </a:r>
          </a:p>
        </p:txBody>
      </p:sp>
    </p:spTree>
    <p:extLst>
      <p:ext uri="{BB962C8B-B14F-4D97-AF65-F5344CB8AC3E}">
        <p14:creationId xmlns:p14="http://schemas.microsoft.com/office/powerpoint/2010/main" val="77669139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51871-4D06-9018-1ED4-275230FF5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36408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CONSTRUCTOR IN JAVA</a:t>
            </a:r>
          </a:p>
          <a:p>
            <a:pPr marL="0" indent="0">
              <a:buNone/>
            </a:pPr>
            <a:r>
              <a:rPr lang="en-US" b="1" dirty="0"/>
              <a:t>What is Constructor?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 constructor is:</a:t>
            </a:r>
          </a:p>
          <a:p>
            <a:pPr marL="0" indent="0">
              <a:buNone/>
            </a:pPr>
            <a:r>
              <a:rPr lang="en-US" dirty="0"/>
              <a:t>a special method </a:t>
            </a:r>
          </a:p>
          <a:p>
            <a:pPr marL="0" indent="0">
              <a:buNone/>
            </a:pPr>
            <a:r>
              <a:rPr lang="en-US" dirty="0"/>
              <a:t>used to initialize objects </a:t>
            </a:r>
          </a:p>
          <a:p>
            <a:pPr marL="0" indent="0">
              <a:buNone/>
            </a:pPr>
            <a:r>
              <a:rPr lang="en-US" dirty="0"/>
              <a:t>Constructor automatically executes when object is created.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94378-59B6-8A3F-32AE-144B6DA4E4AE}"/>
              </a:ext>
            </a:extLst>
          </p:cNvPr>
          <p:cNvSpPr txBox="1"/>
          <p:nvPr/>
        </p:nvSpPr>
        <p:spPr>
          <a:xfrm>
            <a:off x="31459" y="3925696"/>
            <a:ext cx="61575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Important Rules</a:t>
            </a:r>
          </a:p>
          <a:p>
            <a:r>
              <a:rPr lang="en-US" dirty="0"/>
              <a:t>Constructor name must be same as class name </a:t>
            </a:r>
          </a:p>
          <a:p>
            <a:r>
              <a:rPr lang="en-US" dirty="0"/>
              <a:t>Constructor has no return type </a:t>
            </a:r>
          </a:p>
          <a:p>
            <a:r>
              <a:rPr lang="en-US" dirty="0"/>
              <a:t>Automatically called during object creation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785FD-423E-B030-E632-AD161AD4D082}"/>
              </a:ext>
            </a:extLst>
          </p:cNvPr>
          <p:cNvSpPr txBox="1"/>
          <p:nvPr/>
        </p:nvSpPr>
        <p:spPr>
          <a:xfrm>
            <a:off x="134224" y="5204935"/>
            <a:ext cx="61575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Real Time Example</a:t>
            </a:r>
          </a:p>
          <a:p>
            <a:r>
              <a:rPr lang="en-US" dirty="0"/>
              <a:t>When you buy a mobile:</a:t>
            </a:r>
          </a:p>
          <a:p>
            <a:r>
              <a:rPr lang="en-US" dirty="0"/>
              <a:t>company gives default settings automatically </a:t>
            </a:r>
          </a:p>
          <a:p>
            <a:r>
              <a:rPr lang="en-US" dirty="0"/>
              <a:t>Similarly,</a:t>
            </a:r>
            <a:br>
              <a:rPr lang="en-US" dirty="0"/>
            </a:br>
            <a:r>
              <a:rPr lang="en-US" dirty="0"/>
              <a:t>constructor gives initial values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97322592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BB964-DF61-C3BD-38EC-6790BC6F1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02" y="214939"/>
            <a:ext cx="6250498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Basic Constructor Example</a:t>
            </a:r>
          </a:p>
          <a:p>
            <a:pPr marL="0" indent="0">
              <a:buNone/>
            </a:pPr>
            <a:r>
              <a:rPr lang="en-IN" dirty="0"/>
              <a:t>class Student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Student()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("Constructor Called");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Student s1 = new Student();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682AE-B777-B573-17DE-787AC095F71F}"/>
              </a:ext>
            </a:extLst>
          </p:cNvPr>
          <p:cNvSpPr txBox="1"/>
          <p:nvPr/>
        </p:nvSpPr>
        <p:spPr>
          <a:xfrm>
            <a:off x="6268673" y="59008"/>
            <a:ext cx="609460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Line by Line Explanation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Student</a:t>
            </a:r>
          </a:p>
          <a:p>
            <a:pPr>
              <a:buNone/>
            </a:pPr>
            <a:r>
              <a:rPr lang="en-US" dirty="0"/>
              <a:t>Creates class named Student.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Student()</a:t>
            </a:r>
          </a:p>
          <a:p>
            <a:pPr>
              <a:buNone/>
            </a:pPr>
            <a:r>
              <a:rPr lang="en-US" dirty="0"/>
              <a:t>Constructor.</a:t>
            </a:r>
          </a:p>
          <a:p>
            <a:pPr>
              <a:buNone/>
            </a:pPr>
            <a:r>
              <a:rPr lang="en-US" dirty="0"/>
              <a:t>Same name as class.</a:t>
            </a:r>
          </a:p>
          <a:p>
            <a:pPr>
              <a:buNone/>
            </a:pPr>
            <a:r>
              <a:rPr lang="en-US" dirty="0"/>
              <a:t>No return type.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("Constructor Called");</a:t>
            </a:r>
          </a:p>
          <a:p>
            <a:pPr>
              <a:buNone/>
            </a:pPr>
            <a:r>
              <a:rPr lang="en-US" dirty="0"/>
              <a:t>Prints message when object created.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Student s1 = new Student();</a:t>
            </a:r>
          </a:p>
          <a:p>
            <a:pPr>
              <a:buNone/>
            </a:pPr>
            <a:r>
              <a:rPr lang="en-US" dirty="0"/>
              <a:t>Creates object.</a:t>
            </a:r>
          </a:p>
          <a:p>
            <a:pPr>
              <a:buNone/>
            </a:pPr>
            <a:r>
              <a:rPr lang="en-US" dirty="0"/>
              <a:t>Constructor automatically executes.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Constructor Called</a:t>
            </a:r>
          </a:p>
        </p:txBody>
      </p:sp>
    </p:spTree>
    <p:extLst>
      <p:ext uri="{BB962C8B-B14F-4D97-AF65-F5344CB8AC3E}">
        <p14:creationId xmlns:p14="http://schemas.microsoft.com/office/powerpoint/2010/main" val="293298127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A2BD7-FE9B-1BCB-2D71-646A59BA1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25" y="0"/>
            <a:ext cx="10515600" cy="20385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Default Constructor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 constructor without parameters is called:</a:t>
            </a:r>
          </a:p>
          <a:p>
            <a:pPr marL="0" indent="0">
              <a:buNone/>
            </a:pPr>
            <a:r>
              <a:rPr lang="en-US" b="1" dirty="0"/>
              <a:t>Default Constructor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286EA-A689-3978-21CC-4D17DEFD3CC8}"/>
              </a:ext>
            </a:extLst>
          </p:cNvPr>
          <p:cNvSpPr txBox="1"/>
          <p:nvPr/>
        </p:nvSpPr>
        <p:spPr>
          <a:xfrm>
            <a:off x="824218" y="2158921"/>
            <a:ext cx="609460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Employee {</a:t>
            </a:r>
          </a:p>
          <a:p>
            <a:endParaRPr lang="en-IN" dirty="0"/>
          </a:p>
          <a:p>
            <a:r>
              <a:rPr lang="en-IN" dirty="0"/>
              <a:t>    Employee() {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("Default Constructor");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public class Main {</a:t>
            </a:r>
          </a:p>
          <a:p>
            <a:endParaRPr lang="en-IN" dirty="0"/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Employee e1 = new Employee();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9BCF6-609A-1A31-64A6-FD9D44AD1F0B}"/>
              </a:ext>
            </a:extLst>
          </p:cNvPr>
          <p:cNvSpPr txBox="1"/>
          <p:nvPr/>
        </p:nvSpPr>
        <p:spPr>
          <a:xfrm>
            <a:off x="7040460" y="258410"/>
            <a:ext cx="60946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Line by Line Explanation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Employee()</a:t>
            </a:r>
          </a:p>
          <a:p>
            <a:pPr>
              <a:buNone/>
            </a:pPr>
            <a:r>
              <a:rPr lang="en-US" dirty="0"/>
              <a:t>Default constructor.</a:t>
            </a:r>
          </a:p>
          <a:p>
            <a:pPr>
              <a:buNone/>
            </a:pPr>
            <a:r>
              <a:rPr lang="en-US" dirty="0"/>
              <a:t>No parameters.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Employee e1 = new Employee();</a:t>
            </a:r>
          </a:p>
          <a:p>
            <a:pPr>
              <a:buNone/>
            </a:pPr>
            <a:r>
              <a:rPr lang="en-US" dirty="0"/>
              <a:t>Creates object and calls constructor automatically.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Default Constructor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Student Task 1</a:t>
            </a:r>
          </a:p>
          <a:p>
            <a:pPr>
              <a:buNone/>
            </a:pPr>
            <a:r>
              <a:rPr lang="en-US" b="1" dirty="0"/>
              <a:t>Task:</a:t>
            </a:r>
          </a:p>
          <a:p>
            <a:pPr>
              <a:buNone/>
            </a:pPr>
            <a:r>
              <a:rPr lang="en-US" dirty="0"/>
              <a:t>Create class: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Car</a:t>
            </a:r>
          </a:p>
          <a:p>
            <a:pPr>
              <a:buNone/>
            </a:pPr>
            <a:r>
              <a:rPr lang="en-US" dirty="0"/>
              <a:t>Create default constructor and print: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Car Created</a:t>
            </a:r>
          </a:p>
        </p:txBody>
      </p:sp>
    </p:spTree>
    <p:extLst>
      <p:ext uri="{BB962C8B-B14F-4D97-AF65-F5344CB8AC3E}">
        <p14:creationId xmlns:p14="http://schemas.microsoft.com/office/powerpoint/2010/main" val="219665009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DA18B-F786-69D4-13CC-F4C72F25B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084" y="433053"/>
            <a:ext cx="10515600" cy="572446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b="1" dirty="0"/>
              <a:t>Parameterized Constructor</a:t>
            </a:r>
          </a:p>
          <a:p>
            <a:pPr marL="0" indent="0">
              <a:buNone/>
            </a:pPr>
            <a:r>
              <a:rPr lang="en-IN" b="1" dirty="0"/>
              <a:t>Definition</a:t>
            </a:r>
          </a:p>
          <a:p>
            <a:pPr marL="0" indent="0">
              <a:buNone/>
            </a:pPr>
            <a:r>
              <a:rPr lang="en-IN" dirty="0"/>
              <a:t>Constructor with parameters is called:</a:t>
            </a:r>
          </a:p>
          <a:p>
            <a:pPr marL="0" indent="0">
              <a:buNone/>
            </a:pPr>
            <a:r>
              <a:rPr lang="en-IN" b="1" dirty="0"/>
              <a:t>Parameterized Constructor</a:t>
            </a:r>
          </a:p>
          <a:p>
            <a:pPr marL="0" indent="0">
              <a:buNone/>
            </a:pPr>
            <a:r>
              <a:rPr lang="en-IN" dirty="0"/>
              <a:t>Used to initialize object with values.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Program Example</a:t>
            </a:r>
          </a:p>
          <a:p>
            <a:pPr marL="0" indent="0">
              <a:buNone/>
            </a:pPr>
            <a:r>
              <a:rPr lang="en-IN" dirty="0"/>
              <a:t>class Student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int id;</a:t>
            </a:r>
            <a:br>
              <a:rPr lang="en-IN" dirty="0"/>
            </a:br>
            <a:r>
              <a:rPr lang="en-IN" dirty="0"/>
              <a:t>    String name;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Student(int </a:t>
            </a:r>
            <a:r>
              <a:rPr lang="en-IN" dirty="0" err="1"/>
              <a:t>i</a:t>
            </a:r>
            <a:r>
              <a:rPr lang="en-IN" dirty="0"/>
              <a:t>, String n)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id = </a:t>
            </a:r>
            <a:r>
              <a:rPr lang="en-IN" dirty="0" err="1"/>
              <a:t>i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name = n;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void display()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(id);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(name);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Student s1 = new Student(101, "Arun");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s1.display();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202DA-BAD2-36E5-7E9E-8C361EC6CC25}"/>
              </a:ext>
            </a:extLst>
          </p:cNvPr>
          <p:cNvSpPr txBox="1"/>
          <p:nvPr/>
        </p:nvSpPr>
        <p:spPr>
          <a:xfrm>
            <a:off x="7015293" y="226503"/>
            <a:ext cx="60946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Line by Line Explanation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 id;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String name;</a:t>
            </a:r>
          </a:p>
          <a:p>
            <a:pPr>
              <a:buNone/>
            </a:pPr>
            <a:r>
              <a:rPr lang="en-US" dirty="0"/>
              <a:t>Instance variables.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Student(int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, String n)</a:t>
            </a:r>
          </a:p>
          <a:p>
            <a:pPr>
              <a:buNone/>
            </a:pPr>
            <a:r>
              <a:rPr lang="en-US" dirty="0"/>
              <a:t>Parameterized constructor.</a:t>
            </a:r>
          </a:p>
          <a:p>
            <a:pPr>
              <a:buNone/>
            </a:pPr>
            <a:r>
              <a:rPr lang="en-US" dirty="0"/>
              <a:t>Receives values during object creation.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id =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US" dirty="0"/>
              <a:t>Stores parameter value into variable.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name = n;</a:t>
            </a:r>
          </a:p>
          <a:p>
            <a:pPr>
              <a:buNone/>
            </a:pPr>
            <a:r>
              <a:rPr lang="en-US" dirty="0"/>
              <a:t>Stores name.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Student s1 = new Student(101, "Arun");</a:t>
            </a:r>
          </a:p>
          <a:p>
            <a:pPr>
              <a:buNone/>
            </a:pPr>
            <a:r>
              <a:rPr lang="en-US" dirty="0"/>
              <a:t>Creates object and passes values.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s1.display();</a:t>
            </a:r>
          </a:p>
          <a:p>
            <a:pPr>
              <a:buNone/>
            </a:pPr>
            <a:r>
              <a:rPr lang="en-US" dirty="0"/>
              <a:t>Prints values.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101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Arun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7D6D9-36D8-CD57-B041-506B188C7682}"/>
              </a:ext>
            </a:extLst>
          </p:cNvPr>
          <p:cNvSpPr txBox="1"/>
          <p:nvPr/>
        </p:nvSpPr>
        <p:spPr>
          <a:xfrm>
            <a:off x="3737296" y="3042658"/>
            <a:ext cx="63252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Student Task 2</a:t>
            </a:r>
          </a:p>
          <a:p>
            <a:pPr>
              <a:buNone/>
            </a:pPr>
            <a:r>
              <a:rPr lang="en-US" b="1" dirty="0"/>
              <a:t>Task:</a:t>
            </a:r>
          </a:p>
          <a:p>
            <a:pPr>
              <a:buNone/>
            </a:pPr>
            <a:r>
              <a:rPr lang="en-US" dirty="0"/>
              <a:t>Create class: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Book</a:t>
            </a:r>
          </a:p>
          <a:p>
            <a:pPr>
              <a:buNone/>
            </a:pPr>
            <a:r>
              <a:rPr lang="en-US" dirty="0"/>
              <a:t>Variables: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bookId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bookName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Use parameterized constructor.</a:t>
            </a:r>
          </a:p>
          <a:p>
            <a:pPr>
              <a:buNone/>
            </a:pPr>
            <a:r>
              <a:rPr lang="en-US" dirty="0"/>
              <a:t>Print values.</a:t>
            </a:r>
          </a:p>
        </p:txBody>
      </p:sp>
    </p:spTree>
    <p:extLst>
      <p:ext uri="{BB962C8B-B14F-4D97-AF65-F5344CB8AC3E}">
        <p14:creationId xmlns:p14="http://schemas.microsoft.com/office/powerpoint/2010/main" val="188445987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8087-9075-A491-328B-716A5F5B0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972" y="265273"/>
            <a:ext cx="246314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050" b="1" dirty="0"/>
              <a:t>Constructor Overloading</a:t>
            </a:r>
          </a:p>
          <a:p>
            <a:pPr marL="0" indent="0">
              <a:buNone/>
            </a:pPr>
            <a:r>
              <a:rPr lang="en-IN" sz="1050" b="1" dirty="0"/>
              <a:t>Definition</a:t>
            </a:r>
          </a:p>
          <a:p>
            <a:pPr marL="0" indent="0">
              <a:buNone/>
            </a:pPr>
            <a:r>
              <a:rPr lang="en-IN" sz="1050" dirty="0"/>
              <a:t>Creating multiple constructors with:</a:t>
            </a:r>
          </a:p>
          <a:p>
            <a:pPr marL="0" indent="0">
              <a:buNone/>
            </a:pPr>
            <a:r>
              <a:rPr lang="en-IN" sz="1050" dirty="0"/>
              <a:t>different parameters </a:t>
            </a:r>
          </a:p>
          <a:p>
            <a:pPr marL="0" indent="0">
              <a:buNone/>
            </a:pPr>
            <a:r>
              <a:rPr lang="en-IN" sz="1050" dirty="0"/>
              <a:t>is called:</a:t>
            </a:r>
          </a:p>
          <a:p>
            <a:pPr marL="0" indent="0">
              <a:buNone/>
            </a:pPr>
            <a:r>
              <a:rPr lang="en-IN" sz="1050" b="1" dirty="0"/>
              <a:t>Constructor Overloading</a:t>
            </a:r>
            <a:endParaRPr lang="en-IN" sz="1050" dirty="0"/>
          </a:p>
          <a:p>
            <a:pPr marL="0" indent="0">
              <a:buNone/>
            </a:pPr>
            <a:r>
              <a:rPr lang="en-IN" sz="1050" b="1" dirty="0"/>
              <a:t>Program Example</a:t>
            </a:r>
          </a:p>
          <a:p>
            <a:pPr marL="0" indent="0">
              <a:buNone/>
            </a:pPr>
            <a:r>
              <a:rPr lang="en-IN" sz="1050" dirty="0"/>
              <a:t>class Demo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Demo()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</a:t>
            </a:r>
            <a:r>
              <a:rPr lang="en-IN" sz="1050" dirty="0" err="1"/>
              <a:t>System.out.println</a:t>
            </a:r>
            <a:r>
              <a:rPr lang="en-IN" sz="1050" dirty="0"/>
              <a:t>("No Argument Constructor");</a:t>
            </a:r>
            <a:br>
              <a:rPr lang="en-IN" sz="1050" dirty="0"/>
            </a:br>
            <a:r>
              <a:rPr lang="en-IN" sz="1050" dirty="0"/>
              <a:t>    }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Demo(int a)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</a:t>
            </a:r>
            <a:r>
              <a:rPr lang="en-IN" sz="1050" dirty="0" err="1"/>
              <a:t>System.out.println</a:t>
            </a:r>
            <a:r>
              <a:rPr lang="en-IN" sz="1050" dirty="0"/>
              <a:t>(a);</a:t>
            </a:r>
            <a:br>
              <a:rPr lang="en-IN" sz="1050" dirty="0"/>
            </a:br>
            <a:r>
              <a:rPr lang="en-IN" sz="1050" dirty="0"/>
              <a:t>    }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Demo(String name)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</a:t>
            </a:r>
            <a:r>
              <a:rPr lang="en-IN" sz="1050" dirty="0" err="1"/>
              <a:t>System.out.println</a:t>
            </a:r>
            <a:r>
              <a:rPr lang="en-IN" sz="1050" dirty="0"/>
              <a:t>(name);</a:t>
            </a:r>
            <a:br>
              <a:rPr lang="en-IN" sz="1050" dirty="0"/>
            </a:br>
            <a:r>
              <a:rPr lang="en-IN" sz="1050" dirty="0"/>
              <a:t>    }</a:t>
            </a:r>
            <a:br>
              <a:rPr lang="en-IN" sz="1050" dirty="0"/>
            </a:br>
            <a:r>
              <a:rPr lang="en-IN" sz="1050" dirty="0"/>
              <a:t>}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public class Main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public static void main(String[] </a:t>
            </a:r>
            <a:r>
              <a:rPr lang="en-IN" sz="1050" dirty="0" err="1"/>
              <a:t>args</a:t>
            </a:r>
            <a:r>
              <a:rPr lang="en-IN" sz="1050" dirty="0"/>
              <a:t>)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Demo d1 = new Demo();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Demo d2 = new Demo(100);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Demo d3 = new Demo("Java");</a:t>
            </a:r>
            <a:br>
              <a:rPr lang="en-IN" sz="1050" dirty="0"/>
            </a:br>
            <a:r>
              <a:rPr lang="en-IN" sz="1050" dirty="0"/>
              <a:t>    }</a:t>
            </a:r>
            <a:br>
              <a:rPr lang="en-IN" sz="1050" dirty="0"/>
            </a:br>
            <a:r>
              <a:rPr lang="en-IN" sz="1050" dirty="0"/>
              <a:t>}</a:t>
            </a:r>
          </a:p>
          <a:p>
            <a:pPr marL="0" indent="0">
              <a:buNone/>
            </a:pPr>
            <a:endParaRPr lang="en-IN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6781F-BDE8-E853-ABD9-CA9812335041}"/>
              </a:ext>
            </a:extLst>
          </p:cNvPr>
          <p:cNvSpPr txBox="1"/>
          <p:nvPr/>
        </p:nvSpPr>
        <p:spPr>
          <a:xfrm>
            <a:off x="7350854" y="265273"/>
            <a:ext cx="60946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Line by Line Explanation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Demo()</a:t>
            </a:r>
          </a:p>
          <a:p>
            <a:pPr>
              <a:buNone/>
            </a:pPr>
            <a:r>
              <a:rPr lang="en-IN" dirty="0"/>
              <a:t>Default constructor.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Demo(int a)</a:t>
            </a:r>
          </a:p>
          <a:p>
            <a:pPr>
              <a:buNone/>
            </a:pPr>
            <a:r>
              <a:rPr lang="en-IN" dirty="0"/>
              <a:t>Constructor with integer parameter.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Demo(String name)</a:t>
            </a:r>
          </a:p>
          <a:p>
            <a:pPr>
              <a:buNone/>
            </a:pPr>
            <a:r>
              <a:rPr lang="en-IN" dirty="0"/>
              <a:t>Constructor with String parameter.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Demo d1 = new Demo();</a:t>
            </a:r>
          </a:p>
          <a:p>
            <a:pPr>
              <a:buNone/>
            </a:pPr>
            <a:r>
              <a:rPr lang="en-IN" dirty="0"/>
              <a:t>Calls first constructor.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Demo d2 = new Demo(100);</a:t>
            </a:r>
          </a:p>
          <a:p>
            <a:pPr>
              <a:buNone/>
            </a:pPr>
            <a:r>
              <a:rPr lang="en-IN" dirty="0"/>
              <a:t>Calls second constructor.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Demo d3 = new Demo("Java");</a:t>
            </a:r>
          </a:p>
          <a:p>
            <a:pPr>
              <a:buNone/>
            </a:pPr>
            <a:r>
              <a:rPr lang="en-IN" dirty="0"/>
              <a:t>Calls third constructor.</a:t>
            </a: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Output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No Argument Constructor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100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Java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 err="1"/>
              <a:t>ble</a:t>
            </a:r>
            <a:r>
              <a:rPr lang="en-IN" dirty="0"/>
              <a:t> messages.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C21E7-78BE-005D-0E39-7AEE5E73AF36}"/>
              </a:ext>
            </a:extLst>
          </p:cNvPr>
          <p:cNvSpPr txBox="1"/>
          <p:nvPr/>
        </p:nvSpPr>
        <p:spPr>
          <a:xfrm>
            <a:off x="3047301" y="2138436"/>
            <a:ext cx="60946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Student Task 3</a:t>
            </a:r>
          </a:p>
          <a:p>
            <a:pPr>
              <a:buNone/>
            </a:pPr>
            <a:r>
              <a:rPr lang="en-IN" b="1" dirty="0"/>
              <a:t>Task:</a:t>
            </a:r>
          </a:p>
          <a:p>
            <a:pPr>
              <a:buNone/>
            </a:pPr>
            <a:r>
              <a:rPr lang="en-IN" dirty="0"/>
              <a:t>Create class: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College</a:t>
            </a:r>
          </a:p>
          <a:p>
            <a:pPr>
              <a:buNone/>
            </a:pPr>
            <a:r>
              <a:rPr lang="en-IN" dirty="0"/>
              <a:t>Create: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constructor with no argument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constructor with integer argument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constructor with String argument </a:t>
            </a:r>
          </a:p>
          <a:p>
            <a:pPr>
              <a:buNone/>
            </a:pPr>
            <a:r>
              <a:rPr lang="en-IN" dirty="0"/>
              <a:t>Print </a:t>
            </a:r>
            <a:r>
              <a:rPr lang="en-IN" dirty="0" err="1"/>
              <a:t>suita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87374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3E22-4B91-459F-FFA4-24C3068C9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66493"/>
            <a:ext cx="5806440" cy="659120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b="1" dirty="0"/>
              <a:t>Copy Constructor</a:t>
            </a:r>
          </a:p>
          <a:p>
            <a:pPr marL="0" indent="0">
              <a:buNone/>
            </a:pPr>
            <a:r>
              <a:rPr lang="en-IN" b="1" dirty="0"/>
              <a:t>Definition</a:t>
            </a:r>
          </a:p>
          <a:p>
            <a:pPr marL="0" indent="0">
              <a:buNone/>
            </a:pPr>
            <a:r>
              <a:rPr lang="en-IN" dirty="0"/>
              <a:t>A constructor that copies values from one object to another object.</a:t>
            </a:r>
          </a:p>
          <a:p>
            <a:pPr marL="0" indent="0">
              <a:buNone/>
            </a:pPr>
            <a:r>
              <a:rPr lang="en-IN" dirty="0"/>
              <a:t>Java does not provide built-in copy constructor like C++.</a:t>
            </a:r>
          </a:p>
          <a:p>
            <a:pPr marL="0" indent="0">
              <a:buNone/>
            </a:pPr>
            <a:r>
              <a:rPr lang="en-IN" dirty="0"/>
              <a:t>We create manually.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Program Example</a:t>
            </a:r>
          </a:p>
          <a:p>
            <a:pPr marL="0" indent="0">
              <a:buNone/>
            </a:pPr>
            <a:r>
              <a:rPr lang="en-IN" dirty="0"/>
              <a:t>class Student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int id;</a:t>
            </a:r>
            <a:br>
              <a:rPr lang="en-IN" dirty="0"/>
            </a:br>
            <a:r>
              <a:rPr lang="en-IN" dirty="0"/>
              <a:t>    String name;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Student(int </a:t>
            </a:r>
            <a:r>
              <a:rPr lang="en-IN" dirty="0" err="1"/>
              <a:t>i</a:t>
            </a:r>
            <a:r>
              <a:rPr lang="en-IN" dirty="0"/>
              <a:t>, String n)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id = </a:t>
            </a:r>
            <a:r>
              <a:rPr lang="en-IN" dirty="0" err="1"/>
              <a:t>i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name = n;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Student(Student s)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id = s.id;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name = s.name;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void display()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(id + " " + name);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Student s1 = new Student(101, "Arun");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Student s2 = new Student(s1);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s1.display();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s2.display();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315B7F-CFAE-CC14-A331-651015F78B94}"/>
              </a:ext>
            </a:extLst>
          </p:cNvPr>
          <p:cNvSpPr txBox="1"/>
          <p:nvPr/>
        </p:nvSpPr>
        <p:spPr>
          <a:xfrm>
            <a:off x="6940731" y="66493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Line by Line Explanation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Student(Student s)</a:t>
            </a:r>
          </a:p>
          <a:p>
            <a:pPr>
              <a:buNone/>
            </a:pPr>
            <a:r>
              <a:rPr lang="en-US" dirty="0"/>
              <a:t>Copy constructor.</a:t>
            </a:r>
          </a:p>
          <a:p>
            <a:pPr>
              <a:buNone/>
            </a:pPr>
            <a:r>
              <a:rPr lang="en-US" dirty="0"/>
              <a:t>Receives object as parameter.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id = s.id;</a:t>
            </a:r>
          </a:p>
          <a:p>
            <a:pPr>
              <a:buNone/>
            </a:pPr>
            <a:r>
              <a:rPr lang="en-US" dirty="0"/>
              <a:t>Copies id from object.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name = s.name;</a:t>
            </a:r>
          </a:p>
          <a:p>
            <a:pPr>
              <a:buNone/>
            </a:pPr>
            <a:r>
              <a:rPr lang="en-US" dirty="0"/>
              <a:t>Copies name.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Student s2 = new Student(s1);</a:t>
            </a:r>
          </a:p>
          <a:p>
            <a:pPr>
              <a:buNone/>
            </a:pPr>
            <a:r>
              <a:rPr lang="en-US" dirty="0"/>
              <a:t>Copies values from s1 to s2.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101 Arun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101 Arun</a:t>
            </a:r>
            <a:endParaRPr lang="en-US" dirty="0"/>
          </a:p>
          <a:p>
            <a:pPr>
              <a:buNone/>
            </a:pPr>
            <a:r>
              <a:rPr lang="en-US" b="1" dirty="0"/>
              <a:t>Student Task 4</a:t>
            </a:r>
          </a:p>
          <a:p>
            <a:pPr>
              <a:buNone/>
            </a:pPr>
            <a:r>
              <a:rPr lang="en-US" b="1" dirty="0"/>
              <a:t>Task:</a:t>
            </a:r>
          </a:p>
          <a:p>
            <a:pPr>
              <a:buNone/>
            </a:pPr>
            <a:r>
              <a:rPr lang="en-US" dirty="0"/>
              <a:t>Create class: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Employee</a:t>
            </a:r>
          </a:p>
          <a:p>
            <a:pPr>
              <a:buNone/>
            </a:pPr>
            <a:r>
              <a:rPr lang="en-US" dirty="0"/>
              <a:t>Variables: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 </a:t>
            </a:r>
          </a:p>
          <a:p>
            <a:pPr>
              <a:buNone/>
            </a:pPr>
            <a:r>
              <a:rPr lang="en-US" dirty="0"/>
              <a:t>Create: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parameterized constructor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copy constructor </a:t>
            </a:r>
          </a:p>
          <a:p>
            <a:pPr>
              <a:buNone/>
            </a:pPr>
            <a:r>
              <a:rPr lang="en-US" dirty="0"/>
              <a:t>Print copied values.</a:t>
            </a:r>
          </a:p>
        </p:txBody>
      </p:sp>
    </p:spTree>
    <p:extLst>
      <p:ext uri="{BB962C8B-B14F-4D97-AF65-F5344CB8AC3E}">
        <p14:creationId xmlns:p14="http://schemas.microsoft.com/office/powerpoint/2010/main" val="3829547904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545B-4616-920C-6FE8-0E3D80AC2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892" y="24937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EXCEPTION HANDLING IN JAVA</a:t>
            </a:r>
          </a:p>
          <a:p>
            <a:pPr marL="0" indent="0">
              <a:buNone/>
            </a:pPr>
            <a:r>
              <a:rPr lang="en-US" b="1" dirty="0"/>
              <a:t>1. What is Exception Handling?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Exception Handling is used to:</a:t>
            </a:r>
          </a:p>
          <a:p>
            <a:pPr marL="0" indent="0">
              <a:buNone/>
            </a:pPr>
            <a:r>
              <a:rPr lang="en-US" dirty="0"/>
              <a:t>handle runtime errors </a:t>
            </a:r>
          </a:p>
          <a:p>
            <a:pPr marL="0" indent="0">
              <a:buNone/>
            </a:pPr>
            <a:r>
              <a:rPr lang="en-US" dirty="0"/>
              <a:t>prevent program termination </a:t>
            </a:r>
          </a:p>
          <a:p>
            <a:pPr marL="0" indent="0">
              <a:buNone/>
            </a:pPr>
            <a:r>
              <a:rPr lang="en-US" dirty="0"/>
              <a:t>It helps the program continue execution smoothly.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06730-DBFA-9AA7-03EB-190803BF5E3F}"/>
              </a:ext>
            </a:extLst>
          </p:cNvPr>
          <p:cNvSpPr txBox="1"/>
          <p:nvPr/>
        </p:nvSpPr>
        <p:spPr>
          <a:xfrm>
            <a:off x="439203" y="3983817"/>
            <a:ext cx="60946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 Time Example</a:t>
            </a:r>
          </a:p>
          <a:p>
            <a:pPr>
              <a:buNone/>
            </a:pPr>
            <a:r>
              <a:rPr lang="en-US" b="1" dirty="0"/>
              <a:t>ATM Example</a:t>
            </a:r>
          </a:p>
          <a:p>
            <a:pPr>
              <a:buNone/>
            </a:pPr>
            <a:r>
              <a:rPr lang="en-US" dirty="0"/>
              <a:t>If user enters wrong PIN: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should show error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stop the ATM machine </a:t>
            </a:r>
          </a:p>
          <a:p>
            <a:pPr>
              <a:buNone/>
            </a:pPr>
            <a:r>
              <a:rPr lang="en-US" dirty="0"/>
              <a:t>This is exception handling.</a:t>
            </a:r>
          </a:p>
        </p:txBody>
      </p:sp>
    </p:spTree>
    <p:extLst>
      <p:ext uri="{BB962C8B-B14F-4D97-AF65-F5344CB8AC3E}">
        <p14:creationId xmlns:p14="http://schemas.microsoft.com/office/powerpoint/2010/main" val="151564830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FA33E-34BA-81B9-6DB9-1F4847D48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25" y="105882"/>
            <a:ext cx="5193484" cy="231014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 Exception Handling?</a:t>
            </a:r>
          </a:p>
          <a:p>
            <a:pPr marL="0" indent="0">
              <a:buNone/>
            </a:pPr>
            <a:r>
              <a:rPr lang="en-US" dirty="0"/>
              <a:t>Avoid program crash </a:t>
            </a:r>
          </a:p>
          <a:p>
            <a:pPr marL="0" indent="0">
              <a:buNone/>
            </a:pPr>
            <a:r>
              <a:rPr lang="en-US" dirty="0"/>
              <a:t>Handle errors properly </a:t>
            </a:r>
          </a:p>
          <a:p>
            <a:pPr marL="0" indent="0">
              <a:buNone/>
            </a:pPr>
            <a:r>
              <a:rPr lang="en-US" dirty="0"/>
              <a:t>Improve program reliability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905262-8933-692C-25E0-09B81E9D0961}"/>
              </a:ext>
            </a:extLst>
          </p:cNvPr>
          <p:cNvSpPr txBox="1"/>
          <p:nvPr/>
        </p:nvSpPr>
        <p:spPr>
          <a:xfrm>
            <a:off x="5211660" y="105882"/>
            <a:ext cx="609460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Basic Exception 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public class Main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public static void main(String[] </a:t>
            </a:r>
            <a:r>
              <a:rPr lang="en-IN" dirty="0" err="1">
                <a:latin typeface="Courier New" panose="02070309020205020404" pitchFamily="49" charset="0"/>
              </a:rPr>
              <a:t>args</a:t>
            </a:r>
            <a:r>
              <a:rPr lang="en-IN" dirty="0">
                <a:latin typeface="Courier New" panose="02070309020205020404" pitchFamily="49" charset="0"/>
              </a:rPr>
              <a:t>)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try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int a = 10 / 0;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(a);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}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catch (</a:t>
            </a:r>
            <a:r>
              <a:rPr lang="en-IN" dirty="0" err="1">
                <a:latin typeface="Courier New" panose="02070309020205020404" pitchFamily="49" charset="0"/>
              </a:rPr>
              <a:t>ArithmeticException</a:t>
            </a:r>
            <a:r>
              <a:rPr lang="en-IN" dirty="0">
                <a:latin typeface="Courier New" panose="02070309020205020404" pitchFamily="49" charset="0"/>
              </a:rPr>
              <a:t> e)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("Cannot divide by zero");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}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("Program continues");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621933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7763A-F5A4-D38E-304A-E4F1238EE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37" y="0"/>
            <a:ext cx="5612934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6400" b="1" dirty="0"/>
              <a:t>Line by Line Explanation</a:t>
            </a:r>
          </a:p>
          <a:p>
            <a:pPr marL="0" indent="0">
              <a:buNone/>
            </a:pPr>
            <a:r>
              <a:rPr lang="en-IN" sz="6400" dirty="0"/>
              <a:t>try</a:t>
            </a:r>
          </a:p>
          <a:p>
            <a:pPr marL="0" indent="0">
              <a:buNone/>
            </a:pPr>
            <a:r>
              <a:rPr lang="en-IN" sz="6400" dirty="0"/>
              <a:t>Risky code written inside try block.</a:t>
            </a:r>
            <a:br>
              <a:rPr lang="en-IN" sz="6400" dirty="0"/>
            </a:br>
            <a:endParaRPr lang="en-IN" sz="6400" dirty="0"/>
          </a:p>
          <a:p>
            <a:pPr marL="0" indent="0">
              <a:buNone/>
            </a:pPr>
            <a:r>
              <a:rPr lang="en-IN" sz="6400" dirty="0"/>
              <a:t>int a = 10 / 0;</a:t>
            </a:r>
          </a:p>
          <a:p>
            <a:pPr marL="0" indent="0">
              <a:buNone/>
            </a:pPr>
            <a:r>
              <a:rPr lang="en-IN" sz="6400" dirty="0"/>
              <a:t>Causes exception.</a:t>
            </a:r>
          </a:p>
          <a:p>
            <a:pPr marL="0" indent="0">
              <a:buNone/>
            </a:pPr>
            <a:r>
              <a:rPr lang="en-IN" sz="6400" dirty="0"/>
              <a:t>Division by zero not allowed.</a:t>
            </a:r>
          </a:p>
          <a:p>
            <a:pPr marL="0" indent="0">
              <a:buNone/>
            </a:pPr>
            <a:endParaRPr lang="en-IN" sz="6400" dirty="0"/>
          </a:p>
          <a:p>
            <a:pPr marL="0" indent="0">
              <a:buNone/>
            </a:pPr>
            <a:r>
              <a:rPr lang="en-IN" sz="6400" dirty="0"/>
              <a:t>catch (</a:t>
            </a:r>
            <a:r>
              <a:rPr lang="en-IN" sz="6400" dirty="0" err="1"/>
              <a:t>ArithmeticException</a:t>
            </a:r>
            <a:r>
              <a:rPr lang="en-IN" sz="6400" dirty="0"/>
              <a:t> e)</a:t>
            </a:r>
          </a:p>
          <a:p>
            <a:pPr marL="0" indent="0">
              <a:buNone/>
            </a:pPr>
            <a:r>
              <a:rPr lang="en-IN" sz="6400" dirty="0"/>
              <a:t>Handles arithmetic exception.</a:t>
            </a:r>
          </a:p>
          <a:p>
            <a:pPr marL="0" indent="0">
              <a:buNone/>
            </a:pPr>
            <a:endParaRPr lang="en-IN" sz="6400" dirty="0"/>
          </a:p>
          <a:p>
            <a:pPr marL="0" indent="0">
              <a:buNone/>
            </a:pPr>
            <a:r>
              <a:rPr lang="en-IN" sz="6400" dirty="0" err="1"/>
              <a:t>System.out.println</a:t>
            </a:r>
            <a:r>
              <a:rPr lang="en-IN" sz="6400" dirty="0"/>
              <a:t>("Cannot divide by zero");</a:t>
            </a:r>
          </a:p>
          <a:p>
            <a:pPr marL="0" indent="0">
              <a:buNone/>
            </a:pPr>
            <a:r>
              <a:rPr lang="en-IN" sz="6400" dirty="0"/>
              <a:t>Prints error message.</a:t>
            </a:r>
            <a:br>
              <a:rPr lang="en-IN" sz="6400" dirty="0"/>
            </a:br>
            <a:endParaRPr lang="en-IN" sz="6400" dirty="0"/>
          </a:p>
          <a:p>
            <a:pPr marL="0" indent="0">
              <a:buNone/>
            </a:pPr>
            <a:r>
              <a:rPr lang="en-IN" sz="6400" dirty="0" err="1"/>
              <a:t>System.out.println</a:t>
            </a:r>
            <a:r>
              <a:rPr lang="en-IN" sz="6400" dirty="0"/>
              <a:t>("Program continues");</a:t>
            </a:r>
          </a:p>
          <a:p>
            <a:pPr marL="0" indent="0">
              <a:buNone/>
            </a:pPr>
            <a:r>
              <a:rPr lang="en-IN" sz="6400" dirty="0"/>
              <a:t>Program continues normally.</a:t>
            </a:r>
          </a:p>
          <a:p>
            <a:pPr marL="0" indent="0">
              <a:buNone/>
            </a:pPr>
            <a:br>
              <a:rPr lang="en-IN" sz="6400" dirty="0"/>
            </a:br>
            <a:endParaRPr lang="en-IN" sz="6400" dirty="0"/>
          </a:p>
          <a:p>
            <a:pPr marL="0" indent="0">
              <a:buNone/>
            </a:pPr>
            <a:r>
              <a:rPr lang="en-IN" sz="6400" b="1" dirty="0"/>
              <a:t>Output</a:t>
            </a:r>
          </a:p>
          <a:p>
            <a:pPr marL="0" indent="0">
              <a:buNone/>
            </a:pPr>
            <a:r>
              <a:rPr lang="en-IN" sz="6400" dirty="0"/>
              <a:t>Cannot divide by zero</a:t>
            </a:r>
            <a:br>
              <a:rPr lang="en-IN" sz="6400" dirty="0"/>
            </a:br>
            <a:r>
              <a:rPr lang="en-IN" sz="6400" dirty="0"/>
              <a:t>Program continues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B762F-1EDF-E317-39A9-304EDC241A33}"/>
              </a:ext>
            </a:extLst>
          </p:cNvPr>
          <p:cNvSpPr txBox="1"/>
          <p:nvPr/>
        </p:nvSpPr>
        <p:spPr>
          <a:xfrm>
            <a:off x="5896761" y="1216052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Student Task 1</a:t>
            </a:r>
          </a:p>
          <a:p>
            <a:pPr>
              <a:buNone/>
            </a:pPr>
            <a:r>
              <a:rPr lang="en-US" b="1" dirty="0"/>
              <a:t>Task:</a:t>
            </a:r>
          </a:p>
          <a:p>
            <a:pPr>
              <a:buNone/>
            </a:pPr>
            <a:r>
              <a:rPr lang="en-US" dirty="0"/>
              <a:t>Write program to handle: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ArrayIndexOutOfBoundsException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09739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C87B-6DB7-6FFA-C53E-EE2ACB00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084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Keywords in Exception Handling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440E56-DA4A-9892-7532-732C882819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291702"/>
              </p:ext>
            </p:extLst>
          </p:nvPr>
        </p:nvGraphicFramePr>
        <p:xfrm>
          <a:off x="469084" y="1325563"/>
          <a:ext cx="8289022" cy="2194560"/>
        </p:xfrm>
        <a:graphic>
          <a:graphicData uri="http://schemas.openxmlformats.org/drawingml/2006/table">
            <a:tbl>
              <a:tblPr/>
              <a:tblGrid>
                <a:gridCol w="4144511">
                  <a:extLst>
                    <a:ext uri="{9D8B030D-6E8A-4147-A177-3AD203B41FA5}">
                      <a16:colId xmlns:a16="http://schemas.microsoft.com/office/drawing/2014/main" val="171124243"/>
                    </a:ext>
                  </a:extLst>
                </a:gridCol>
                <a:gridCol w="4144511">
                  <a:extLst>
                    <a:ext uri="{9D8B030D-6E8A-4147-A177-3AD203B41FA5}">
                      <a16:colId xmlns:a16="http://schemas.microsoft.com/office/drawing/2014/main" val="2583948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56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Risky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190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Handles exception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040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Executes always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012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Manually throws exception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329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Declares exception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189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55235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8A130-4BDD-8A70-E7D6-A0BB72826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25" y="63937"/>
            <a:ext cx="522704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try-catch-finally Example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try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int a = 10 / 0;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catch (</a:t>
            </a:r>
            <a:r>
              <a:rPr lang="en-IN" dirty="0" err="1"/>
              <a:t>ArithmeticException</a:t>
            </a:r>
            <a:r>
              <a:rPr lang="en-IN" dirty="0"/>
              <a:t> e)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("Error handled");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finally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("Finally block executed");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6BBCE8-5DAE-418A-9768-EE2BF9CEADA5}"/>
              </a:ext>
            </a:extLst>
          </p:cNvPr>
          <p:cNvSpPr txBox="1"/>
          <p:nvPr/>
        </p:nvSpPr>
        <p:spPr>
          <a:xfrm>
            <a:off x="6277062" y="917918"/>
            <a:ext cx="6094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Line by Line Explanation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finally</a:t>
            </a:r>
          </a:p>
          <a:p>
            <a:pPr>
              <a:buNone/>
            </a:pPr>
            <a:r>
              <a:rPr lang="en-US" dirty="0"/>
              <a:t>Always executes whether exception occurs or not.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Error handled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Finally block executed</a:t>
            </a:r>
          </a:p>
        </p:txBody>
      </p:sp>
    </p:spTree>
    <p:extLst>
      <p:ext uri="{BB962C8B-B14F-4D97-AF65-F5344CB8AC3E}">
        <p14:creationId xmlns:p14="http://schemas.microsoft.com/office/powerpoint/2010/main" val="125187924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2280-82F6-7100-5143-36EACF7E1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39" y="29882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Student Task 2</a:t>
            </a:r>
          </a:p>
          <a:p>
            <a:pPr marL="0" indent="0">
              <a:buNone/>
            </a:pPr>
            <a:r>
              <a:rPr lang="en-US" b="1" dirty="0"/>
              <a:t>Task:</a:t>
            </a:r>
          </a:p>
          <a:p>
            <a:pPr marL="0" indent="0">
              <a:buNone/>
            </a:pPr>
            <a:r>
              <a:rPr lang="en-US" dirty="0"/>
              <a:t>Write program using:</a:t>
            </a:r>
          </a:p>
          <a:p>
            <a:pPr marL="0" indent="0">
              <a:buNone/>
            </a:pPr>
            <a:r>
              <a:rPr lang="en-US" dirty="0"/>
              <a:t>try </a:t>
            </a:r>
          </a:p>
          <a:p>
            <a:pPr marL="0" indent="0">
              <a:buNone/>
            </a:pPr>
            <a:r>
              <a:rPr lang="en-US" dirty="0"/>
              <a:t>catch </a:t>
            </a:r>
          </a:p>
          <a:p>
            <a:pPr marL="0" indent="0">
              <a:buNone/>
            </a:pPr>
            <a:r>
              <a:rPr lang="en-US" dirty="0"/>
              <a:t>finally </a:t>
            </a:r>
          </a:p>
          <a:p>
            <a:pPr marL="0" indent="0">
              <a:buNone/>
            </a:pPr>
            <a:r>
              <a:rPr lang="en-US" dirty="0"/>
              <a:t>Handle division exception.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025038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CD317-C623-675D-D5B0-0BD732CFC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16" y="231717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b="1" dirty="0"/>
              <a:t>Types of Exceptions</a:t>
            </a:r>
          </a:p>
          <a:p>
            <a:pPr marL="0" indent="0">
              <a:buNone/>
            </a:pPr>
            <a:r>
              <a:rPr lang="en-IN" sz="5600" b="1" dirty="0"/>
              <a:t>Checked Exception</a:t>
            </a:r>
          </a:p>
          <a:p>
            <a:pPr marL="0" indent="0">
              <a:buNone/>
            </a:pPr>
            <a:r>
              <a:rPr lang="en-IN" sz="5600" dirty="0"/>
              <a:t>Checked during compile time.</a:t>
            </a:r>
          </a:p>
          <a:p>
            <a:pPr marL="0" indent="0">
              <a:buNone/>
            </a:pPr>
            <a:r>
              <a:rPr lang="en-IN" sz="5600" dirty="0"/>
              <a:t>Examples:</a:t>
            </a:r>
          </a:p>
          <a:p>
            <a:pPr marL="0" indent="0">
              <a:buNone/>
            </a:pPr>
            <a:r>
              <a:rPr lang="en-IN" sz="5600" dirty="0" err="1"/>
              <a:t>IOException</a:t>
            </a:r>
            <a:r>
              <a:rPr lang="en-IN" sz="5600" dirty="0"/>
              <a:t> </a:t>
            </a:r>
          </a:p>
          <a:p>
            <a:pPr marL="0" indent="0">
              <a:buNone/>
            </a:pPr>
            <a:r>
              <a:rPr lang="en-IN" sz="5600" dirty="0" err="1"/>
              <a:t>SQLException</a:t>
            </a:r>
            <a:r>
              <a:rPr lang="en-IN" sz="5600" dirty="0"/>
              <a:t> </a:t>
            </a:r>
          </a:p>
          <a:p>
            <a:pPr marL="0" indent="0">
              <a:buNone/>
            </a:pPr>
            <a:r>
              <a:rPr lang="en-IN" sz="5600" b="1" dirty="0"/>
              <a:t>Unchecked Exception</a:t>
            </a:r>
          </a:p>
          <a:p>
            <a:pPr marL="0" indent="0">
              <a:buNone/>
            </a:pPr>
            <a:r>
              <a:rPr lang="en-IN" sz="5600" dirty="0"/>
              <a:t>Occurs during runtime.</a:t>
            </a:r>
          </a:p>
          <a:p>
            <a:pPr marL="0" indent="0">
              <a:buNone/>
            </a:pPr>
            <a:r>
              <a:rPr lang="en-IN" sz="5600" dirty="0"/>
              <a:t>Examples:</a:t>
            </a:r>
          </a:p>
          <a:p>
            <a:pPr marL="0" indent="0">
              <a:buNone/>
            </a:pPr>
            <a:r>
              <a:rPr lang="en-IN" sz="5600" dirty="0" err="1"/>
              <a:t>ArithmeticException</a:t>
            </a:r>
            <a:r>
              <a:rPr lang="en-IN" sz="5600" dirty="0"/>
              <a:t> </a:t>
            </a:r>
          </a:p>
          <a:p>
            <a:pPr marL="0" indent="0">
              <a:buNone/>
            </a:pPr>
            <a:r>
              <a:rPr lang="en-IN" sz="5600" dirty="0" err="1"/>
              <a:t>ArrayIndexOutOfBoundsException</a:t>
            </a:r>
            <a:r>
              <a:rPr lang="en-IN" sz="5600" dirty="0"/>
              <a:t> </a:t>
            </a:r>
          </a:p>
          <a:p>
            <a:pPr marL="0" indent="0">
              <a:buNone/>
            </a:pPr>
            <a:r>
              <a:rPr lang="en-IN" sz="5600" dirty="0" err="1"/>
              <a:t>NullPointerException</a:t>
            </a:r>
            <a:r>
              <a:rPr lang="en-IN" sz="5600" dirty="0"/>
              <a:t> </a:t>
            </a:r>
          </a:p>
          <a:p>
            <a:pPr marL="0" indent="0">
              <a:buNone/>
            </a:pPr>
            <a:r>
              <a:rPr lang="en-IN" sz="5600" b="1" dirty="0"/>
              <a:t>Checked Exception Example</a:t>
            </a:r>
          </a:p>
          <a:p>
            <a:pPr marL="0" indent="0">
              <a:buNone/>
            </a:pPr>
            <a:r>
              <a:rPr lang="en-IN" sz="5600" dirty="0"/>
              <a:t>import java.io.*;</a:t>
            </a:r>
            <a:br>
              <a:rPr lang="en-IN" sz="5600" dirty="0"/>
            </a:br>
            <a:br>
              <a:rPr lang="en-IN" sz="5600" dirty="0"/>
            </a:br>
            <a:r>
              <a:rPr lang="en-IN" sz="5600" dirty="0"/>
              <a:t>public class Main {</a:t>
            </a:r>
            <a:br>
              <a:rPr lang="en-IN" sz="5600" dirty="0"/>
            </a:br>
            <a:br>
              <a:rPr lang="en-IN" sz="5600" dirty="0"/>
            </a:br>
            <a:r>
              <a:rPr lang="en-IN" sz="5600" dirty="0"/>
              <a:t>    public static void main(String[] </a:t>
            </a:r>
            <a:r>
              <a:rPr lang="en-IN" sz="5600" dirty="0" err="1"/>
              <a:t>args</a:t>
            </a:r>
            <a:r>
              <a:rPr lang="en-IN" sz="5600" dirty="0"/>
              <a:t>) {</a:t>
            </a:r>
            <a:br>
              <a:rPr lang="en-IN" sz="5600" dirty="0"/>
            </a:br>
            <a:br>
              <a:rPr lang="en-IN" sz="5600" dirty="0"/>
            </a:br>
            <a:r>
              <a:rPr lang="en-IN" sz="5600" dirty="0"/>
              <a:t>        try {</a:t>
            </a:r>
            <a:br>
              <a:rPr lang="en-IN" sz="5600" dirty="0"/>
            </a:br>
            <a:br>
              <a:rPr lang="en-IN" sz="5600" dirty="0"/>
            </a:br>
            <a:r>
              <a:rPr lang="en-IN" sz="5600" dirty="0"/>
              <a:t>            </a:t>
            </a:r>
            <a:r>
              <a:rPr lang="en-IN" sz="5600" dirty="0" err="1"/>
              <a:t>FileReader</a:t>
            </a:r>
            <a:r>
              <a:rPr lang="en-IN" sz="5600" dirty="0"/>
              <a:t> f = new </a:t>
            </a:r>
            <a:r>
              <a:rPr lang="en-IN" sz="5600" dirty="0" err="1"/>
              <a:t>FileReader</a:t>
            </a:r>
            <a:r>
              <a:rPr lang="en-IN" sz="5600" dirty="0"/>
              <a:t>("abc.txt");</a:t>
            </a:r>
            <a:br>
              <a:rPr lang="en-IN" sz="5600" dirty="0"/>
            </a:br>
            <a:r>
              <a:rPr lang="en-IN" sz="5600" dirty="0"/>
              <a:t>        }</a:t>
            </a:r>
            <a:br>
              <a:rPr lang="en-IN" sz="5600" dirty="0"/>
            </a:br>
            <a:br>
              <a:rPr lang="en-IN" sz="5600" dirty="0"/>
            </a:br>
            <a:r>
              <a:rPr lang="en-IN" sz="5600" dirty="0"/>
              <a:t>        catch (</a:t>
            </a:r>
            <a:r>
              <a:rPr lang="en-IN" sz="5600" dirty="0" err="1"/>
              <a:t>IOException</a:t>
            </a:r>
            <a:r>
              <a:rPr lang="en-IN" sz="5600" dirty="0"/>
              <a:t> e) {</a:t>
            </a:r>
            <a:br>
              <a:rPr lang="en-IN" sz="5600" dirty="0"/>
            </a:br>
            <a:br>
              <a:rPr lang="en-IN" sz="5600" dirty="0"/>
            </a:br>
            <a:r>
              <a:rPr lang="en-IN" sz="5600" dirty="0"/>
              <a:t>            </a:t>
            </a:r>
            <a:r>
              <a:rPr lang="en-IN" sz="5600" dirty="0" err="1"/>
              <a:t>System.out.println</a:t>
            </a:r>
            <a:r>
              <a:rPr lang="en-IN" sz="5600" dirty="0"/>
              <a:t>("File not found");</a:t>
            </a:r>
            <a:br>
              <a:rPr lang="en-IN" sz="5600" dirty="0"/>
            </a:br>
            <a:r>
              <a:rPr lang="en-IN" sz="5600" dirty="0"/>
              <a:t>        }</a:t>
            </a:r>
            <a:br>
              <a:rPr lang="en-IN" sz="5600" dirty="0"/>
            </a:br>
            <a:r>
              <a:rPr lang="en-IN" sz="5600" dirty="0"/>
              <a:t>    }</a:t>
            </a:r>
            <a:br>
              <a:rPr lang="en-IN" sz="5600" dirty="0"/>
            </a:br>
            <a:r>
              <a:rPr lang="en-IN" sz="56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70529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558AE-531F-1977-3E7B-658035FDE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58" y="265273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Unchecked Exception Example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int </a:t>
            </a:r>
            <a:r>
              <a:rPr lang="en-IN" dirty="0" err="1"/>
              <a:t>arr</a:t>
            </a:r>
            <a:r>
              <a:rPr lang="en-IN" dirty="0"/>
              <a:t>[] = {1,2,3};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try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[5]);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catch (</a:t>
            </a:r>
            <a:r>
              <a:rPr lang="en-IN" dirty="0" err="1"/>
              <a:t>ArrayIndexOutOfBoundsException</a:t>
            </a:r>
            <a:r>
              <a:rPr lang="en-IN" dirty="0"/>
              <a:t> e)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("Invalid Index");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Invalid Index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70C23-9B3C-45B0-EECA-B8AD875D7C81}"/>
              </a:ext>
            </a:extLst>
          </p:cNvPr>
          <p:cNvSpPr txBox="1"/>
          <p:nvPr/>
        </p:nvSpPr>
        <p:spPr>
          <a:xfrm>
            <a:off x="7652157" y="1174026"/>
            <a:ext cx="34686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Student Task 3</a:t>
            </a:r>
          </a:p>
          <a:p>
            <a:pPr>
              <a:buNone/>
            </a:pPr>
            <a:r>
              <a:rPr lang="en-US" b="1" dirty="0"/>
              <a:t>Task:</a:t>
            </a:r>
          </a:p>
          <a:p>
            <a:pPr>
              <a:buNone/>
            </a:pPr>
            <a:r>
              <a:rPr lang="en-US" dirty="0"/>
              <a:t>Write program to handle: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NullPointerException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NumberFormatException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90071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7C5F9-F456-A4DD-D792-DB7FB5125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766" y="153579"/>
            <a:ext cx="10515600" cy="171876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Multiple Catch Blocks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One try block with multiple catch blocks.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F8140-B8F9-5DF5-2484-15DFD8291C18}"/>
              </a:ext>
            </a:extLst>
          </p:cNvPr>
          <p:cNvSpPr txBox="1"/>
          <p:nvPr/>
        </p:nvSpPr>
        <p:spPr>
          <a:xfrm>
            <a:off x="6270171" y="92010"/>
            <a:ext cx="60960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Program 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public class Main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public static void main(String[] </a:t>
            </a:r>
            <a:r>
              <a:rPr lang="en-IN" dirty="0" err="1">
                <a:latin typeface="Courier New" panose="02070309020205020404" pitchFamily="49" charset="0"/>
              </a:rPr>
              <a:t>args</a:t>
            </a:r>
            <a:r>
              <a:rPr lang="en-IN" dirty="0">
                <a:latin typeface="Courier New" panose="02070309020205020404" pitchFamily="49" charset="0"/>
              </a:rPr>
              <a:t>)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try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int a = 10 / 0;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int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[] = {1,2,3};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[5]);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}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catch (</a:t>
            </a:r>
            <a:r>
              <a:rPr lang="en-IN" dirty="0" err="1">
                <a:latin typeface="Courier New" panose="02070309020205020404" pitchFamily="49" charset="0"/>
              </a:rPr>
              <a:t>ArithmeticException</a:t>
            </a:r>
            <a:r>
              <a:rPr lang="en-IN" dirty="0">
                <a:latin typeface="Courier New" panose="02070309020205020404" pitchFamily="49" charset="0"/>
              </a:rPr>
              <a:t> e)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("Arithmetic Error");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}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catch (</a:t>
            </a:r>
            <a:r>
              <a:rPr lang="en-IN" dirty="0" err="1">
                <a:latin typeface="Courier New" panose="02070309020205020404" pitchFamily="49" charset="0"/>
              </a:rPr>
              <a:t>ArrayIndexOutOfBoundsException</a:t>
            </a:r>
            <a:r>
              <a:rPr lang="en-IN" dirty="0">
                <a:latin typeface="Courier New" panose="02070309020205020404" pitchFamily="49" charset="0"/>
              </a:rPr>
              <a:t> e)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10920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ADDF4-29BF-9055-7880-CAED69272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2" y="172994"/>
            <a:ext cx="10515600" cy="2201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>
                <a:latin typeface="Courier New" panose="02070309020205020404" pitchFamily="49" charset="0"/>
              </a:rPr>
              <a:t> </a:t>
            </a:r>
            <a:r>
              <a:rPr lang="en-IN" sz="1600" dirty="0" err="1">
                <a:latin typeface="Courier New" panose="02070309020205020404" pitchFamily="49" charset="0"/>
              </a:rPr>
              <a:t>System.out.println</a:t>
            </a:r>
            <a:r>
              <a:rPr lang="en-IN" sz="1600" dirty="0">
                <a:latin typeface="Courier New" panose="02070309020205020404" pitchFamily="49" charset="0"/>
              </a:rPr>
              <a:t>("Array Error");</a:t>
            </a:r>
            <a:br>
              <a:rPr lang="en-IN" sz="1600" dirty="0">
                <a:latin typeface="Courier New" panose="02070309020205020404" pitchFamily="49" charset="0"/>
              </a:rPr>
            </a:br>
            <a:r>
              <a:rPr lang="en-IN" sz="1600" dirty="0">
                <a:latin typeface="Courier New" panose="02070309020205020404" pitchFamily="49" charset="0"/>
              </a:rPr>
              <a:t>        }</a:t>
            </a:r>
            <a:br>
              <a:rPr lang="en-IN" sz="1600" dirty="0">
                <a:latin typeface="Courier New" panose="02070309020205020404" pitchFamily="49" charset="0"/>
              </a:rPr>
            </a:br>
            <a:br>
              <a:rPr lang="en-IN" sz="1600" dirty="0">
                <a:latin typeface="Courier New" panose="02070309020205020404" pitchFamily="49" charset="0"/>
              </a:rPr>
            </a:br>
            <a:r>
              <a:rPr lang="en-IN" sz="1600" dirty="0">
                <a:latin typeface="Courier New" panose="02070309020205020404" pitchFamily="49" charset="0"/>
              </a:rPr>
              <a:t>        catch (Exception e) {</a:t>
            </a:r>
            <a:br>
              <a:rPr lang="en-IN" sz="1600" dirty="0">
                <a:latin typeface="Courier New" panose="02070309020205020404" pitchFamily="49" charset="0"/>
              </a:rPr>
            </a:br>
            <a:br>
              <a:rPr lang="en-IN" sz="1600" dirty="0">
                <a:latin typeface="Courier New" panose="02070309020205020404" pitchFamily="49" charset="0"/>
              </a:rPr>
            </a:br>
            <a:r>
              <a:rPr lang="en-IN" sz="1600" dirty="0">
                <a:latin typeface="Courier New" panose="02070309020205020404" pitchFamily="49" charset="0"/>
              </a:rPr>
              <a:t>            </a:t>
            </a:r>
            <a:r>
              <a:rPr lang="en-IN" sz="1600" dirty="0" err="1">
                <a:latin typeface="Courier New" panose="02070309020205020404" pitchFamily="49" charset="0"/>
              </a:rPr>
              <a:t>System.out.println</a:t>
            </a:r>
            <a:r>
              <a:rPr lang="en-IN" sz="1600" dirty="0">
                <a:latin typeface="Courier New" panose="02070309020205020404" pitchFamily="49" charset="0"/>
              </a:rPr>
              <a:t>("General Error");</a:t>
            </a:r>
            <a:br>
              <a:rPr lang="en-IN" sz="1600" dirty="0">
                <a:latin typeface="Courier New" panose="02070309020205020404" pitchFamily="49" charset="0"/>
              </a:rPr>
            </a:br>
            <a:r>
              <a:rPr lang="en-IN" sz="1600" dirty="0">
                <a:latin typeface="Courier New" panose="02070309020205020404" pitchFamily="49" charset="0"/>
              </a:rPr>
              <a:t>        }</a:t>
            </a:r>
            <a:br>
              <a:rPr lang="en-IN" sz="1600" dirty="0">
                <a:latin typeface="Courier New" panose="02070309020205020404" pitchFamily="49" charset="0"/>
              </a:rPr>
            </a:br>
            <a:r>
              <a:rPr lang="en-IN" sz="1600" dirty="0">
                <a:latin typeface="Courier New" panose="02070309020205020404" pitchFamily="49" charset="0"/>
              </a:rPr>
              <a:t>    }</a:t>
            </a:r>
            <a:br>
              <a:rPr lang="en-IN" sz="1600" dirty="0">
                <a:latin typeface="Courier New" panose="02070309020205020404" pitchFamily="49" charset="0"/>
              </a:rPr>
            </a:br>
            <a:r>
              <a:rPr lang="en-IN" sz="1600" dirty="0">
                <a:latin typeface="Courier New" panose="02070309020205020404" pitchFamily="49" charset="0"/>
              </a:rPr>
              <a:t>}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155AC-BBD6-65DA-7EC8-6F79FEDF2DB3}"/>
              </a:ext>
            </a:extLst>
          </p:cNvPr>
          <p:cNvSpPr txBox="1"/>
          <p:nvPr/>
        </p:nvSpPr>
        <p:spPr>
          <a:xfrm>
            <a:off x="396380" y="2360258"/>
            <a:ext cx="609460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Line by Line Explanation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catch (</a:t>
            </a:r>
            <a:r>
              <a:rPr lang="en-IN" dirty="0" err="1">
                <a:latin typeface="Courier New" panose="02070309020205020404" pitchFamily="49" charset="0"/>
              </a:rPr>
              <a:t>ArithmeticException</a:t>
            </a:r>
            <a:r>
              <a:rPr lang="en-IN" dirty="0">
                <a:latin typeface="Courier New" panose="02070309020205020404" pitchFamily="49" charset="0"/>
              </a:rPr>
              <a:t> e)</a:t>
            </a:r>
          </a:p>
          <a:p>
            <a:pPr>
              <a:buNone/>
            </a:pPr>
            <a:r>
              <a:rPr lang="en-IN" dirty="0"/>
              <a:t>Handles arithmetic exception.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catch (</a:t>
            </a:r>
            <a:r>
              <a:rPr lang="en-IN" dirty="0" err="1">
                <a:latin typeface="Courier New" panose="02070309020205020404" pitchFamily="49" charset="0"/>
              </a:rPr>
              <a:t>ArrayIndexOutOfBoundsException</a:t>
            </a:r>
            <a:r>
              <a:rPr lang="en-IN" dirty="0">
                <a:latin typeface="Courier New" panose="02070309020205020404" pitchFamily="49" charset="0"/>
              </a:rPr>
              <a:t> e)</a:t>
            </a:r>
          </a:p>
          <a:p>
            <a:pPr>
              <a:buNone/>
            </a:pPr>
            <a:r>
              <a:rPr lang="en-IN" dirty="0"/>
              <a:t>Handles array exception.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catch (Exception e)</a:t>
            </a:r>
          </a:p>
          <a:p>
            <a:pPr>
              <a:buNone/>
            </a:pPr>
            <a:r>
              <a:rPr lang="en-IN" dirty="0"/>
              <a:t>General exception handler.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Output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Arithmetic Error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D7D53C-84C0-627A-CF30-E17ABAF55DE0}"/>
              </a:ext>
            </a:extLst>
          </p:cNvPr>
          <p:cNvSpPr txBox="1"/>
          <p:nvPr/>
        </p:nvSpPr>
        <p:spPr>
          <a:xfrm>
            <a:off x="6960763" y="2360258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Student Task 4</a:t>
            </a:r>
          </a:p>
          <a:p>
            <a:pPr>
              <a:buNone/>
            </a:pPr>
            <a:r>
              <a:rPr lang="en-US" b="1" dirty="0"/>
              <a:t>Task:</a:t>
            </a:r>
          </a:p>
          <a:p>
            <a:pPr>
              <a:buNone/>
            </a:pPr>
            <a:r>
              <a:rPr lang="en-US" dirty="0"/>
              <a:t>Write program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catch blocks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 string and array exceptions </a:t>
            </a:r>
          </a:p>
        </p:txBody>
      </p:sp>
    </p:spTree>
    <p:extLst>
      <p:ext uri="{BB962C8B-B14F-4D97-AF65-F5344CB8AC3E}">
        <p14:creationId xmlns:p14="http://schemas.microsoft.com/office/powerpoint/2010/main" val="184710440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7D02A-68CB-B342-1927-BA913E458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16" y="231717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4800" b="1" dirty="0"/>
              <a:t>Nested try Block</a:t>
            </a:r>
          </a:p>
          <a:p>
            <a:pPr marL="0" indent="0">
              <a:buNone/>
            </a:pPr>
            <a:r>
              <a:rPr lang="en-IN" sz="4800" b="1" dirty="0"/>
              <a:t>Definition</a:t>
            </a:r>
          </a:p>
          <a:p>
            <a:pPr marL="0" indent="0">
              <a:buNone/>
            </a:pPr>
            <a:r>
              <a:rPr lang="en-IN" sz="4800" dirty="0"/>
              <a:t>try block inside another try block.</a:t>
            </a:r>
          </a:p>
          <a:p>
            <a:pPr marL="0" indent="0">
              <a:buNone/>
            </a:pPr>
            <a:br>
              <a:rPr lang="en-IN" sz="4800" dirty="0"/>
            </a:br>
            <a:endParaRPr lang="en-IN" sz="4800" dirty="0"/>
          </a:p>
          <a:p>
            <a:pPr marL="0" indent="0">
              <a:buNone/>
            </a:pPr>
            <a:r>
              <a:rPr lang="en-IN" sz="4800" b="1" dirty="0"/>
              <a:t>Program Example</a:t>
            </a:r>
          </a:p>
          <a:p>
            <a:pPr marL="0" indent="0">
              <a:buNone/>
            </a:pPr>
            <a:r>
              <a:rPr lang="en-IN" sz="4800" dirty="0"/>
              <a:t>public class Main {</a:t>
            </a:r>
            <a:br>
              <a:rPr lang="en-IN" sz="4800" dirty="0"/>
            </a:br>
            <a:br>
              <a:rPr lang="en-IN" sz="4800" dirty="0"/>
            </a:br>
            <a:r>
              <a:rPr lang="en-IN" sz="4800" dirty="0"/>
              <a:t>    public static void main(String[] </a:t>
            </a:r>
            <a:r>
              <a:rPr lang="en-IN" sz="4800" dirty="0" err="1"/>
              <a:t>args</a:t>
            </a:r>
            <a:r>
              <a:rPr lang="en-IN" sz="4800" dirty="0"/>
              <a:t>) {</a:t>
            </a:r>
            <a:br>
              <a:rPr lang="en-IN" sz="4800" dirty="0"/>
            </a:br>
            <a:br>
              <a:rPr lang="en-IN" sz="4800" dirty="0"/>
            </a:br>
            <a:r>
              <a:rPr lang="en-IN" sz="4800" dirty="0"/>
              <a:t>        try {</a:t>
            </a:r>
            <a:br>
              <a:rPr lang="en-IN" sz="4800" dirty="0"/>
            </a:br>
            <a:br>
              <a:rPr lang="en-IN" sz="4800" dirty="0"/>
            </a:br>
            <a:r>
              <a:rPr lang="en-IN" sz="4800" dirty="0"/>
              <a:t>            try {</a:t>
            </a:r>
            <a:br>
              <a:rPr lang="en-IN" sz="4800" dirty="0"/>
            </a:br>
            <a:br>
              <a:rPr lang="en-IN" sz="4800" dirty="0"/>
            </a:br>
            <a:r>
              <a:rPr lang="en-IN" sz="4800" dirty="0"/>
              <a:t>                int a = 10 / 0;</a:t>
            </a:r>
            <a:br>
              <a:rPr lang="en-IN" sz="4800" dirty="0"/>
            </a:br>
            <a:r>
              <a:rPr lang="en-IN" sz="4800" dirty="0"/>
              <a:t>            }</a:t>
            </a:r>
            <a:br>
              <a:rPr lang="en-IN" sz="4800" dirty="0"/>
            </a:br>
            <a:br>
              <a:rPr lang="en-IN" sz="4800" dirty="0"/>
            </a:br>
            <a:r>
              <a:rPr lang="en-IN" sz="4800" dirty="0"/>
              <a:t>            catch (</a:t>
            </a:r>
            <a:r>
              <a:rPr lang="en-IN" sz="4800" dirty="0" err="1"/>
              <a:t>ArithmeticException</a:t>
            </a:r>
            <a:r>
              <a:rPr lang="en-IN" sz="4800" dirty="0"/>
              <a:t> e) {</a:t>
            </a:r>
            <a:br>
              <a:rPr lang="en-IN" sz="4800" dirty="0"/>
            </a:br>
            <a:br>
              <a:rPr lang="en-IN" sz="4800" dirty="0"/>
            </a:br>
            <a:r>
              <a:rPr lang="en-IN" sz="4800" dirty="0"/>
              <a:t>                </a:t>
            </a:r>
            <a:r>
              <a:rPr lang="en-IN" sz="4800" dirty="0" err="1"/>
              <a:t>System.out.println</a:t>
            </a:r>
            <a:r>
              <a:rPr lang="en-IN" sz="4800" dirty="0"/>
              <a:t>("Inner Catch");</a:t>
            </a:r>
            <a:br>
              <a:rPr lang="en-IN" sz="4800" dirty="0"/>
            </a:br>
            <a:r>
              <a:rPr lang="en-IN" sz="4800" dirty="0"/>
              <a:t>            }</a:t>
            </a:r>
            <a:br>
              <a:rPr lang="en-IN" sz="4800" dirty="0"/>
            </a:br>
            <a:br>
              <a:rPr lang="en-IN" sz="4800" dirty="0"/>
            </a:br>
            <a:r>
              <a:rPr lang="en-IN" sz="4800" dirty="0"/>
              <a:t>            int </a:t>
            </a:r>
            <a:r>
              <a:rPr lang="en-IN" sz="4800" dirty="0" err="1"/>
              <a:t>arr</a:t>
            </a:r>
            <a:r>
              <a:rPr lang="en-IN" sz="4800" dirty="0"/>
              <a:t>[] = {1,2};</a:t>
            </a:r>
            <a:br>
              <a:rPr lang="en-IN" sz="4800" dirty="0"/>
            </a:br>
            <a:br>
              <a:rPr lang="en-IN" sz="4800" dirty="0"/>
            </a:br>
            <a:r>
              <a:rPr lang="en-IN" sz="4800" dirty="0"/>
              <a:t>            </a:t>
            </a:r>
            <a:r>
              <a:rPr lang="en-IN" sz="4800" dirty="0" err="1"/>
              <a:t>System.out.println</a:t>
            </a:r>
            <a:r>
              <a:rPr lang="en-IN" sz="4800" dirty="0"/>
              <a:t>(</a:t>
            </a:r>
            <a:r>
              <a:rPr lang="en-IN" sz="4800" dirty="0" err="1"/>
              <a:t>arr</a:t>
            </a:r>
            <a:r>
              <a:rPr lang="en-IN" sz="4800" dirty="0"/>
              <a:t>[5]);</a:t>
            </a:r>
            <a:br>
              <a:rPr lang="en-IN" sz="4800" dirty="0"/>
            </a:br>
            <a:r>
              <a:rPr lang="en-IN" sz="4800" dirty="0"/>
              <a:t>        }</a:t>
            </a:r>
            <a:br>
              <a:rPr lang="en-IN" sz="4800" dirty="0"/>
            </a:br>
            <a:br>
              <a:rPr lang="en-IN" sz="4800" dirty="0"/>
            </a:br>
            <a:r>
              <a:rPr lang="en-IN" sz="4800" dirty="0"/>
              <a:t>        catch (</a:t>
            </a:r>
            <a:r>
              <a:rPr lang="en-IN" sz="4800" dirty="0" err="1"/>
              <a:t>ArrayIndexOutOfBoundsException</a:t>
            </a:r>
            <a:r>
              <a:rPr lang="en-IN" sz="4800" dirty="0"/>
              <a:t> e) {</a:t>
            </a:r>
            <a:br>
              <a:rPr lang="en-IN" sz="4800" dirty="0"/>
            </a:br>
            <a:br>
              <a:rPr lang="en-IN" sz="4800" dirty="0"/>
            </a:br>
            <a:r>
              <a:rPr lang="en-IN" sz="4800" dirty="0"/>
              <a:t>            </a:t>
            </a:r>
            <a:r>
              <a:rPr lang="en-IN" sz="4800" dirty="0" err="1"/>
              <a:t>System.out.println</a:t>
            </a:r>
            <a:r>
              <a:rPr lang="en-IN" sz="4800" dirty="0"/>
              <a:t>("Outer Catch");</a:t>
            </a:r>
            <a:br>
              <a:rPr lang="en-IN" sz="4800" dirty="0"/>
            </a:br>
            <a:r>
              <a:rPr lang="en-IN" sz="4800" dirty="0"/>
              <a:t>        }</a:t>
            </a:r>
            <a:br>
              <a:rPr lang="en-IN" sz="4800" dirty="0"/>
            </a:br>
            <a:r>
              <a:rPr lang="en-IN" sz="4800" dirty="0"/>
              <a:t>    }</a:t>
            </a:r>
            <a:br>
              <a:rPr lang="en-IN" sz="4800" dirty="0"/>
            </a:br>
            <a:r>
              <a:rPr lang="en-IN" sz="4800" dirty="0"/>
              <a:t>}</a:t>
            </a:r>
          </a:p>
          <a:p>
            <a:pPr marL="0" indent="0">
              <a:buNone/>
            </a:pPr>
            <a:br>
              <a:rPr lang="en-IN" sz="4800" dirty="0"/>
            </a:br>
            <a:endParaRPr lang="en-IN" sz="4800" dirty="0"/>
          </a:p>
          <a:p>
            <a:pPr marL="0" indent="0">
              <a:buNone/>
            </a:pPr>
            <a:r>
              <a:rPr lang="en-IN" sz="4800" b="1" dirty="0"/>
              <a:t>Output</a:t>
            </a:r>
          </a:p>
          <a:p>
            <a:pPr marL="0" indent="0">
              <a:buNone/>
            </a:pPr>
            <a:r>
              <a:rPr lang="en-IN" sz="4800" dirty="0"/>
              <a:t>Inner Catch</a:t>
            </a:r>
            <a:br>
              <a:rPr lang="en-IN" sz="4800" dirty="0"/>
            </a:br>
            <a:r>
              <a:rPr lang="en-IN" sz="4800" dirty="0"/>
              <a:t>Outer Catch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1A755C-49FC-1BFA-1D2B-072D481982AB}"/>
              </a:ext>
            </a:extLst>
          </p:cNvPr>
          <p:cNvSpPr txBox="1"/>
          <p:nvPr/>
        </p:nvSpPr>
        <p:spPr>
          <a:xfrm>
            <a:off x="6226728" y="1752866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Student Task 5</a:t>
            </a:r>
          </a:p>
          <a:p>
            <a:pPr>
              <a:buNone/>
            </a:pPr>
            <a:r>
              <a:rPr lang="en-US" b="1" dirty="0"/>
              <a:t>Task:</a:t>
            </a:r>
          </a:p>
          <a:p>
            <a:pPr>
              <a:buNone/>
            </a:pPr>
            <a:r>
              <a:rPr lang="en-US" dirty="0"/>
              <a:t>Create nested try block to handle: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ArithmeticException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NullPointerException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375259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9D20-CC06-DD73-DD82-16DBC3591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36" y="-104659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/>
              <a:t>throw vs throws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B4431-2D6E-BC74-3FA9-52C8040690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9617189"/>
              </p:ext>
            </p:extLst>
          </p:nvPr>
        </p:nvGraphicFramePr>
        <p:xfrm>
          <a:off x="200636" y="904079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269535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86582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491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to throw exception manually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to declare exception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01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Inside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 method declaration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760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Singular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Multiple exceptions 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163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64615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8A5C8-065D-967C-5223-5C50B3377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97" y="365941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throw Example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int age = 15;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if(age &lt; 18)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throw new </a:t>
            </a:r>
            <a:r>
              <a:rPr lang="en-IN" dirty="0" err="1"/>
              <a:t>ArithmeticException</a:t>
            </a:r>
            <a:r>
              <a:rPr lang="en-IN" dirty="0"/>
              <a:t>("Not Eligible");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else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("Eligible");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Exception in thread "main"</a:t>
            </a:r>
            <a:br>
              <a:rPr lang="en-IN" dirty="0"/>
            </a:br>
            <a:r>
              <a:rPr lang="en-IN" dirty="0" err="1"/>
              <a:t>java.lang.ArithmeticException</a:t>
            </a:r>
            <a:r>
              <a:rPr lang="en-IN" dirty="0"/>
              <a:t>: Not Eligible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62511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09B80-7306-AC66-6E45-AA986C2EE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086" y="290440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6400" b="1" dirty="0"/>
              <a:t>throws Example</a:t>
            </a:r>
          </a:p>
          <a:p>
            <a:pPr marL="0" indent="0">
              <a:buNone/>
            </a:pPr>
            <a:r>
              <a:rPr lang="en-IN" sz="6400" dirty="0"/>
              <a:t>import java.io.*;</a:t>
            </a:r>
            <a:br>
              <a:rPr lang="en-IN" sz="6400" dirty="0"/>
            </a:br>
            <a:br>
              <a:rPr lang="en-IN" sz="6400" dirty="0"/>
            </a:br>
            <a:r>
              <a:rPr lang="en-IN" sz="6400" dirty="0"/>
              <a:t>public class Main {</a:t>
            </a:r>
            <a:br>
              <a:rPr lang="en-IN" sz="6400" dirty="0"/>
            </a:br>
            <a:br>
              <a:rPr lang="en-IN" sz="6400" dirty="0"/>
            </a:br>
            <a:r>
              <a:rPr lang="en-IN" sz="6400" dirty="0"/>
              <a:t>    static void </a:t>
            </a:r>
            <a:r>
              <a:rPr lang="en-IN" sz="6400" dirty="0" err="1"/>
              <a:t>readFile</a:t>
            </a:r>
            <a:r>
              <a:rPr lang="en-IN" sz="6400" dirty="0"/>
              <a:t>() throws </a:t>
            </a:r>
            <a:r>
              <a:rPr lang="en-IN" sz="6400" dirty="0" err="1"/>
              <a:t>IOException</a:t>
            </a:r>
            <a:r>
              <a:rPr lang="en-IN" sz="6400" dirty="0"/>
              <a:t> {</a:t>
            </a:r>
            <a:br>
              <a:rPr lang="en-IN" sz="6400" dirty="0"/>
            </a:br>
            <a:br>
              <a:rPr lang="en-IN" sz="6400" dirty="0"/>
            </a:br>
            <a:r>
              <a:rPr lang="en-IN" sz="6400" dirty="0"/>
              <a:t>        </a:t>
            </a:r>
            <a:r>
              <a:rPr lang="en-IN" sz="6400" dirty="0" err="1"/>
              <a:t>FileReader</a:t>
            </a:r>
            <a:r>
              <a:rPr lang="en-IN" sz="6400" dirty="0"/>
              <a:t> f = new </a:t>
            </a:r>
            <a:r>
              <a:rPr lang="en-IN" sz="6400" dirty="0" err="1"/>
              <a:t>FileReader</a:t>
            </a:r>
            <a:r>
              <a:rPr lang="en-IN" sz="6400" dirty="0"/>
              <a:t>("abc.txt");</a:t>
            </a:r>
            <a:br>
              <a:rPr lang="en-IN" sz="6400" dirty="0"/>
            </a:br>
            <a:r>
              <a:rPr lang="en-IN" sz="6400" dirty="0"/>
              <a:t>    }</a:t>
            </a:r>
            <a:br>
              <a:rPr lang="en-IN" sz="6400" dirty="0"/>
            </a:br>
            <a:br>
              <a:rPr lang="en-IN" sz="6400" dirty="0"/>
            </a:br>
            <a:r>
              <a:rPr lang="en-IN" sz="6400" dirty="0"/>
              <a:t>    public static void main(String[] </a:t>
            </a:r>
            <a:r>
              <a:rPr lang="en-IN" sz="6400" dirty="0" err="1"/>
              <a:t>args</a:t>
            </a:r>
            <a:r>
              <a:rPr lang="en-IN" sz="6400" dirty="0"/>
              <a:t>) {</a:t>
            </a:r>
            <a:br>
              <a:rPr lang="en-IN" sz="6400" dirty="0"/>
            </a:br>
            <a:br>
              <a:rPr lang="en-IN" sz="6400" dirty="0"/>
            </a:br>
            <a:r>
              <a:rPr lang="en-IN" sz="6400" dirty="0"/>
              <a:t>        try {</a:t>
            </a:r>
            <a:br>
              <a:rPr lang="en-IN" sz="6400" dirty="0"/>
            </a:br>
            <a:br>
              <a:rPr lang="en-IN" sz="6400" dirty="0"/>
            </a:br>
            <a:r>
              <a:rPr lang="en-IN" sz="6400" dirty="0"/>
              <a:t>            </a:t>
            </a:r>
            <a:r>
              <a:rPr lang="en-IN" sz="6400" dirty="0" err="1"/>
              <a:t>readFile</a:t>
            </a:r>
            <a:r>
              <a:rPr lang="en-IN" sz="6400" dirty="0"/>
              <a:t>();</a:t>
            </a:r>
            <a:br>
              <a:rPr lang="en-IN" sz="6400" dirty="0"/>
            </a:br>
            <a:r>
              <a:rPr lang="en-IN" sz="6400" dirty="0"/>
              <a:t>        }</a:t>
            </a:r>
            <a:br>
              <a:rPr lang="en-IN" sz="6400" dirty="0"/>
            </a:br>
            <a:br>
              <a:rPr lang="en-IN" sz="6400" dirty="0"/>
            </a:br>
            <a:r>
              <a:rPr lang="en-IN" sz="6400" dirty="0"/>
              <a:t>        catch(</a:t>
            </a:r>
            <a:r>
              <a:rPr lang="en-IN" sz="6400" dirty="0" err="1"/>
              <a:t>IOException</a:t>
            </a:r>
            <a:r>
              <a:rPr lang="en-IN" sz="6400" dirty="0"/>
              <a:t> e) {</a:t>
            </a:r>
            <a:br>
              <a:rPr lang="en-IN" sz="6400" dirty="0"/>
            </a:br>
            <a:br>
              <a:rPr lang="en-IN" sz="6400" dirty="0"/>
            </a:br>
            <a:r>
              <a:rPr lang="en-IN" sz="6400" dirty="0"/>
              <a:t>            </a:t>
            </a:r>
            <a:r>
              <a:rPr lang="en-IN" sz="6400" dirty="0" err="1"/>
              <a:t>System.out.println</a:t>
            </a:r>
            <a:r>
              <a:rPr lang="en-IN" sz="6400" dirty="0"/>
              <a:t>("File Error");</a:t>
            </a:r>
            <a:br>
              <a:rPr lang="en-IN" sz="6400" dirty="0"/>
            </a:br>
            <a:r>
              <a:rPr lang="en-IN" sz="6400" dirty="0"/>
              <a:t>        }</a:t>
            </a:r>
            <a:br>
              <a:rPr lang="en-IN" sz="6400" dirty="0"/>
            </a:br>
            <a:r>
              <a:rPr lang="en-IN" sz="6400" dirty="0"/>
              <a:t>    }</a:t>
            </a:r>
            <a:br>
              <a:rPr lang="en-IN" sz="6400" dirty="0"/>
            </a:br>
            <a:r>
              <a:rPr lang="en-IN" sz="6400" dirty="0"/>
              <a:t>}</a:t>
            </a:r>
          </a:p>
          <a:p>
            <a:pPr marL="0" indent="0">
              <a:buNone/>
            </a:pPr>
            <a:br>
              <a:rPr lang="en-IN" sz="6400" dirty="0"/>
            </a:br>
            <a:endParaRPr lang="en-IN" sz="6400" dirty="0"/>
          </a:p>
          <a:p>
            <a:pPr marL="0" indent="0">
              <a:buNone/>
            </a:pPr>
            <a:r>
              <a:rPr lang="en-IN" sz="6400" b="1" dirty="0"/>
              <a:t>Student Task 6</a:t>
            </a:r>
          </a:p>
          <a:p>
            <a:pPr marL="0" indent="0">
              <a:buNone/>
            </a:pPr>
            <a:r>
              <a:rPr lang="en-IN" sz="6400" b="1" dirty="0"/>
              <a:t>Task:</a:t>
            </a:r>
          </a:p>
          <a:p>
            <a:pPr marL="0" indent="0">
              <a:buNone/>
            </a:pPr>
            <a:r>
              <a:rPr lang="en-IN" sz="6400" dirty="0"/>
              <a:t>Create program using:</a:t>
            </a:r>
          </a:p>
          <a:p>
            <a:pPr marL="0" indent="0">
              <a:buNone/>
            </a:pPr>
            <a:r>
              <a:rPr lang="en-IN" sz="6400" dirty="0"/>
              <a:t>throw keyword </a:t>
            </a:r>
          </a:p>
          <a:p>
            <a:pPr marL="0" indent="0">
              <a:buNone/>
            </a:pPr>
            <a:r>
              <a:rPr lang="en-IN" sz="6400" dirty="0"/>
              <a:t>check voting age eligibility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45204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E6E1E-2B1B-55DB-DDF8-266F29BB8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17" y="214939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050" b="1" dirty="0"/>
              <a:t>Custom Exception</a:t>
            </a:r>
          </a:p>
          <a:p>
            <a:pPr marL="0" indent="0">
              <a:buNone/>
            </a:pPr>
            <a:r>
              <a:rPr lang="en-IN" sz="1050" b="1" dirty="0"/>
              <a:t>Definition</a:t>
            </a:r>
          </a:p>
          <a:p>
            <a:pPr marL="0" indent="0">
              <a:buNone/>
            </a:pPr>
            <a:r>
              <a:rPr lang="en-IN" sz="1050" dirty="0"/>
              <a:t>User-defined exception is called:</a:t>
            </a:r>
          </a:p>
          <a:p>
            <a:pPr marL="0" indent="0">
              <a:buNone/>
            </a:pPr>
            <a:r>
              <a:rPr lang="en-IN" sz="1050" b="1" dirty="0"/>
              <a:t>Custom Exception</a:t>
            </a:r>
            <a:endParaRPr lang="en-IN" sz="1050" dirty="0"/>
          </a:p>
          <a:p>
            <a:pPr marL="0" indent="0">
              <a:buNone/>
            </a:pPr>
            <a:r>
              <a:rPr lang="en-IN" sz="1050" b="1" dirty="0"/>
              <a:t>Program Example</a:t>
            </a:r>
          </a:p>
          <a:p>
            <a:pPr marL="0" indent="0">
              <a:buNone/>
            </a:pPr>
            <a:r>
              <a:rPr lang="en-IN" sz="1050" dirty="0"/>
              <a:t>class </a:t>
            </a:r>
            <a:r>
              <a:rPr lang="en-IN" sz="1050" dirty="0" err="1"/>
              <a:t>InvalidAgeException</a:t>
            </a:r>
            <a:r>
              <a:rPr lang="en-IN" sz="1050" dirty="0"/>
              <a:t> extends Exception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</a:t>
            </a:r>
            <a:r>
              <a:rPr lang="en-IN" sz="1050" dirty="0" err="1"/>
              <a:t>InvalidAgeException</a:t>
            </a:r>
            <a:r>
              <a:rPr lang="en-IN" sz="1050" dirty="0"/>
              <a:t>(String </a:t>
            </a:r>
            <a:r>
              <a:rPr lang="en-IN" sz="1050" dirty="0" err="1"/>
              <a:t>msg</a:t>
            </a:r>
            <a:r>
              <a:rPr lang="en-IN" sz="1050" dirty="0"/>
              <a:t>)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super(</a:t>
            </a:r>
            <a:r>
              <a:rPr lang="en-IN" sz="1050" dirty="0" err="1"/>
              <a:t>msg</a:t>
            </a:r>
            <a:r>
              <a:rPr lang="en-IN" sz="1050" dirty="0"/>
              <a:t>);</a:t>
            </a:r>
            <a:br>
              <a:rPr lang="en-IN" sz="1050" dirty="0"/>
            </a:br>
            <a:r>
              <a:rPr lang="en-IN" sz="1050" dirty="0"/>
              <a:t>    }</a:t>
            </a:r>
            <a:br>
              <a:rPr lang="en-IN" sz="1050" dirty="0"/>
            </a:br>
            <a:r>
              <a:rPr lang="en-IN" sz="1050" dirty="0"/>
              <a:t>}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public class Main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static void </a:t>
            </a:r>
            <a:r>
              <a:rPr lang="en-IN" sz="1050" dirty="0" err="1"/>
              <a:t>checkAge</a:t>
            </a:r>
            <a:r>
              <a:rPr lang="en-IN" sz="1050" dirty="0"/>
              <a:t>(int age) throws </a:t>
            </a:r>
            <a:r>
              <a:rPr lang="en-IN" sz="1050" dirty="0" err="1"/>
              <a:t>InvalidAgeException</a:t>
            </a:r>
            <a:r>
              <a:rPr lang="en-IN" sz="1050" dirty="0"/>
              <a:t>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if(age &lt; 18)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    throw new </a:t>
            </a:r>
            <a:r>
              <a:rPr lang="en-IN" sz="1050" dirty="0" err="1"/>
              <a:t>InvalidAgeException</a:t>
            </a:r>
            <a:r>
              <a:rPr lang="en-IN" sz="1050" dirty="0"/>
              <a:t>("Not Eligible for Voting");</a:t>
            </a:r>
            <a:br>
              <a:rPr lang="en-IN" sz="1050" dirty="0"/>
            </a:br>
            <a:r>
              <a:rPr lang="en-IN" sz="1050" dirty="0"/>
              <a:t>        }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else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    </a:t>
            </a:r>
            <a:r>
              <a:rPr lang="en-IN" sz="1050" dirty="0" err="1"/>
              <a:t>System.out.println</a:t>
            </a:r>
            <a:r>
              <a:rPr lang="en-IN" sz="1050" dirty="0"/>
              <a:t>("Eligible for Voting");</a:t>
            </a:r>
            <a:br>
              <a:rPr lang="en-IN" sz="1050" dirty="0"/>
            </a:br>
            <a:r>
              <a:rPr lang="en-IN" sz="1050" dirty="0"/>
              <a:t>        }</a:t>
            </a:r>
            <a:br>
              <a:rPr lang="en-IN" sz="1050" dirty="0"/>
            </a:br>
            <a:r>
              <a:rPr lang="en-IN" sz="1050" dirty="0"/>
              <a:t>    }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public static void main(String[] </a:t>
            </a:r>
            <a:r>
              <a:rPr lang="en-IN" sz="1050" dirty="0" err="1"/>
              <a:t>args</a:t>
            </a:r>
            <a:r>
              <a:rPr lang="en-IN" sz="1050" dirty="0"/>
              <a:t>)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try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    </a:t>
            </a:r>
            <a:r>
              <a:rPr lang="en-IN" sz="1050" dirty="0" err="1"/>
              <a:t>checkAge</a:t>
            </a:r>
            <a:r>
              <a:rPr lang="en-IN" sz="1050" dirty="0"/>
              <a:t>(15);</a:t>
            </a:r>
            <a:br>
              <a:rPr lang="en-IN" sz="1050" dirty="0"/>
            </a:br>
            <a:r>
              <a:rPr lang="en-IN" sz="1050" dirty="0"/>
              <a:t>        }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catch (</a:t>
            </a:r>
            <a:r>
              <a:rPr lang="en-IN" sz="1050" dirty="0" err="1"/>
              <a:t>InvalidAgeException</a:t>
            </a:r>
            <a:r>
              <a:rPr lang="en-IN" sz="1050" dirty="0"/>
              <a:t> e) {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            </a:t>
            </a:r>
            <a:r>
              <a:rPr lang="en-IN" sz="1050" dirty="0" err="1"/>
              <a:t>System.out.println</a:t>
            </a:r>
            <a:r>
              <a:rPr lang="en-IN" sz="1050" dirty="0"/>
              <a:t>(</a:t>
            </a:r>
            <a:r>
              <a:rPr lang="en-IN" sz="1050" dirty="0" err="1"/>
              <a:t>e.getMessage</a:t>
            </a:r>
            <a:r>
              <a:rPr lang="en-IN" sz="1050" dirty="0"/>
              <a:t>());</a:t>
            </a:r>
            <a:br>
              <a:rPr lang="en-IN" sz="1050" dirty="0"/>
            </a:br>
            <a:r>
              <a:rPr lang="en-IN" sz="1050" dirty="0"/>
              <a:t>        }</a:t>
            </a:r>
            <a:br>
              <a:rPr lang="en-IN" sz="1050" dirty="0"/>
            </a:br>
            <a:r>
              <a:rPr lang="en-IN" sz="1050" dirty="0"/>
              <a:t>    }</a:t>
            </a:r>
            <a:br>
              <a:rPr lang="en-IN" sz="1050" dirty="0"/>
            </a:br>
            <a:r>
              <a:rPr lang="en-IN" sz="1050" dirty="0"/>
              <a:t>}</a:t>
            </a:r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746234382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878EE-8880-2F94-DD1E-CD7C4AA3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96" y="340774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b="1" dirty="0"/>
              <a:t>Line by Line Explanation</a:t>
            </a:r>
          </a:p>
          <a:p>
            <a:pPr marL="0" indent="0">
              <a:buNone/>
            </a:pPr>
            <a:r>
              <a:rPr lang="en-US" sz="5600" dirty="0"/>
              <a:t>class </a:t>
            </a:r>
            <a:r>
              <a:rPr lang="en-US" sz="5600" dirty="0" err="1"/>
              <a:t>InvalidAgeException</a:t>
            </a:r>
            <a:r>
              <a:rPr lang="en-US" sz="5600" dirty="0"/>
              <a:t> extends Exception</a:t>
            </a:r>
          </a:p>
          <a:p>
            <a:pPr marL="0" indent="0">
              <a:buNone/>
            </a:pPr>
            <a:r>
              <a:rPr lang="en-US" sz="5600" dirty="0"/>
              <a:t>Creates custom exception class.</a:t>
            </a:r>
          </a:p>
          <a:p>
            <a:pPr marL="0" indent="0">
              <a:buNone/>
            </a:pPr>
            <a:br>
              <a:rPr lang="en-US" sz="5600" dirty="0"/>
            </a:br>
            <a:endParaRPr lang="en-US" sz="5600" dirty="0"/>
          </a:p>
          <a:p>
            <a:pPr marL="0" indent="0">
              <a:buNone/>
            </a:pPr>
            <a:r>
              <a:rPr lang="en-US" sz="5600" dirty="0"/>
              <a:t>super(msg);</a:t>
            </a:r>
          </a:p>
          <a:p>
            <a:pPr marL="0" indent="0">
              <a:buNone/>
            </a:pPr>
            <a:r>
              <a:rPr lang="en-US" sz="5600" dirty="0"/>
              <a:t>Passes message to parent Exception class.</a:t>
            </a:r>
          </a:p>
          <a:p>
            <a:pPr marL="0" indent="0">
              <a:buNone/>
            </a:pPr>
            <a:br>
              <a:rPr lang="en-US" sz="5600" dirty="0"/>
            </a:br>
            <a:endParaRPr lang="en-US" sz="5600" dirty="0"/>
          </a:p>
          <a:p>
            <a:pPr marL="0" indent="0">
              <a:buNone/>
            </a:pPr>
            <a:r>
              <a:rPr lang="en-US" sz="5600" dirty="0"/>
              <a:t>throw new </a:t>
            </a:r>
            <a:r>
              <a:rPr lang="en-US" sz="5600" dirty="0" err="1"/>
              <a:t>InvalidAgeException</a:t>
            </a:r>
            <a:r>
              <a:rPr lang="en-US" sz="5600" dirty="0"/>
              <a:t>(...)</a:t>
            </a:r>
          </a:p>
          <a:p>
            <a:pPr marL="0" indent="0">
              <a:buNone/>
            </a:pPr>
            <a:r>
              <a:rPr lang="en-US" sz="5600" dirty="0"/>
              <a:t>Throws custom exception.</a:t>
            </a:r>
          </a:p>
          <a:p>
            <a:pPr marL="0" indent="0">
              <a:buNone/>
            </a:pPr>
            <a:br>
              <a:rPr lang="en-US" sz="5600" dirty="0"/>
            </a:br>
            <a:endParaRPr lang="en-US" sz="5600" dirty="0"/>
          </a:p>
          <a:p>
            <a:pPr marL="0" indent="0">
              <a:buNone/>
            </a:pPr>
            <a:r>
              <a:rPr lang="en-US" sz="5600" b="1" dirty="0"/>
              <a:t>Output</a:t>
            </a:r>
          </a:p>
          <a:p>
            <a:pPr marL="0" indent="0">
              <a:buNone/>
            </a:pPr>
            <a:r>
              <a:rPr lang="en-US" sz="5600" dirty="0"/>
              <a:t>Not Eligible for Voting</a:t>
            </a:r>
          </a:p>
          <a:p>
            <a:pPr marL="0" indent="0">
              <a:buNone/>
            </a:pPr>
            <a:br>
              <a:rPr lang="en-US" sz="5600" dirty="0"/>
            </a:br>
            <a:endParaRPr lang="en-US" sz="5600" dirty="0"/>
          </a:p>
          <a:p>
            <a:pPr marL="0" indent="0">
              <a:buNone/>
            </a:pPr>
            <a:r>
              <a:rPr lang="en-US" sz="5600" b="1" dirty="0"/>
              <a:t>Student Task 7</a:t>
            </a:r>
          </a:p>
          <a:p>
            <a:pPr marL="0" indent="0">
              <a:buNone/>
            </a:pPr>
            <a:r>
              <a:rPr lang="en-US" sz="5600" b="1" dirty="0"/>
              <a:t>Task:</a:t>
            </a:r>
          </a:p>
          <a:p>
            <a:pPr marL="0" indent="0">
              <a:buNone/>
            </a:pPr>
            <a:r>
              <a:rPr lang="en-US" sz="5600" dirty="0"/>
              <a:t>Create custom exception:</a:t>
            </a:r>
          </a:p>
          <a:p>
            <a:pPr marL="0" indent="0">
              <a:buNone/>
            </a:pPr>
            <a:r>
              <a:rPr lang="en-US" sz="5600" dirty="0" err="1"/>
              <a:t>InvalidPasswordException</a:t>
            </a:r>
            <a:endParaRPr lang="en-US" sz="5600" dirty="0"/>
          </a:p>
          <a:p>
            <a:pPr marL="0" indent="0">
              <a:buNone/>
            </a:pPr>
            <a:r>
              <a:rPr lang="en-US" sz="5600" dirty="0"/>
              <a:t>Check password length.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138451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33B7-9153-1F78-E49A-012DB4DC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37" y="340774"/>
            <a:ext cx="10515600" cy="33336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WRAPPER CLASSES IN JAVA</a:t>
            </a:r>
          </a:p>
          <a:p>
            <a:pPr marL="0" indent="0">
              <a:buNone/>
            </a:pPr>
            <a:r>
              <a:rPr lang="en-US" b="1" dirty="0"/>
              <a:t>1. Primitive to Object Conversion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Converting a primitive datatype into its corresponding wrapper class object is called:</a:t>
            </a:r>
          </a:p>
          <a:p>
            <a:pPr marL="0" indent="0">
              <a:buNone/>
            </a:pPr>
            <a:r>
              <a:rPr lang="en-US" b="1" dirty="0"/>
              <a:t>Primitive → Object Conversion</a:t>
            </a:r>
          </a:p>
          <a:p>
            <a:pPr marL="0" indent="0">
              <a:buNone/>
            </a:pPr>
            <a:r>
              <a:rPr lang="en-US" b="1" dirty="0"/>
              <a:t>Primitive Datatypes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7E4C8-6B6E-D18F-ABFF-FA9803729C86}"/>
              </a:ext>
            </a:extLst>
          </p:cNvPr>
          <p:cNvSpPr txBox="1"/>
          <p:nvPr/>
        </p:nvSpPr>
        <p:spPr>
          <a:xfrm>
            <a:off x="404769" y="3674378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</a:t>
            </a:r>
          </a:p>
          <a:p>
            <a:r>
              <a:rPr lang="en-IN" dirty="0"/>
              <a:t>double</a:t>
            </a:r>
          </a:p>
          <a:p>
            <a:r>
              <a:rPr lang="en-IN" dirty="0"/>
              <a:t>char</a:t>
            </a:r>
          </a:p>
          <a:p>
            <a:r>
              <a:rPr lang="en-IN" dirty="0" err="1"/>
              <a:t>boolean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C257C-B93A-E865-A7C0-B12C1D1A0EAB}"/>
              </a:ext>
            </a:extLst>
          </p:cNvPr>
          <p:cNvSpPr txBox="1"/>
          <p:nvPr/>
        </p:nvSpPr>
        <p:spPr>
          <a:xfrm>
            <a:off x="312490" y="5108462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Wrapper Classes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Integer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Double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Character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Boolean</a:t>
            </a:r>
          </a:p>
        </p:txBody>
      </p:sp>
    </p:spTree>
    <p:extLst>
      <p:ext uri="{BB962C8B-B14F-4D97-AF65-F5344CB8AC3E}">
        <p14:creationId xmlns:p14="http://schemas.microsoft.com/office/powerpoint/2010/main" val="13096073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1DFD3-EC39-296E-A72C-DF565B16E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672" y="201336"/>
            <a:ext cx="10707847" cy="648468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Program Example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int </a:t>
            </a:r>
            <a:r>
              <a:rPr lang="en-IN" dirty="0" err="1"/>
              <a:t>num</a:t>
            </a:r>
            <a:r>
              <a:rPr lang="en-IN" dirty="0"/>
              <a:t> = 100;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Integer </a:t>
            </a:r>
            <a:r>
              <a:rPr lang="en-IN" dirty="0" err="1"/>
              <a:t>obj</a:t>
            </a:r>
            <a:r>
              <a:rPr lang="en-IN" dirty="0"/>
              <a:t> = </a:t>
            </a:r>
            <a:r>
              <a:rPr lang="en-IN" dirty="0" err="1"/>
              <a:t>Integer.valueOf</a:t>
            </a:r>
            <a:r>
              <a:rPr lang="en-IN" dirty="0"/>
              <a:t>(</a:t>
            </a:r>
            <a:r>
              <a:rPr lang="en-IN" dirty="0" err="1"/>
              <a:t>num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Line by Line Explanation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num</a:t>
            </a:r>
            <a:r>
              <a:rPr lang="en-IN" dirty="0"/>
              <a:t> = 100;</a:t>
            </a:r>
          </a:p>
          <a:p>
            <a:pPr marL="0" indent="0">
              <a:buNone/>
            </a:pPr>
            <a:r>
              <a:rPr lang="en-IN" dirty="0"/>
              <a:t>Primitive variable.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Integer </a:t>
            </a:r>
            <a:r>
              <a:rPr lang="en-IN" dirty="0" err="1"/>
              <a:t>obj</a:t>
            </a:r>
            <a:r>
              <a:rPr lang="en-IN" dirty="0"/>
              <a:t> = </a:t>
            </a:r>
            <a:r>
              <a:rPr lang="en-IN" dirty="0" err="1"/>
              <a:t>Integer.valueOf</a:t>
            </a:r>
            <a:r>
              <a:rPr lang="en-IN" dirty="0"/>
              <a:t>(</a:t>
            </a:r>
            <a:r>
              <a:rPr lang="en-IN" dirty="0" err="1"/>
              <a:t>num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Converts primitive int into Integer object.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Prints object value.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100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36449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14012-66C0-1FC0-067F-649EB9FF2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692" y="147827"/>
            <a:ext cx="10515600" cy="25853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Student Task 1</a:t>
            </a:r>
          </a:p>
          <a:p>
            <a:pPr marL="0" indent="0">
              <a:buNone/>
            </a:pPr>
            <a:r>
              <a:rPr lang="en-US" dirty="0"/>
              <a:t>Create:</a:t>
            </a:r>
          </a:p>
          <a:p>
            <a:pPr marL="0" indent="0">
              <a:buNone/>
            </a:pPr>
            <a:r>
              <a:rPr lang="en-US" dirty="0"/>
              <a:t>int age = 21;</a:t>
            </a:r>
          </a:p>
          <a:p>
            <a:pPr marL="0" indent="0">
              <a:buNone/>
            </a:pPr>
            <a:r>
              <a:rPr lang="en-US" dirty="0"/>
              <a:t>Convert it into:</a:t>
            </a:r>
          </a:p>
          <a:p>
            <a:pPr marL="0" indent="0">
              <a:buNone/>
            </a:pPr>
            <a:r>
              <a:rPr lang="en-US" dirty="0"/>
              <a:t>Integer</a:t>
            </a:r>
          </a:p>
          <a:p>
            <a:pPr marL="0" indent="0">
              <a:buNone/>
            </a:pPr>
            <a:r>
              <a:rPr lang="en-US" dirty="0"/>
              <a:t>Print result.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1A1E3-198F-28F1-CBA3-12213E07CC5E}"/>
              </a:ext>
            </a:extLst>
          </p:cNvPr>
          <p:cNvSpPr txBox="1"/>
          <p:nvPr/>
        </p:nvSpPr>
        <p:spPr>
          <a:xfrm>
            <a:off x="158692" y="2832189"/>
            <a:ext cx="60946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Autoboxing</a:t>
            </a:r>
          </a:p>
          <a:p>
            <a:pPr>
              <a:buNone/>
            </a:pPr>
            <a:r>
              <a:rPr lang="en-IN" b="1" dirty="0"/>
              <a:t>Definition</a:t>
            </a:r>
          </a:p>
          <a:p>
            <a:pPr>
              <a:buNone/>
            </a:pPr>
            <a:r>
              <a:rPr lang="en-IN" dirty="0"/>
              <a:t>Automatic conversion of primitive datatype into wrapper object.</a:t>
            </a:r>
          </a:p>
          <a:p>
            <a:pPr>
              <a:buNone/>
            </a:pPr>
            <a:r>
              <a:rPr lang="en-IN" b="1" dirty="0"/>
              <a:t>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int → Integer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double → Double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char → Character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 err="1">
                <a:latin typeface="Courier New" panose="02070309020205020404" pitchFamily="49" charset="0"/>
              </a:rPr>
              <a:t>boolean</a:t>
            </a:r>
            <a:r>
              <a:rPr lang="en-IN" dirty="0">
                <a:latin typeface="Courier New" panose="02070309020205020404" pitchFamily="49" charset="0"/>
              </a:rPr>
              <a:t> → Boolean</a:t>
            </a:r>
          </a:p>
        </p:txBody>
      </p:sp>
    </p:spTree>
    <p:extLst>
      <p:ext uri="{BB962C8B-B14F-4D97-AF65-F5344CB8AC3E}">
        <p14:creationId xmlns:p14="http://schemas.microsoft.com/office/powerpoint/2010/main" val="325081174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BE15-8FFF-CF28-CCD7-280A2DE64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694" y="332385"/>
            <a:ext cx="10515600" cy="614391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b="1" dirty="0"/>
              <a:t>Program Example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int number = 50;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Integer </a:t>
            </a:r>
            <a:r>
              <a:rPr lang="en-IN" dirty="0" err="1"/>
              <a:t>obj</a:t>
            </a:r>
            <a:r>
              <a:rPr lang="en-IN" dirty="0"/>
              <a:t> = number;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Line by Line Explanation</a:t>
            </a:r>
          </a:p>
          <a:p>
            <a:pPr marL="0" indent="0">
              <a:buNone/>
            </a:pPr>
            <a:r>
              <a:rPr lang="en-IN" dirty="0"/>
              <a:t>int number = 50;</a:t>
            </a:r>
          </a:p>
          <a:p>
            <a:pPr marL="0" indent="0">
              <a:buNone/>
            </a:pPr>
            <a:r>
              <a:rPr lang="en-IN" dirty="0"/>
              <a:t>Primitive variable.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Integer </a:t>
            </a:r>
            <a:r>
              <a:rPr lang="en-IN" dirty="0" err="1"/>
              <a:t>obj</a:t>
            </a:r>
            <a:r>
              <a:rPr lang="en-IN" dirty="0"/>
              <a:t> = number;</a:t>
            </a:r>
          </a:p>
          <a:p>
            <a:pPr marL="0" indent="0">
              <a:buNone/>
            </a:pPr>
            <a:r>
              <a:rPr lang="en-IN" dirty="0"/>
              <a:t>Java automatically converts primitive to object.</a:t>
            </a:r>
          </a:p>
          <a:p>
            <a:pPr marL="0" indent="0">
              <a:buNone/>
            </a:pPr>
            <a:r>
              <a:rPr lang="en-IN" dirty="0"/>
              <a:t>This is Autoboxing.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Prints value.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50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604012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A0AF-16F8-42DB-797E-B78A030D3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2" y="122660"/>
            <a:ext cx="10515600" cy="258698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Student Task 2</a:t>
            </a:r>
          </a:p>
          <a:p>
            <a:pPr marL="0" indent="0">
              <a:buNone/>
            </a:pPr>
            <a:r>
              <a:rPr lang="en-US" dirty="0"/>
              <a:t>Create:</a:t>
            </a:r>
          </a:p>
          <a:p>
            <a:pPr marL="0" indent="0">
              <a:buNone/>
            </a:pPr>
            <a:r>
              <a:rPr lang="en-US" dirty="0"/>
              <a:t>double salary = 45000.50;</a:t>
            </a:r>
          </a:p>
          <a:p>
            <a:pPr marL="0" indent="0">
              <a:buNone/>
            </a:pPr>
            <a:r>
              <a:rPr lang="en-US" dirty="0"/>
              <a:t>Convert using Autoboxing.</a:t>
            </a:r>
          </a:p>
          <a:p>
            <a:pPr marL="0" indent="0">
              <a:buNone/>
            </a:pPr>
            <a:r>
              <a:rPr lang="en-US" dirty="0"/>
              <a:t>Print result.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997832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1D70F-9F07-DCB1-991A-C6D309FC9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62" y="0"/>
            <a:ext cx="10515600" cy="79643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500" b="1" dirty="0"/>
              <a:t>Unboxing</a:t>
            </a:r>
          </a:p>
          <a:p>
            <a:pPr marL="0" indent="0">
              <a:buNone/>
            </a:pPr>
            <a:r>
              <a:rPr lang="en-IN" sz="1500" b="1" dirty="0"/>
              <a:t>Definition</a:t>
            </a:r>
          </a:p>
          <a:p>
            <a:pPr marL="0" indent="0">
              <a:buNone/>
            </a:pPr>
            <a:r>
              <a:rPr lang="en-IN" sz="1500" dirty="0"/>
              <a:t>Automatic conversion of Wrapper Object into Primitive Datatype.</a:t>
            </a:r>
            <a:br>
              <a:rPr lang="en-IN" sz="1500" dirty="0"/>
            </a:br>
            <a:endParaRPr lang="en-IN" sz="1500" dirty="0"/>
          </a:p>
          <a:p>
            <a:pPr marL="0" indent="0">
              <a:buNone/>
            </a:pPr>
            <a:r>
              <a:rPr lang="en-IN" sz="1500" b="1" dirty="0"/>
              <a:t>Program Example</a:t>
            </a:r>
          </a:p>
          <a:p>
            <a:pPr marL="0" indent="0">
              <a:buNone/>
            </a:pPr>
            <a:r>
              <a:rPr lang="en-IN" sz="1500" dirty="0"/>
              <a:t>public class Main {</a:t>
            </a:r>
            <a:br>
              <a:rPr lang="en-IN" sz="1500" dirty="0"/>
            </a:br>
            <a:br>
              <a:rPr lang="en-IN" sz="1500" dirty="0"/>
            </a:br>
            <a:r>
              <a:rPr lang="en-IN" sz="1500" dirty="0"/>
              <a:t>    public static void main(String[] </a:t>
            </a:r>
            <a:r>
              <a:rPr lang="en-IN" sz="1500" dirty="0" err="1"/>
              <a:t>args</a:t>
            </a:r>
            <a:r>
              <a:rPr lang="en-IN" sz="1500" dirty="0"/>
              <a:t>) {</a:t>
            </a:r>
            <a:br>
              <a:rPr lang="en-IN" sz="1500" dirty="0"/>
            </a:br>
            <a:br>
              <a:rPr lang="en-IN" sz="1500" dirty="0"/>
            </a:br>
            <a:r>
              <a:rPr lang="en-IN" sz="1500" dirty="0"/>
              <a:t>        Integer </a:t>
            </a:r>
            <a:r>
              <a:rPr lang="en-IN" sz="1500" dirty="0" err="1"/>
              <a:t>obj</a:t>
            </a:r>
            <a:r>
              <a:rPr lang="en-IN" sz="1500" dirty="0"/>
              <a:t> = 200;</a:t>
            </a:r>
            <a:br>
              <a:rPr lang="en-IN" sz="1500" dirty="0"/>
            </a:br>
            <a:br>
              <a:rPr lang="en-IN" sz="1500" dirty="0"/>
            </a:br>
            <a:r>
              <a:rPr lang="en-IN" sz="1500" dirty="0"/>
              <a:t>        int </a:t>
            </a:r>
            <a:r>
              <a:rPr lang="en-IN" sz="1500" dirty="0" err="1"/>
              <a:t>num</a:t>
            </a:r>
            <a:r>
              <a:rPr lang="en-IN" sz="1500" dirty="0"/>
              <a:t> = </a:t>
            </a:r>
            <a:r>
              <a:rPr lang="en-IN" sz="1500" dirty="0" err="1"/>
              <a:t>obj</a:t>
            </a:r>
            <a:r>
              <a:rPr lang="en-IN" sz="1500" dirty="0"/>
              <a:t>;</a:t>
            </a:r>
            <a:br>
              <a:rPr lang="en-IN" sz="1500" dirty="0"/>
            </a:br>
            <a:br>
              <a:rPr lang="en-IN" sz="1500" dirty="0"/>
            </a:br>
            <a:r>
              <a:rPr lang="en-IN" sz="1500" dirty="0"/>
              <a:t>        </a:t>
            </a:r>
            <a:r>
              <a:rPr lang="en-IN" sz="1500" dirty="0" err="1"/>
              <a:t>System.out.println</a:t>
            </a:r>
            <a:r>
              <a:rPr lang="en-IN" sz="1500" dirty="0"/>
              <a:t>(</a:t>
            </a:r>
            <a:r>
              <a:rPr lang="en-IN" sz="1500" dirty="0" err="1"/>
              <a:t>num</a:t>
            </a:r>
            <a:r>
              <a:rPr lang="en-IN" sz="1500" dirty="0"/>
              <a:t>);</a:t>
            </a:r>
            <a:br>
              <a:rPr lang="en-IN" sz="1500" dirty="0"/>
            </a:br>
            <a:r>
              <a:rPr lang="en-IN" sz="1500" dirty="0"/>
              <a:t>    }</a:t>
            </a:r>
            <a:br>
              <a:rPr lang="en-IN" sz="1500" dirty="0"/>
            </a:br>
            <a:r>
              <a:rPr lang="en-IN" sz="1500" dirty="0"/>
              <a:t>}</a:t>
            </a:r>
            <a:br>
              <a:rPr lang="en-IN" sz="1500" dirty="0"/>
            </a:br>
            <a:endParaRPr lang="en-IN" sz="1500" dirty="0"/>
          </a:p>
          <a:p>
            <a:pPr marL="0" indent="0">
              <a:buNone/>
            </a:pPr>
            <a:r>
              <a:rPr lang="en-IN" sz="1500" b="1" dirty="0"/>
              <a:t>Line by Line Explanation</a:t>
            </a:r>
          </a:p>
          <a:p>
            <a:pPr marL="0" indent="0">
              <a:buNone/>
            </a:pPr>
            <a:r>
              <a:rPr lang="en-IN" sz="1500" dirty="0"/>
              <a:t>Integer </a:t>
            </a:r>
            <a:r>
              <a:rPr lang="en-IN" sz="1500" dirty="0" err="1"/>
              <a:t>obj</a:t>
            </a:r>
            <a:r>
              <a:rPr lang="en-IN" sz="1500" dirty="0"/>
              <a:t> = 200;</a:t>
            </a:r>
          </a:p>
          <a:p>
            <a:pPr marL="0" indent="0">
              <a:buNone/>
            </a:pPr>
            <a:r>
              <a:rPr lang="en-IN" sz="1500" dirty="0"/>
              <a:t>Wrapper object.</a:t>
            </a:r>
            <a:br>
              <a:rPr lang="en-IN" sz="1500" dirty="0"/>
            </a:br>
            <a:endParaRPr lang="en-IN" sz="1500" dirty="0"/>
          </a:p>
          <a:p>
            <a:pPr marL="0" indent="0">
              <a:buNone/>
            </a:pPr>
            <a:r>
              <a:rPr lang="en-IN" sz="1500" dirty="0"/>
              <a:t>int </a:t>
            </a:r>
            <a:r>
              <a:rPr lang="en-IN" sz="1500" dirty="0" err="1"/>
              <a:t>num</a:t>
            </a:r>
            <a:r>
              <a:rPr lang="en-IN" sz="1500" dirty="0"/>
              <a:t> = </a:t>
            </a:r>
            <a:r>
              <a:rPr lang="en-IN" sz="1500" dirty="0" err="1"/>
              <a:t>obj</a:t>
            </a:r>
            <a:r>
              <a:rPr lang="en-IN" sz="1500" dirty="0"/>
              <a:t>;</a:t>
            </a:r>
          </a:p>
          <a:p>
            <a:pPr marL="0" indent="0">
              <a:buNone/>
            </a:pPr>
            <a:r>
              <a:rPr lang="en-IN" sz="1500" dirty="0"/>
              <a:t>Java converts object into primitive.</a:t>
            </a:r>
          </a:p>
          <a:p>
            <a:pPr marL="0" indent="0">
              <a:buNone/>
            </a:pPr>
            <a:r>
              <a:rPr lang="en-IN" sz="1500" dirty="0"/>
              <a:t>This is Unboxing.</a:t>
            </a:r>
          </a:p>
          <a:p>
            <a:pPr marL="0" indent="0">
              <a:buNone/>
            </a:pPr>
            <a:r>
              <a:rPr lang="en-IN" sz="1500" dirty="0" err="1"/>
              <a:t>System.out.println</a:t>
            </a:r>
            <a:r>
              <a:rPr lang="en-IN" sz="1500" dirty="0"/>
              <a:t>(</a:t>
            </a:r>
            <a:r>
              <a:rPr lang="en-IN" sz="1500" dirty="0" err="1"/>
              <a:t>num</a:t>
            </a:r>
            <a:r>
              <a:rPr lang="en-IN" sz="1500" dirty="0"/>
              <a:t>);</a:t>
            </a:r>
          </a:p>
          <a:p>
            <a:pPr marL="0" indent="0">
              <a:buNone/>
            </a:pPr>
            <a:r>
              <a:rPr lang="en-IN" sz="1500" dirty="0"/>
              <a:t>Prints primitive value.</a:t>
            </a:r>
          </a:p>
          <a:p>
            <a:pPr marL="0" indent="0">
              <a:buNone/>
            </a:pPr>
            <a:r>
              <a:rPr lang="en-IN" sz="1500" b="1" dirty="0"/>
              <a:t>Output</a:t>
            </a:r>
          </a:p>
          <a:p>
            <a:pPr marL="0" indent="0">
              <a:buNone/>
            </a:pPr>
            <a:r>
              <a:rPr lang="en-IN" sz="1500" dirty="0"/>
              <a:t>200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1C56E-743F-6658-B82D-E56AE1B53A81}"/>
              </a:ext>
            </a:extLst>
          </p:cNvPr>
          <p:cNvSpPr txBox="1"/>
          <p:nvPr/>
        </p:nvSpPr>
        <p:spPr>
          <a:xfrm>
            <a:off x="4825767" y="2474238"/>
            <a:ext cx="60946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Student Task 3</a:t>
            </a:r>
          </a:p>
          <a:p>
            <a:r>
              <a:rPr lang="en-IN" dirty="0"/>
              <a:t>Create:</a:t>
            </a:r>
          </a:p>
          <a:p>
            <a:r>
              <a:rPr lang="en-IN" dirty="0"/>
              <a:t>Double amount = 1500.75;</a:t>
            </a:r>
          </a:p>
          <a:p>
            <a:r>
              <a:rPr lang="en-IN" dirty="0"/>
              <a:t>Convert into:</a:t>
            </a:r>
          </a:p>
          <a:p>
            <a:r>
              <a:rPr lang="en-IN" dirty="0"/>
              <a:t>double</a:t>
            </a:r>
          </a:p>
          <a:p>
            <a:r>
              <a:rPr lang="en-IN" dirty="0"/>
              <a:t>Print result.</a:t>
            </a:r>
          </a:p>
        </p:txBody>
      </p:sp>
    </p:spTree>
    <p:extLst>
      <p:ext uri="{BB962C8B-B14F-4D97-AF65-F5344CB8AC3E}">
        <p14:creationId xmlns:p14="http://schemas.microsoft.com/office/powerpoint/2010/main" val="284741792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1C271-0CB3-8F2B-58DF-D95E58D0B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750" y="198161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Using Integer Class</a:t>
            </a:r>
          </a:p>
          <a:p>
            <a:pPr marL="0" indent="0">
              <a:buNone/>
            </a:pPr>
            <a:r>
              <a:rPr lang="en-IN" b="1" dirty="0"/>
              <a:t>Program Example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Integer </a:t>
            </a:r>
            <a:r>
              <a:rPr lang="en-IN" dirty="0" err="1"/>
              <a:t>num</a:t>
            </a:r>
            <a:r>
              <a:rPr lang="en-IN" dirty="0"/>
              <a:t> = </a:t>
            </a:r>
            <a:r>
              <a:rPr lang="en-IN" dirty="0" err="1"/>
              <a:t>Integer.valueOf</a:t>
            </a:r>
            <a:r>
              <a:rPr lang="en-IN" dirty="0"/>
              <a:t>(100);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num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Integer.MAX_VALUE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Integer.MIN_VALUE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100</a:t>
            </a:r>
            <a:br>
              <a:rPr lang="en-IN" dirty="0"/>
            </a:br>
            <a:r>
              <a:rPr lang="en-IN" dirty="0"/>
              <a:t>2147483647</a:t>
            </a:r>
            <a:br>
              <a:rPr lang="en-IN" dirty="0"/>
            </a:br>
            <a:r>
              <a:rPr lang="en-IN" dirty="0"/>
              <a:t>-2147483648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E1194-BCA8-B1A7-61E4-CEE4A8D0101E}"/>
              </a:ext>
            </a:extLst>
          </p:cNvPr>
          <p:cNvSpPr txBox="1"/>
          <p:nvPr/>
        </p:nvSpPr>
        <p:spPr>
          <a:xfrm>
            <a:off x="312490" y="4549499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Student Task 4</a:t>
            </a:r>
          </a:p>
          <a:p>
            <a:pPr>
              <a:buNone/>
            </a:pPr>
            <a:r>
              <a:rPr lang="en-US" dirty="0"/>
              <a:t>Use: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Integer.MAX_VALUE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</a:rPr>
              <a:t>Integer.MIN_VALUE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/>
              <a:t>Print both values.</a:t>
            </a:r>
          </a:p>
        </p:txBody>
      </p:sp>
    </p:spTree>
    <p:extLst>
      <p:ext uri="{BB962C8B-B14F-4D97-AF65-F5344CB8AC3E}">
        <p14:creationId xmlns:p14="http://schemas.microsoft.com/office/powerpoint/2010/main" val="2530978815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AE7B6-ABB9-AF9E-5F72-523B393AF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80" y="89104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Using Double Class</a:t>
            </a:r>
          </a:p>
          <a:p>
            <a:pPr marL="0" indent="0">
              <a:buNone/>
            </a:pPr>
            <a:r>
              <a:rPr lang="en-IN" b="1" dirty="0"/>
              <a:t>Program Example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Double price = </a:t>
            </a:r>
            <a:r>
              <a:rPr lang="en-IN" dirty="0" err="1"/>
              <a:t>Double.valueOf</a:t>
            </a:r>
            <a:r>
              <a:rPr lang="en-IN" dirty="0"/>
              <a:t>(999.99);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(price);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Double.MAX_VALUE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Double.MIN_VALUE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999.99</a:t>
            </a:r>
            <a:br>
              <a:rPr lang="en-IN" dirty="0"/>
            </a:br>
            <a:r>
              <a:rPr lang="en-IN" dirty="0"/>
              <a:t>1.7976931348623157E308</a:t>
            </a:r>
            <a:br>
              <a:rPr lang="en-IN" dirty="0"/>
            </a:br>
            <a:r>
              <a:rPr lang="en-IN" dirty="0"/>
              <a:t>4.9E-324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B2ABC-7D3F-60E1-59EB-8E1FC633022A}"/>
              </a:ext>
            </a:extLst>
          </p:cNvPr>
          <p:cNvSpPr txBox="1"/>
          <p:nvPr/>
        </p:nvSpPr>
        <p:spPr>
          <a:xfrm>
            <a:off x="278934" y="4684900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Student Task 5</a:t>
            </a:r>
          </a:p>
          <a:p>
            <a:pPr>
              <a:buNone/>
            </a:pPr>
            <a:r>
              <a:rPr lang="en-US" dirty="0"/>
              <a:t>Create: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Double marks = 98.5;</a:t>
            </a:r>
          </a:p>
          <a:p>
            <a:pPr>
              <a:buNone/>
            </a:pPr>
            <a:r>
              <a:rPr lang="en-US" dirty="0"/>
              <a:t>Print value.</a:t>
            </a:r>
          </a:p>
        </p:txBody>
      </p:sp>
    </p:spTree>
    <p:extLst>
      <p:ext uri="{BB962C8B-B14F-4D97-AF65-F5344CB8AC3E}">
        <p14:creationId xmlns:p14="http://schemas.microsoft.com/office/powerpoint/2010/main" val="3853581393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12195-5ED6-36A9-E0A3-E4FB89AE1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60" y="114271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/>
              <a:t>Using Boolean Class</a:t>
            </a:r>
          </a:p>
          <a:p>
            <a:pPr marL="0" indent="0">
              <a:buNone/>
            </a:pPr>
            <a:r>
              <a:rPr lang="en-IN" b="1" dirty="0"/>
              <a:t>Program Example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Boolean status = </a:t>
            </a:r>
            <a:r>
              <a:rPr lang="en-IN" dirty="0" err="1"/>
              <a:t>Boolean.valueOf</a:t>
            </a:r>
            <a:r>
              <a:rPr lang="en-IN" dirty="0"/>
              <a:t>(true);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(status);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true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Student Task 6</a:t>
            </a:r>
          </a:p>
          <a:p>
            <a:pPr marL="0" indent="0">
              <a:buNone/>
            </a:pPr>
            <a:r>
              <a:rPr lang="en-IN" dirty="0"/>
              <a:t>Create:</a:t>
            </a:r>
          </a:p>
          <a:p>
            <a:pPr marL="0" indent="0">
              <a:buNone/>
            </a:pPr>
            <a:r>
              <a:rPr lang="en-IN" dirty="0"/>
              <a:t>Boolean </a:t>
            </a:r>
            <a:r>
              <a:rPr lang="en-IN" dirty="0" err="1"/>
              <a:t>isPresent</a:t>
            </a:r>
            <a:r>
              <a:rPr lang="en-IN" dirty="0"/>
              <a:t> = true;</a:t>
            </a:r>
          </a:p>
          <a:p>
            <a:pPr marL="0" indent="0">
              <a:buNone/>
            </a:pPr>
            <a:r>
              <a:rPr lang="en-IN" dirty="0"/>
              <a:t>Print value.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6818925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D3B09-E332-611F-9994-AA3803DC7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14" y="214939"/>
            <a:ext cx="10515600" cy="382016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Using Character Class</a:t>
            </a:r>
          </a:p>
          <a:p>
            <a:pPr marL="0" indent="0">
              <a:buNone/>
            </a:pPr>
            <a:r>
              <a:rPr lang="en-IN" b="1" dirty="0"/>
              <a:t>Program Example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Character grade = </a:t>
            </a:r>
            <a:r>
              <a:rPr lang="en-IN" dirty="0" err="1"/>
              <a:t>Character.valueOf</a:t>
            </a:r>
            <a:r>
              <a:rPr lang="en-IN" dirty="0"/>
              <a:t>('A');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(grade);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A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FA2B8-14A1-7FDD-9949-BB64D08C277A}"/>
              </a:ext>
            </a:extLst>
          </p:cNvPr>
          <p:cNvSpPr txBox="1"/>
          <p:nvPr/>
        </p:nvSpPr>
        <p:spPr>
          <a:xfrm>
            <a:off x="312490" y="4424841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Student Task 7</a:t>
            </a:r>
          </a:p>
          <a:p>
            <a:pPr>
              <a:buNone/>
            </a:pPr>
            <a:r>
              <a:rPr lang="en-US" dirty="0"/>
              <a:t>Create: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Character section = 'B';</a:t>
            </a:r>
          </a:p>
          <a:p>
            <a:pPr>
              <a:buNone/>
            </a:pPr>
            <a:r>
              <a:rPr lang="en-US" dirty="0"/>
              <a:t>Print value.</a:t>
            </a:r>
          </a:p>
        </p:txBody>
      </p:sp>
    </p:spTree>
    <p:extLst>
      <p:ext uri="{BB962C8B-B14F-4D97-AF65-F5344CB8AC3E}">
        <p14:creationId xmlns:p14="http://schemas.microsoft.com/office/powerpoint/2010/main" val="676239570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5406210-0CAE-A392-9CF8-75FEBB0D47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026525"/>
              </p:ext>
            </p:extLst>
          </p:nvPr>
        </p:nvGraphicFramePr>
        <p:xfrm>
          <a:off x="250971" y="652409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4521794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50357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Wrapper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18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031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30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262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344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728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797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840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916014"/>
                  </a:ext>
                </a:extLst>
              </a:tr>
            </a:tbl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3D949381-E33B-CF91-70E5-99E3F98CC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Wrapper Classes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526443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297AE9-7B90-4AE8-0DC3-5F309B817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722143"/>
              </p:ext>
            </p:extLst>
          </p:nvPr>
        </p:nvGraphicFramePr>
        <p:xfrm>
          <a:off x="838200" y="1467818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529052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63904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Autoboxing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Unboxing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049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Primitive →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 → Primitive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530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 conversion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 conversion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88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 → 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Integer → 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234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double → 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Double → 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1692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819FF6D-0885-663F-7612-0C82285A9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2783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 Between Autoboxing and Unboxing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293766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E7E04-C8C0-123A-0B23-854986F33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80" y="807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JAVA MULTITHREADING</a:t>
            </a:r>
          </a:p>
          <a:p>
            <a:pPr marL="0" indent="0">
              <a:buNone/>
            </a:pPr>
            <a:r>
              <a:rPr lang="en-IN" b="1" dirty="0"/>
              <a:t>Creating Threads</a:t>
            </a:r>
          </a:p>
          <a:p>
            <a:pPr marL="0" indent="0">
              <a:buNone/>
            </a:pPr>
            <a:r>
              <a:rPr lang="en-IN" dirty="0"/>
              <a:t>A thread is a lightweight process.</a:t>
            </a:r>
          </a:p>
          <a:p>
            <a:pPr marL="0" indent="0">
              <a:buNone/>
            </a:pPr>
            <a:r>
              <a:rPr lang="en-IN" dirty="0"/>
              <a:t>Java provides 2 ways to create threads:</a:t>
            </a:r>
          </a:p>
          <a:p>
            <a:pPr marL="0" indent="0">
              <a:buNone/>
            </a:pPr>
            <a:r>
              <a:rPr lang="en-IN" dirty="0"/>
              <a:t>Extending Thread Class </a:t>
            </a:r>
          </a:p>
          <a:p>
            <a:pPr marL="0" indent="0">
              <a:buNone/>
            </a:pPr>
            <a:r>
              <a:rPr lang="en-IN" dirty="0"/>
              <a:t>Implementing Runnable Interface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495986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12FFE-546A-26D7-551C-AF01F3B08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19" y="156216"/>
            <a:ext cx="10515600" cy="646269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b="1" dirty="0"/>
              <a:t>Method 1: Using Thread Class</a:t>
            </a:r>
          </a:p>
          <a:p>
            <a:pPr marL="0" indent="0">
              <a:buNone/>
            </a:pPr>
            <a:r>
              <a:rPr lang="en-IN" b="1" dirty="0"/>
              <a:t>Program</a:t>
            </a:r>
          </a:p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MyThread</a:t>
            </a:r>
            <a:r>
              <a:rPr lang="en-IN" dirty="0"/>
              <a:t> extends Thread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void run()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("Thread is Running");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MyThread</a:t>
            </a:r>
            <a:r>
              <a:rPr lang="en-IN" dirty="0"/>
              <a:t> t1 = new </a:t>
            </a:r>
            <a:r>
              <a:rPr lang="en-IN" dirty="0" err="1"/>
              <a:t>MyThread</a:t>
            </a:r>
            <a:r>
              <a:rPr lang="en-IN" dirty="0"/>
              <a:t>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t1.start();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Line by Line</a:t>
            </a:r>
          </a:p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MyThread</a:t>
            </a:r>
            <a:r>
              <a:rPr lang="en-IN" dirty="0"/>
              <a:t> extends Thread</a:t>
            </a:r>
          </a:p>
          <a:p>
            <a:pPr marL="0" indent="0">
              <a:buNone/>
            </a:pPr>
            <a:r>
              <a:rPr lang="en-IN" dirty="0"/>
              <a:t>Creates a thread class.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public void run()</a:t>
            </a:r>
          </a:p>
          <a:p>
            <a:pPr marL="0" indent="0">
              <a:buNone/>
            </a:pPr>
            <a:r>
              <a:rPr lang="en-IN" dirty="0"/>
              <a:t>Contains thread task.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 err="1"/>
              <a:t>MyThread</a:t>
            </a:r>
            <a:r>
              <a:rPr lang="en-IN" dirty="0"/>
              <a:t> t1 = new </a:t>
            </a:r>
            <a:r>
              <a:rPr lang="en-IN" dirty="0" err="1"/>
              <a:t>MyThread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Creates thread object.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t1.start();</a:t>
            </a:r>
          </a:p>
          <a:p>
            <a:pPr marL="0" indent="0">
              <a:buNone/>
            </a:pPr>
            <a:r>
              <a:rPr lang="en-IN" dirty="0"/>
              <a:t>Starts thread.</a:t>
            </a:r>
          </a:p>
          <a:p>
            <a:pPr marL="0" indent="0">
              <a:buNone/>
            </a:pPr>
            <a:r>
              <a:rPr lang="en-IN" dirty="0"/>
              <a:t>Automatically calls run().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pPr marL="0" indent="0">
              <a:buNone/>
            </a:pPr>
            <a:r>
              <a:rPr lang="en-IN" dirty="0"/>
              <a:t>Thread is Running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738202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2FB8-4E64-685F-6617-BAD322485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248" y="80715"/>
            <a:ext cx="10515600" cy="664725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b="1" dirty="0"/>
              <a:t>Method 2: Using Runnable Interface</a:t>
            </a:r>
          </a:p>
          <a:p>
            <a:pPr marL="0" indent="0">
              <a:buNone/>
            </a:pPr>
            <a:r>
              <a:rPr lang="en-IN" b="1" dirty="0"/>
              <a:t>Program</a:t>
            </a:r>
          </a:p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MyThread</a:t>
            </a:r>
            <a:r>
              <a:rPr lang="en-IN" dirty="0"/>
              <a:t> implements Runnable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void run()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("Runnable Thread");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MyThread</a:t>
            </a:r>
            <a:r>
              <a:rPr lang="en-IN" dirty="0"/>
              <a:t> </a:t>
            </a:r>
            <a:r>
              <a:rPr lang="en-IN" dirty="0" err="1"/>
              <a:t>obj</a:t>
            </a:r>
            <a:r>
              <a:rPr lang="en-IN" dirty="0"/>
              <a:t> = new </a:t>
            </a:r>
            <a:r>
              <a:rPr lang="en-IN" dirty="0" err="1"/>
              <a:t>MyThread</a:t>
            </a:r>
            <a:r>
              <a:rPr lang="en-IN" dirty="0"/>
              <a:t>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Thread t1 = new Thread(</a:t>
            </a:r>
            <a:r>
              <a:rPr lang="en-IN" dirty="0" err="1"/>
              <a:t>obj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t1.start();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Line by Line</a:t>
            </a:r>
          </a:p>
          <a:p>
            <a:pPr marL="0" indent="0">
              <a:buNone/>
            </a:pPr>
            <a:r>
              <a:rPr lang="en-IN" dirty="0"/>
              <a:t>implements Runnable</a:t>
            </a:r>
          </a:p>
          <a:p>
            <a:pPr marL="0" indent="0">
              <a:buNone/>
            </a:pPr>
            <a:r>
              <a:rPr lang="en-IN" dirty="0"/>
              <a:t>Implements Runnable interface.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Thread t1 = new Thread(</a:t>
            </a:r>
            <a:r>
              <a:rPr lang="en-IN" dirty="0" err="1"/>
              <a:t>obj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Creates thread using Runnable object.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t1.start();</a:t>
            </a:r>
          </a:p>
          <a:p>
            <a:pPr marL="0" indent="0">
              <a:buNone/>
            </a:pPr>
            <a:r>
              <a:rPr lang="en-IN" dirty="0"/>
              <a:t>Starts thread.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Student Task 1</a:t>
            </a:r>
          </a:p>
          <a:p>
            <a:pPr marL="0" indent="0">
              <a:buNone/>
            </a:pPr>
            <a:r>
              <a:rPr lang="en-IN" dirty="0"/>
              <a:t>Create a thread that prints:</a:t>
            </a:r>
          </a:p>
          <a:p>
            <a:pPr marL="0" indent="0">
              <a:buNone/>
            </a:pPr>
            <a:r>
              <a:rPr lang="en-IN" dirty="0"/>
              <a:t>Welcome to Java Thread</a:t>
            </a:r>
          </a:p>
          <a:p>
            <a:pPr marL="0" indent="0">
              <a:buNone/>
            </a:pPr>
            <a:r>
              <a:rPr lang="en-IN" dirty="0"/>
              <a:t>using:</a:t>
            </a:r>
          </a:p>
          <a:p>
            <a:pPr marL="0" indent="0">
              <a:buNone/>
            </a:pPr>
            <a:r>
              <a:rPr lang="en-IN" dirty="0"/>
              <a:t>Thread Class </a:t>
            </a:r>
          </a:p>
          <a:p>
            <a:pPr marL="0" indent="0">
              <a:buNone/>
            </a:pPr>
            <a:r>
              <a:rPr lang="en-IN" dirty="0"/>
              <a:t>Runnable Interface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272237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CE81E-D98E-C080-F4B7-A1EE46FA1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692" y="0"/>
            <a:ext cx="4908258" cy="572129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b="1" dirty="0"/>
              <a:t>Thread Lifecycle</a:t>
            </a:r>
          </a:p>
          <a:p>
            <a:pPr marL="0" indent="0">
              <a:buNone/>
            </a:pPr>
            <a:r>
              <a:rPr lang="en-IN" dirty="0"/>
              <a:t>A thread passes through different states.</a:t>
            </a:r>
          </a:p>
          <a:p>
            <a:pPr marL="0" indent="0">
              <a:buNone/>
            </a:pPr>
            <a:r>
              <a:rPr lang="en-IN" dirty="0"/>
              <a:t>NEW</a:t>
            </a:r>
            <a:br>
              <a:rPr lang="en-IN" dirty="0"/>
            </a:br>
            <a:r>
              <a:rPr lang="en-IN" dirty="0"/>
              <a:t> ↓</a:t>
            </a:r>
            <a:br>
              <a:rPr lang="en-IN" dirty="0"/>
            </a:br>
            <a:r>
              <a:rPr lang="en-IN" dirty="0"/>
              <a:t>RUNNABLE</a:t>
            </a:r>
            <a:br>
              <a:rPr lang="en-IN" dirty="0"/>
            </a:br>
            <a:r>
              <a:rPr lang="en-IN" dirty="0"/>
              <a:t> ↓</a:t>
            </a:r>
            <a:br>
              <a:rPr lang="en-IN" dirty="0"/>
            </a:br>
            <a:r>
              <a:rPr lang="en-IN" dirty="0"/>
              <a:t>RUNNING</a:t>
            </a:r>
            <a:br>
              <a:rPr lang="en-IN" dirty="0"/>
            </a:br>
            <a:r>
              <a:rPr lang="en-IN" dirty="0"/>
              <a:t> ↓</a:t>
            </a:r>
            <a:br>
              <a:rPr lang="en-IN" dirty="0"/>
            </a:br>
            <a:r>
              <a:rPr lang="en-IN" dirty="0"/>
              <a:t>WAITING / BLOCKED</a:t>
            </a:r>
            <a:br>
              <a:rPr lang="en-IN" dirty="0"/>
            </a:br>
            <a:r>
              <a:rPr lang="en-IN" dirty="0"/>
              <a:t> ↓</a:t>
            </a:r>
            <a:br>
              <a:rPr lang="en-IN" dirty="0"/>
            </a:br>
            <a:r>
              <a:rPr lang="en-IN" dirty="0"/>
              <a:t>TERMINATED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States</a:t>
            </a:r>
          </a:p>
          <a:p>
            <a:pPr marL="0" indent="0">
              <a:buNone/>
            </a:pPr>
            <a:r>
              <a:rPr lang="en-IN" b="1" dirty="0"/>
              <a:t>NEW</a:t>
            </a:r>
          </a:p>
          <a:p>
            <a:pPr marL="0" indent="0">
              <a:buNone/>
            </a:pPr>
            <a:r>
              <a:rPr lang="en-IN" dirty="0"/>
              <a:t>Thread created but not started.</a:t>
            </a:r>
          </a:p>
          <a:p>
            <a:pPr marL="0" indent="0">
              <a:buNone/>
            </a:pPr>
            <a:r>
              <a:rPr lang="en-IN" dirty="0"/>
              <a:t>Thread t = new Thread();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RUNNABLE</a:t>
            </a:r>
          </a:p>
          <a:p>
            <a:pPr marL="0" indent="0">
              <a:buNone/>
            </a:pPr>
            <a:r>
              <a:rPr lang="en-IN" dirty="0"/>
              <a:t>After calling:</a:t>
            </a:r>
          </a:p>
          <a:p>
            <a:pPr marL="0" indent="0">
              <a:buNone/>
            </a:pPr>
            <a:r>
              <a:rPr lang="en-IN" dirty="0" err="1"/>
              <a:t>t.start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Thread ready to run.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RUNNING</a:t>
            </a:r>
          </a:p>
          <a:p>
            <a:pPr marL="0" indent="0">
              <a:buNone/>
            </a:pPr>
            <a:r>
              <a:rPr lang="en-IN" dirty="0"/>
              <a:t>Thread is executing.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A1ABA-419A-E3E9-DE42-DEEF89CBEC9E}"/>
              </a:ext>
            </a:extLst>
          </p:cNvPr>
          <p:cNvSpPr txBox="1"/>
          <p:nvPr/>
        </p:nvSpPr>
        <p:spPr>
          <a:xfrm>
            <a:off x="6302229" y="173060"/>
            <a:ext cx="609460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WAITING</a:t>
            </a:r>
          </a:p>
          <a:p>
            <a:pPr>
              <a:buNone/>
            </a:pPr>
            <a:r>
              <a:rPr lang="en-IN" sz="1200" dirty="0"/>
              <a:t>Thread waits for another thread.</a:t>
            </a:r>
          </a:p>
          <a:p>
            <a:pPr>
              <a:buNone/>
            </a:pPr>
            <a:r>
              <a:rPr lang="en-IN" sz="1200" dirty="0"/>
              <a:t>Example:</a:t>
            </a:r>
          </a:p>
          <a:p>
            <a:pPr rtl="0">
              <a:buNone/>
            </a:pPr>
            <a:r>
              <a:rPr lang="en-IN" sz="1200" dirty="0">
                <a:latin typeface="Courier New" panose="02070309020205020404" pitchFamily="49" charset="0"/>
              </a:rPr>
              <a:t>wait()</a:t>
            </a: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join()</a:t>
            </a:r>
            <a:br>
              <a:rPr lang="en-IN" sz="1200" dirty="0"/>
            </a:br>
            <a:endParaRPr lang="en-IN" sz="1200" dirty="0"/>
          </a:p>
          <a:p>
            <a:pPr>
              <a:buNone/>
            </a:pPr>
            <a:r>
              <a:rPr lang="en-IN" sz="1200" b="1" dirty="0"/>
              <a:t>TERMINATED</a:t>
            </a:r>
          </a:p>
          <a:p>
            <a:pPr>
              <a:buNone/>
            </a:pPr>
            <a:r>
              <a:rPr lang="en-IN" sz="1200" dirty="0"/>
              <a:t>Thread completed execution.</a:t>
            </a:r>
          </a:p>
          <a:p>
            <a:pPr>
              <a:buNone/>
            </a:pPr>
            <a:r>
              <a:rPr lang="en-IN" sz="1200" b="1" dirty="0"/>
              <a:t>Example</a:t>
            </a:r>
          </a:p>
          <a:p>
            <a:pPr rtl="0">
              <a:buNone/>
            </a:pPr>
            <a:r>
              <a:rPr lang="en-IN" sz="1200" dirty="0">
                <a:latin typeface="Courier New" panose="02070309020205020404" pitchFamily="49" charset="0"/>
              </a:rPr>
              <a:t>class </a:t>
            </a:r>
            <a:r>
              <a:rPr lang="en-IN" sz="1200" dirty="0" err="1">
                <a:latin typeface="Courier New" panose="02070309020205020404" pitchFamily="49" charset="0"/>
              </a:rPr>
              <a:t>MyThread</a:t>
            </a:r>
            <a:r>
              <a:rPr lang="en-IN" sz="1200" dirty="0">
                <a:latin typeface="Courier New" panose="02070309020205020404" pitchFamily="49" charset="0"/>
              </a:rPr>
              <a:t> extends Thread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public void run()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</a:t>
            </a:r>
            <a:r>
              <a:rPr lang="en-IN" sz="1200" dirty="0" err="1">
                <a:latin typeface="Courier New" panose="02070309020205020404" pitchFamily="49" charset="0"/>
              </a:rPr>
              <a:t>System.out.println</a:t>
            </a:r>
            <a:r>
              <a:rPr lang="en-IN" sz="1200" dirty="0">
                <a:latin typeface="Courier New" panose="02070309020205020404" pitchFamily="49" charset="0"/>
              </a:rPr>
              <a:t>("Running...");</a:t>
            </a: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}</a:t>
            </a: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}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public class Main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public static void main(String[] </a:t>
            </a:r>
            <a:r>
              <a:rPr lang="en-IN" sz="1200" dirty="0" err="1">
                <a:latin typeface="Courier New" panose="02070309020205020404" pitchFamily="49" charset="0"/>
              </a:rPr>
              <a:t>args</a:t>
            </a:r>
            <a:r>
              <a:rPr lang="en-IN" sz="1200" dirty="0">
                <a:latin typeface="Courier New" panose="02070309020205020404" pitchFamily="49" charset="0"/>
              </a:rPr>
              <a:t>)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</a:t>
            </a:r>
            <a:r>
              <a:rPr lang="en-IN" sz="1200" dirty="0" err="1">
                <a:latin typeface="Courier New" panose="02070309020205020404" pitchFamily="49" charset="0"/>
              </a:rPr>
              <a:t>MyThread</a:t>
            </a:r>
            <a:r>
              <a:rPr lang="en-IN" sz="1200" dirty="0">
                <a:latin typeface="Courier New" panose="02070309020205020404" pitchFamily="49" charset="0"/>
              </a:rPr>
              <a:t> t = new </a:t>
            </a:r>
            <a:r>
              <a:rPr lang="en-IN" sz="1200" dirty="0" err="1">
                <a:latin typeface="Courier New" panose="02070309020205020404" pitchFamily="49" charset="0"/>
              </a:rPr>
              <a:t>MyThread</a:t>
            </a:r>
            <a:r>
              <a:rPr lang="en-IN" sz="1200" dirty="0">
                <a:latin typeface="Courier New" panose="02070309020205020404" pitchFamily="49" charset="0"/>
              </a:rPr>
              <a:t>();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</a:t>
            </a:r>
            <a:r>
              <a:rPr lang="en-IN" sz="1200" dirty="0" err="1">
                <a:latin typeface="Courier New" panose="02070309020205020404" pitchFamily="49" charset="0"/>
              </a:rPr>
              <a:t>System.out.println</a:t>
            </a:r>
            <a:r>
              <a:rPr lang="en-IN" sz="1200" dirty="0">
                <a:latin typeface="Courier New" panose="02070309020205020404" pitchFamily="49" charset="0"/>
              </a:rPr>
              <a:t>(</a:t>
            </a:r>
            <a:r>
              <a:rPr lang="en-IN" sz="1200" dirty="0" err="1">
                <a:latin typeface="Courier New" panose="02070309020205020404" pitchFamily="49" charset="0"/>
              </a:rPr>
              <a:t>t.getState</a:t>
            </a:r>
            <a:r>
              <a:rPr lang="en-IN" sz="1200" dirty="0">
                <a:latin typeface="Courier New" panose="02070309020205020404" pitchFamily="49" charset="0"/>
              </a:rPr>
              <a:t>());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</a:t>
            </a:r>
            <a:r>
              <a:rPr lang="en-IN" sz="1200" dirty="0" err="1">
                <a:latin typeface="Courier New" panose="02070309020205020404" pitchFamily="49" charset="0"/>
              </a:rPr>
              <a:t>t.start</a:t>
            </a:r>
            <a:r>
              <a:rPr lang="en-IN" sz="1200" dirty="0">
                <a:latin typeface="Courier New" panose="02070309020205020404" pitchFamily="49" charset="0"/>
              </a:rPr>
              <a:t>();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</a:t>
            </a:r>
            <a:r>
              <a:rPr lang="en-IN" sz="1200" dirty="0" err="1">
                <a:latin typeface="Courier New" panose="02070309020205020404" pitchFamily="49" charset="0"/>
              </a:rPr>
              <a:t>System.out.println</a:t>
            </a:r>
            <a:r>
              <a:rPr lang="en-IN" sz="1200" dirty="0">
                <a:latin typeface="Courier New" panose="02070309020205020404" pitchFamily="49" charset="0"/>
              </a:rPr>
              <a:t>(</a:t>
            </a:r>
            <a:r>
              <a:rPr lang="en-IN" sz="1200" dirty="0" err="1">
                <a:latin typeface="Courier New" panose="02070309020205020404" pitchFamily="49" charset="0"/>
              </a:rPr>
              <a:t>t.getState</a:t>
            </a:r>
            <a:r>
              <a:rPr lang="en-IN" sz="1200" dirty="0">
                <a:latin typeface="Courier New" panose="02070309020205020404" pitchFamily="49" charset="0"/>
              </a:rPr>
              <a:t>());</a:t>
            </a: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}</a:t>
            </a: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br>
              <a:rPr lang="en-IN" sz="1200" dirty="0"/>
            </a:br>
            <a:endParaRPr lang="en-IN" sz="1200" dirty="0"/>
          </a:p>
          <a:p>
            <a:pPr>
              <a:buNone/>
            </a:pPr>
            <a:r>
              <a:rPr lang="en-IN" sz="1200" b="1" dirty="0"/>
              <a:t>Student Task 2</a:t>
            </a:r>
          </a:p>
          <a:p>
            <a:pPr>
              <a:buNone/>
            </a:pPr>
            <a:r>
              <a:rPr lang="en-IN" sz="1200" dirty="0"/>
              <a:t>Create thread and print its state before and after start().</a:t>
            </a:r>
          </a:p>
        </p:txBody>
      </p:sp>
    </p:spTree>
    <p:extLst>
      <p:ext uri="{BB962C8B-B14F-4D97-AF65-F5344CB8AC3E}">
        <p14:creationId xmlns:p14="http://schemas.microsoft.com/office/powerpoint/2010/main" val="1064671334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7F264-156F-248A-00CB-3DB60FE25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582" y="0"/>
            <a:ext cx="482436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100" b="1" dirty="0"/>
              <a:t>3. Synchronization</a:t>
            </a:r>
          </a:p>
          <a:p>
            <a:pPr marL="0" indent="0">
              <a:buNone/>
            </a:pPr>
            <a:r>
              <a:rPr lang="en-IN" sz="1100" b="1" dirty="0"/>
              <a:t>Problem</a:t>
            </a:r>
          </a:p>
          <a:p>
            <a:pPr marL="0" indent="0">
              <a:buNone/>
            </a:pPr>
            <a:r>
              <a:rPr lang="en-IN" sz="1100" dirty="0"/>
              <a:t>Two threads accessing same resource simultaneously can cause inconsistency.</a:t>
            </a:r>
          </a:p>
          <a:p>
            <a:pPr marL="0" indent="0">
              <a:buNone/>
            </a:pPr>
            <a:r>
              <a:rPr lang="en-IN" sz="1100" dirty="0"/>
              <a:t>Synchronization prevents this.</a:t>
            </a:r>
          </a:p>
          <a:p>
            <a:pPr marL="0" indent="0">
              <a:buNone/>
            </a:pPr>
            <a:r>
              <a:rPr lang="en-IN" sz="1100" b="1" dirty="0"/>
              <a:t>Program</a:t>
            </a:r>
          </a:p>
          <a:p>
            <a:pPr marL="0" indent="0">
              <a:buNone/>
            </a:pPr>
            <a:r>
              <a:rPr lang="en-IN" sz="1100" dirty="0"/>
              <a:t>class Counter {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int count = 0;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synchronized void increment() {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    count++;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}</a:t>
            </a:r>
            <a:br>
              <a:rPr lang="en-IN" sz="1100" dirty="0"/>
            </a:br>
            <a:r>
              <a:rPr lang="en-IN" sz="1100" dirty="0"/>
              <a:t>}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public class Main {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public static void main(String[] </a:t>
            </a:r>
            <a:r>
              <a:rPr lang="en-IN" sz="1100" dirty="0" err="1"/>
              <a:t>args</a:t>
            </a:r>
            <a:r>
              <a:rPr lang="en-IN" sz="1100" dirty="0"/>
              <a:t>) {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    Counter c = new Counter();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    </a:t>
            </a:r>
            <a:r>
              <a:rPr lang="en-IN" sz="1100" dirty="0" err="1"/>
              <a:t>c.increment</a:t>
            </a:r>
            <a:r>
              <a:rPr lang="en-IN" sz="1100" dirty="0"/>
              <a:t>();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        </a:t>
            </a:r>
            <a:r>
              <a:rPr lang="en-IN" sz="1100" dirty="0" err="1"/>
              <a:t>System.out.println</a:t>
            </a:r>
            <a:r>
              <a:rPr lang="en-IN" sz="1100" dirty="0"/>
              <a:t>(</a:t>
            </a:r>
            <a:r>
              <a:rPr lang="en-IN" sz="1100" dirty="0" err="1"/>
              <a:t>c.count</a:t>
            </a:r>
            <a:r>
              <a:rPr lang="en-IN" sz="1100" dirty="0"/>
              <a:t>);</a:t>
            </a:r>
            <a:br>
              <a:rPr lang="en-IN" sz="1100" dirty="0"/>
            </a:br>
            <a:r>
              <a:rPr lang="en-IN" sz="1100" dirty="0"/>
              <a:t>    }</a:t>
            </a:r>
            <a:br>
              <a:rPr lang="en-IN" sz="1100" dirty="0"/>
            </a:br>
            <a:r>
              <a:rPr lang="en-IN" sz="1100" dirty="0"/>
              <a:t>}</a:t>
            </a:r>
            <a:br>
              <a:rPr lang="en-IN" sz="1100" dirty="0"/>
            </a:br>
            <a:r>
              <a:rPr lang="en-IN" sz="1100" b="1" dirty="0"/>
              <a:t>Line by Line</a:t>
            </a:r>
          </a:p>
          <a:p>
            <a:pPr marL="0" indent="0">
              <a:buNone/>
            </a:pPr>
            <a:r>
              <a:rPr lang="en-IN" sz="1100" dirty="0"/>
              <a:t>synchronized void increment()</a:t>
            </a:r>
          </a:p>
          <a:p>
            <a:pPr marL="0" indent="0">
              <a:buNone/>
            </a:pPr>
            <a:r>
              <a:rPr lang="en-IN" sz="1100" dirty="0"/>
              <a:t>Only one thread can access method at a time.</a:t>
            </a:r>
          </a:p>
          <a:p>
            <a:pPr marL="0" indent="0">
              <a:buNone/>
            </a:pPr>
            <a:r>
              <a:rPr lang="en-IN" sz="1100" dirty="0"/>
              <a:t>count++;</a:t>
            </a:r>
          </a:p>
          <a:p>
            <a:pPr marL="0" indent="0">
              <a:buNone/>
            </a:pPr>
            <a:r>
              <a:rPr lang="en-IN" sz="1100" dirty="0"/>
              <a:t>Safely updates value.</a:t>
            </a:r>
          </a:p>
          <a:p>
            <a:pPr marL="0" indent="0">
              <a:buNone/>
            </a:pPr>
            <a:endParaRPr lang="en-IN" sz="1100" dirty="0"/>
          </a:p>
          <a:p>
            <a:pPr marL="0" indent="0">
              <a:buNone/>
            </a:pPr>
            <a:endParaRPr lang="en-IN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C1EDA-7CCC-D49B-E824-4A43050B4C02}"/>
              </a:ext>
            </a:extLst>
          </p:cNvPr>
          <p:cNvSpPr txBox="1"/>
          <p:nvPr/>
        </p:nvSpPr>
        <p:spPr>
          <a:xfrm>
            <a:off x="6216102" y="917979"/>
            <a:ext cx="609460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/>
              <a:t>Real Life Example</a:t>
            </a:r>
          </a:p>
          <a:p>
            <a:pPr marL="0" indent="0">
              <a:buNone/>
            </a:pPr>
            <a:r>
              <a:rPr lang="en-IN" dirty="0"/>
              <a:t>ATM Machine</a:t>
            </a:r>
          </a:p>
          <a:p>
            <a:pPr marL="0" indent="0">
              <a:buNone/>
            </a:pPr>
            <a:r>
              <a:rPr lang="en-IN" dirty="0"/>
              <a:t>Only one customer should update balance at a time.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Student Task 3</a:t>
            </a:r>
          </a:p>
          <a:p>
            <a:pPr marL="0" indent="0">
              <a:buNone/>
            </a:pPr>
            <a:r>
              <a:rPr lang="en-IN" dirty="0"/>
              <a:t>Create:</a:t>
            </a:r>
          </a:p>
          <a:p>
            <a:pPr marL="0" indent="0">
              <a:buNone/>
            </a:pPr>
            <a:r>
              <a:rPr lang="en-IN" dirty="0" err="1"/>
              <a:t>BankAccount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Method:</a:t>
            </a:r>
          </a:p>
          <a:p>
            <a:pPr marL="0" indent="0">
              <a:buNone/>
            </a:pPr>
            <a:r>
              <a:rPr lang="en-IN" dirty="0"/>
              <a:t>withdraw()</a:t>
            </a:r>
          </a:p>
          <a:p>
            <a:pPr marL="0" indent="0">
              <a:buNone/>
            </a:pPr>
            <a:r>
              <a:rPr lang="en-IN" dirty="0"/>
              <a:t>Use synchronized keyword.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717587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DF2A1-8897-C82E-484D-FF77DBE08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692" y="80715"/>
            <a:ext cx="6049161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Inter-Thread Communication</a:t>
            </a:r>
          </a:p>
          <a:p>
            <a:pPr marL="0" indent="0">
              <a:buNone/>
            </a:pPr>
            <a:r>
              <a:rPr lang="en-IN" dirty="0"/>
              <a:t>Used when one thread communicates with another.</a:t>
            </a:r>
          </a:p>
          <a:p>
            <a:pPr marL="0" indent="0">
              <a:buNone/>
            </a:pPr>
            <a:r>
              <a:rPr lang="en-IN" dirty="0"/>
              <a:t>Methods:</a:t>
            </a:r>
          </a:p>
          <a:p>
            <a:pPr marL="0" indent="0">
              <a:buNone/>
            </a:pPr>
            <a:r>
              <a:rPr lang="en-IN" dirty="0"/>
              <a:t>wait()</a:t>
            </a:r>
            <a:br>
              <a:rPr lang="en-IN" dirty="0"/>
            </a:br>
            <a:r>
              <a:rPr lang="en-IN" dirty="0"/>
              <a:t>notify()</a:t>
            </a:r>
            <a:br>
              <a:rPr lang="en-IN" dirty="0"/>
            </a:br>
            <a:r>
              <a:rPr lang="en-IN" dirty="0" err="1"/>
              <a:t>notifyAll</a:t>
            </a:r>
            <a:r>
              <a:rPr lang="en-IN" dirty="0"/>
              <a:t>()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wait()</a:t>
            </a:r>
          </a:p>
          <a:p>
            <a:pPr marL="0" indent="0">
              <a:buNone/>
            </a:pPr>
            <a:r>
              <a:rPr lang="en-IN" dirty="0"/>
              <a:t>Thread enters waiting state.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notify()</a:t>
            </a:r>
          </a:p>
          <a:p>
            <a:pPr marL="0" indent="0">
              <a:buNone/>
            </a:pPr>
            <a:r>
              <a:rPr lang="en-IN" dirty="0"/>
              <a:t>Wakes up waiting thread.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95185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858A9-1237-560B-B958-7B9F180C4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34" y="0"/>
            <a:ext cx="105156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1200" b="1" dirty="0"/>
              <a:t>Program</a:t>
            </a:r>
          </a:p>
          <a:p>
            <a:pPr>
              <a:buNone/>
            </a:pPr>
            <a:r>
              <a:rPr lang="en-IN" sz="1200" dirty="0">
                <a:latin typeface="Courier New" panose="02070309020205020404" pitchFamily="49" charset="0"/>
              </a:rPr>
              <a:t>class Shared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synchronized void display()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try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    wait();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} catch(Exception e)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}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</a:t>
            </a:r>
            <a:r>
              <a:rPr lang="en-IN" sz="1200" dirty="0" err="1">
                <a:latin typeface="Courier New" panose="02070309020205020404" pitchFamily="49" charset="0"/>
              </a:rPr>
              <a:t>System.out.println</a:t>
            </a:r>
            <a:r>
              <a:rPr lang="en-IN" sz="1200" dirty="0">
                <a:latin typeface="Courier New" panose="02070309020205020404" pitchFamily="49" charset="0"/>
              </a:rPr>
              <a:t>("Thread Resumed");</a:t>
            </a: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}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synchronized void </a:t>
            </a:r>
            <a:r>
              <a:rPr lang="en-IN" sz="1200" dirty="0" err="1">
                <a:latin typeface="Courier New" panose="02070309020205020404" pitchFamily="49" charset="0"/>
              </a:rPr>
              <a:t>resumeThread</a:t>
            </a:r>
            <a:r>
              <a:rPr lang="en-IN" sz="1200" dirty="0">
                <a:latin typeface="Courier New" panose="02070309020205020404" pitchFamily="49" charset="0"/>
              </a:rPr>
              <a:t>()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notify();</a:t>
            </a: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}</a:t>
            </a: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}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public class Main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public static void main(String[] </a:t>
            </a:r>
            <a:r>
              <a:rPr lang="en-IN" sz="1200" dirty="0" err="1">
                <a:latin typeface="Courier New" panose="02070309020205020404" pitchFamily="49" charset="0"/>
              </a:rPr>
              <a:t>args</a:t>
            </a:r>
            <a:r>
              <a:rPr lang="en-IN" sz="1200" dirty="0">
                <a:latin typeface="Courier New" panose="02070309020205020404" pitchFamily="49" charset="0"/>
              </a:rPr>
              <a:t>)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Shared s = new Shared();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Thread t1 = new Thread(() -&gt;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    </a:t>
            </a:r>
            <a:r>
              <a:rPr lang="en-IN" sz="1200" dirty="0" err="1">
                <a:latin typeface="Courier New" panose="02070309020205020404" pitchFamily="49" charset="0"/>
              </a:rPr>
              <a:t>s.display</a:t>
            </a:r>
            <a:r>
              <a:rPr lang="en-IN" sz="1200" dirty="0">
                <a:latin typeface="Courier New" panose="02070309020205020404" pitchFamily="49" charset="0"/>
              </a:rPr>
              <a:t>();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});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Thread t2 = new Thread(() -&gt; {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    </a:t>
            </a:r>
            <a:r>
              <a:rPr lang="en-IN" sz="1200" dirty="0" err="1">
                <a:latin typeface="Courier New" panose="02070309020205020404" pitchFamily="49" charset="0"/>
              </a:rPr>
              <a:t>s.resumeThread</a:t>
            </a:r>
            <a:r>
              <a:rPr lang="en-IN" sz="1200" dirty="0">
                <a:latin typeface="Courier New" panose="02070309020205020404" pitchFamily="49" charset="0"/>
              </a:rPr>
              <a:t>();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});</a:t>
            </a:r>
            <a:br>
              <a:rPr lang="en-IN" sz="1200" dirty="0">
                <a:latin typeface="Courier New" panose="02070309020205020404" pitchFamily="49" charset="0"/>
              </a:rPr>
            </a:br>
            <a:br>
              <a:rPr lang="en-IN" sz="1200" dirty="0">
                <a:latin typeface="Courier New" panose="02070309020205020404" pitchFamily="49" charset="0"/>
              </a:rPr>
            </a:br>
            <a:r>
              <a:rPr lang="en-IN" sz="1200" dirty="0">
                <a:latin typeface="Courier New" panose="02070309020205020404" pitchFamily="49" charset="0"/>
              </a:rPr>
              <a:t>        </a:t>
            </a: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314AD-D7E7-DF29-BAA3-E5BAAF00F45C}"/>
              </a:ext>
            </a:extLst>
          </p:cNvPr>
          <p:cNvSpPr txBox="1"/>
          <p:nvPr/>
        </p:nvSpPr>
        <p:spPr>
          <a:xfrm>
            <a:off x="6096000" y="381020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latin typeface="Courier New" panose="02070309020205020404" pitchFamily="49" charset="0"/>
              </a:rPr>
              <a:t>t1.start();</a:t>
            </a:r>
            <a:br>
              <a:rPr lang="en-IN" sz="1800" dirty="0">
                <a:latin typeface="Courier New" panose="02070309020205020404" pitchFamily="49" charset="0"/>
              </a:rPr>
            </a:br>
            <a:br>
              <a:rPr lang="en-IN" sz="1800" dirty="0">
                <a:latin typeface="Courier New" panose="02070309020205020404" pitchFamily="49" charset="0"/>
              </a:rPr>
            </a:br>
            <a:r>
              <a:rPr lang="en-IN" sz="1800" dirty="0">
                <a:latin typeface="Courier New" panose="02070309020205020404" pitchFamily="49" charset="0"/>
              </a:rPr>
              <a:t>        t2.start();</a:t>
            </a:r>
            <a:br>
              <a:rPr lang="en-IN" sz="1800" dirty="0">
                <a:latin typeface="Courier New" panose="02070309020205020404" pitchFamily="49" charset="0"/>
              </a:rPr>
            </a:br>
            <a:r>
              <a:rPr lang="en-IN" sz="1800" dirty="0">
                <a:latin typeface="Courier New" panose="02070309020205020404" pitchFamily="49" charset="0"/>
              </a:rPr>
              <a:t>    }</a:t>
            </a:r>
            <a:br>
              <a:rPr lang="en-IN" sz="1800" dirty="0">
                <a:latin typeface="Courier New" panose="02070309020205020404" pitchFamily="49" charset="0"/>
              </a:rPr>
            </a:br>
            <a:r>
              <a:rPr lang="en-IN" sz="1800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br>
              <a:rPr lang="en-IN" sz="1800" dirty="0"/>
            </a:br>
            <a:endParaRPr lang="en-IN" sz="1800" dirty="0"/>
          </a:p>
          <a:p>
            <a:pPr>
              <a:buNone/>
            </a:pPr>
            <a:r>
              <a:rPr lang="en-IN" sz="1800" b="1" dirty="0"/>
              <a:t>Line by Line</a:t>
            </a:r>
          </a:p>
          <a:p>
            <a:pPr>
              <a:buNone/>
            </a:pPr>
            <a:r>
              <a:rPr lang="en-IN" sz="1800" dirty="0">
                <a:latin typeface="Courier New" panose="02070309020205020404" pitchFamily="49" charset="0"/>
              </a:rPr>
              <a:t>wait();</a:t>
            </a:r>
          </a:p>
          <a:p>
            <a:pPr>
              <a:buNone/>
            </a:pPr>
            <a:r>
              <a:rPr lang="en-IN" sz="1800" dirty="0"/>
              <a:t>Pauses current thread.</a:t>
            </a:r>
          </a:p>
          <a:p>
            <a:pPr>
              <a:buNone/>
            </a:pPr>
            <a:br>
              <a:rPr lang="en-IN" sz="1800" dirty="0"/>
            </a:br>
            <a:endParaRPr lang="en-IN" sz="1800" dirty="0"/>
          </a:p>
          <a:p>
            <a:pPr>
              <a:buNone/>
            </a:pPr>
            <a:r>
              <a:rPr lang="en-IN" sz="1800" dirty="0">
                <a:latin typeface="Courier New" panose="02070309020205020404" pitchFamily="49" charset="0"/>
              </a:rPr>
              <a:t>notify();</a:t>
            </a:r>
          </a:p>
          <a:p>
            <a:pPr>
              <a:buNone/>
            </a:pPr>
            <a:r>
              <a:rPr lang="en-IN" sz="1800" dirty="0"/>
              <a:t>Resumes waiting thread.</a:t>
            </a:r>
          </a:p>
        </p:txBody>
      </p:sp>
    </p:spTree>
    <p:extLst>
      <p:ext uri="{BB962C8B-B14F-4D97-AF65-F5344CB8AC3E}">
        <p14:creationId xmlns:p14="http://schemas.microsoft.com/office/powerpoint/2010/main" val="142711142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2850A-1934-22ED-25AC-1909EAF83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917" y="280208"/>
            <a:ext cx="10515600" cy="228682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Student Task 4</a:t>
            </a:r>
          </a:p>
          <a:p>
            <a:pPr marL="0" indent="0">
              <a:buNone/>
            </a:pPr>
            <a:r>
              <a:rPr lang="en-IN" dirty="0"/>
              <a:t>Create two threads:</a:t>
            </a:r>
          </a:p>
          <a:p>
            <a:pPr marL="0" indent="0">
              <a:buNone/>
            </a:pPr>
            <a:r>
              <a:rPr lang="en-IN" dirty="0"/>
              <a:t>One thread waits </a:t>
            </a:r>
          </a:p>
          <a:p>
            <a:pPr marL="0" indent="0">
              <a:buNone/>
            </a:pPr>
            <a:r>
              <a:rPr lang="en-IN" dirty="0"/>
              <a:t>Another thread notifies </a:t>
            </a:r>
          </a:p>
          <a:p>
            <a:pPr marL="0" indent="0">
              <a:buNone/>
            </a:pPr>
            <a:r>
              <a:rPr lang="en-IN" dirty="0"/>
              <a:t>Print:</a:t>
            </a:r>
          </a:p>
          <a:p>
            <a:pPr marL="0" indent="0">
              <a:buNone/>
            </a:pPr>
            <a:r>
              <a:rPr lang="en-IN" dirty="0"/>
              <a:t>Waiting...</a:t>
            </a:r>
            <a:br>
              <a:rPr lang="en-IN" dirty="0"/>
            </a:br>
            <a:r>
              <a:rPr lang="en-IN" dirty="0"/>
              <a:t>Resumed...</a:t>
            </a:r>
          </a:p>
        </p:txBody>
      </p:sp>
    </p:spTree>
    <p:extLst>
      <p:ext uri="{BB962C8B-B14F-4D97-AF65-F5344CB8AC3E}">
        <p14:creationId xmlns:p14="http://schemas.microsoft.com/office/powerpoint/2010/main" val="795737209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28778-588D-6658-534D-97D43766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026" y="-1"/>
            <a:ext cx="5805880" cy="635885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Executor Framework</a:t>
            </a:r>
          </a:p>
          <a:p>
            <a:pPr marL="0" indent="0">
              <a:buNone/>
            </a:pPr>
            <a:r>
              <a:rPr lang="en-IN" dirty="0"/>
              <a:t>Introduced to manage multiple threads efficiently.</a:t>
            </a:r>
          </a:p>
          <a:p>
            <a:pPr marL="0" indent="0">
              <a:buNone/>
            </a:pPr>
            <a:r>
              <a:rPr lang="en-IN" dirty="0"/>
              <a:t>Instead of manually creating threads:</a:t>
            </a:r>
          </a:p>
          <a:p>
            <a:pPr marL="0" indent="0">
              <a:buNone/>
            </a:pPr>
            <a:r>
              <a:rPr lang="en-IN" dirty="0"/>
              <a:t>new Thread()</a:t>
            </a:r>
          </a:p>
          <a:p>
            <a:pPr marL="0" indent="0">
              <a:buNone/>
            </a:pPr>
            <a:r>
              <a:rPr lang="en-IN" dirty="0"/>
              <a:t>Use:</a:t>
            </a:r>
          </a:p>
          <a:p>
            <a:pPr marL="0" indent="0">
              <a:buNone/>
            </a:pPr>
            <a:r>
              <a:rPr lang="en-IN" dirty="0" err="1"/>
              <a:t>ExecutorService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Program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java.util.concurrent</a:t>
            </a:r>
            <a:r>
              <a:rPr lang="en-IN" dirty="0"/>
              <a:t>.*;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public class Main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ExecutorService</a:t>
            </a:r>
            <a:r>
              <a:rPr lang="en-IN" dirty="0"/>
              <a:t> executor = </a:t>
            </a:r>
            <a:r>
              <a:rPr lang="en-IN" dirty="0" err="1"/>
              <a:t>Executors.newFixedThreadPool</a:t>
            </a:r>
            <a:r>
              <a:rPr lang="en-IN" dirty="0"/>
              <a:t>(2);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executor.submit</a:t>
            </a:r>
            <a:r>
              <a:rPr lang="en-IN" dirty="0"/>
              <a:t>(() -&gt;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("Task 1");</a:t>
            </a:r>
            <a:br>
              <a:rPr lang="en-IN" dirty="0"/>
            </a:br>
            <a:r>
              <a:rPr lang="en-IN" dirty="0"/>
              <a:t>        });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executor.submit</a:t>
            </a:r>
            <a:r>
              <a:rPr lang="en-IN" dirty="0"/>
              <a:t>(() -&gt;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("Task 2");</a:t>
            </a:r>
            <a:br>
              <a:rPr lang="en-IN" dirty="0"/>
            </a:br>
            <a:r>
              <a:rPr lang="en-IN" dirty="0"/>
              <a:t>        });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executor.shutdown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0DC46-FA0E-3712-1ECC-0D2407189F8F}"/>
              </a:ext>
            </a:extLst>
          </p:cNvPr>
          <p:cNvSpPr txBox="1"/>
          <p:nvPr/>
        </p:nvSpPr>
        <p:spPr>
          <a:xfrm>
            <a:off x="6177096" y="161854"/>
            <a:ext cx="609460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Line by Line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ExecutorService</a:t>
            </a:r>
            <a:r>
              <a:rPr lang="en-IN" dirty="0">
                <a:latin typeface="Courier New" panose="02070309020205020404" pitchFamily="49" charset="0"/>
              </a:rPr>
              <a:t> executor</a:t>
            </a:r>
          </a:p>
          <a:p>
            <a:pPr>
              <a:buNone/>
            </a:pPr>
            <a:r>
              <a:rPr lang="en-IN" dirty="0"/>
              <a:t>Creates thread pool manager.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Executors.newFixedThreadPool</a:t>
            </a:r>
            <a:r>
              <a:rPr lang="en-IN" dirty="0">
                <a:latin typeface="Courier New" panose="02070309020205020404" pitchFamily="49" charset="0"/>
              </a:rPr>
              <a:t>(2)</a:t>
            </a:r>
          </a:p>
          <a:p>
            <a:pPr>
              <a:buNone/>
            </a:pPr>
            <a:r>
              <a:rPr lang="en-IN" dirty="0"/>
              <a:t>Creates pool with 2 threads.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executor.submit</a:t>
            </a:r>
            <a:r>
              <a:rPr lang="en-IN" dirty="0">
                <a:latin typeface="Courier New" panose="02070309020205020404" pitchFamily="49" charset="0"/>
              </a:rPr>
              <a:t>(...)</a:t>
            </a:r>
          </a:p>
          <a:p>
            <a:pPr>
              <a:buNone/>
            </a:pPr>
            <a:r>
              <a:rPr lang="en-IN" dirty="0"/>
              <a:t>Submits task to thread pool.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executor.shutdown</a:t>
            </a:r>
            <a:r>
              <a:rPr lang="en-IN" dirty="0">
                <a:latin typeface="Courier New" panose="02070309020205020404" pitchFamily="49" charset="0"/>
              </a:rPr>
              <a:t>();</a:t>
            </a:r>
          </a:p>
          <a:p>
            <a:pPr>
              <a:buNone/>
            </a:pPr>
            <a:r>
              <a:rPr lang="en-IN" dirty="0"/>
              <a:t>Stops accepting new tasks.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Output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Task 1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Task 2</a:t>
            </a:r>
          </a:p>
          <a:p>
            <a:pPr>
              <a:buNone/>
            </a:pPr>
            <a:r>
              <a:rPr lang="en-IN" dirty="0"/>
              <a:t>(Output order may vary.)</a:t>
            </a:r>
          </a:p>
        </p:txBody>
      </p:sp>
    </p:spTree>
    <p:extLst>
      <p:ext uri="{BB962C8B-B14F-4D97-AF65-F5344CB8AC3E}">
        <p14:creationId xmlns:p14="http://schemas.microsoft.com/office/powerpoint/2010/main" val="584580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13057</TotalTime>
  <Words>18683</Words>
  <Application>Microsoft Office PowerPoint</Application>
  <PresentationFormat>Widescreen</PresentationFormat>
  <Paragraphs>3095</Paragraphs>
  <Slides>209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209</vt:i4>
      </vt:variant>
    </vt:vector>
  </HeadingPairs>
  <TitlesOfParts>
    <vt:vector size="218" baseType="lpstr">
      <vt:lpstr>Aptos</vt:lpstr>
      <vt:lpstr>Aptos Display</vt:lpstr>
      <vt:lpstr>Arial</vt:lpstr>
      <vt:lpstr>Arial Unicode MS</vt:lpstr>
      <vt:lpstr>Consolas</vt:lpstr>
      <vt:lpstr>Courier New</vt:lpstr>
      <vt:lpstr>system-ui</vt:lpstr>
      <vt:lpstr>Times New Roman</vt:lpstr>
      <vt:lpstr>Office Theme</vt:lpstr>
      <vt:lpstr>Introduction to Java</vt:lpstr>
      <vt:lpstr>PowerPoint Presentation</vt:lpstr>
      <vt:lpstr>Java is used in many areas Web applications Mobile applications Desktop software Enterprise applications Game development</vt:lpstr>
      <vt:lpstr>PowerPoint Presentation</vt:lpstr>
      <vt:lpstr>PowerPoint Presentation</vt:lpstr>
      <vt:lpstr>Java Classes and Objects</vt:lpstr>
      <vt:lpstr>PowerPoint Presentation</vt:lpstr>
      <vt:lpstr>PowerPoint Presentation</vt:lpstr>
      <vt:lpstr>PowerPoint Presentation</vt:lpstr>
      <vt:lpstr>PowerPoint Presentation</vt:lpstr>
      <vt:lpstr>Scanner Class &amp; Data Input Stream in Java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 Equal Operator (!=) Checks whether two values are not equal. </vt:lpstr>
      <vt:lpstr>PowerPoint Presentation</vt:lpstr>
      <vt:lpstr>PowerPoint Presentation</vt:lpstr>
      <vt:lpstr>PowerPoint Presentation</vt:lpstr>
      <vt:lpstr>PowerPoint Presentation</vt:lpstr>
      <vt:lpstr>Bitwise Operators in Java </vt:lpstr>
      <vt:lpstr>PowerPoint Presentation</vt:lpstr>
      <vt:lpstr>PowerPoint Presentation</vt:lpstr>
      <vt:lpstr>Bitwise AND (&amp;) </vt:lpstr>
      <vt:lpstr>PowerPoint Presentation</vt:lpstr>
      <vt:lpstr>PowerPoint Presentation</vt:lpstr>
      <vt:lpstr>PowerPoint Presentation</vt:lpstr>
      <vt:lpstr>Truth Table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Unary Operators (Java)</vt:lpstr>
      <vt:lpstr>Types of Shift Operators</vt:lpstr>
      <vt:lpstr>IF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Menu Driven Calculator </vt:lpstr>
      <vt:lpstr>PowerPoint Presentation</vt:lpstr>
      <vt:lpstr>PowerPoint Presentation</vt:lpstr>
      <vt:lpstr>CGPA with Grades </vt:lpstr>
      <vt:lpstr>PowerPoint Presentation</vt:lpstr>
      <vt:lpstr>PowerPoint Presentation</vt:lpstr>
      <vt:lpstr>PowerPoint Presentation</vt:lpstr>
      <vt:lpstr>Constructor + Account Details </vt:lpstr>
      <vt:lpstr>PowerPoint Presentation</vt:lpstr>
      <vt:lpstr>Using ASCII</vt:lpstr>
      <vt:lpstr>PowerPoint Presentation</vt:lpstr>
      <vt:lpstr>Function with Return</vt:lpstr>
      <vt:lpstr>Creating &amp; Calling Function</vt:lpstr>
      <vt:lpstr>Creating &amp; Calling Function</vt:lpstr>
      <vt:lpstr>Example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Define String &amp; Access &amp; Modify</vt:lpstr>
      <vt:lpstr>PowerPoint Presentation</vt:lpstr>
      <vt:lpstr>PowerPoint Presentation</vt:lpstr>
      <vt:lpstr>String vs StringBuffer vs StringBuilder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Access Modifiers  Theory Controls visibility of variables/methods. </vt:lpstr>
      <vt:lpstr>Local Scope and Global Scope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POLYMORPHISM</vt:lpstr>
      <vt:lpstr>Why Do We Use Polymorphism?</vt:lpstr>
      <vt:lpstr>Types of Polymorphism </vt:lpstr>
      <vt:lpstr>Compile-time Polymorphism</vt:lpstr>
      <vt:lpstr>Method Overloading</vt:lpstr>
      <vt:lpstr>Method Overloading Program</vt:lpstr>
      <vt:lpstr>PowerPoint Presentation</vt:lpstr>
      <vt:lpstr>PowerPoint Presentation</vt:lpstr>
      <vt:lpstr>Runtime Polymorphism  </vt:lpstr>
      <vt:lpstr>Method Overriding</vt:lpstr>
      <vt:lpstr>Method Overriding Program </vt:lpstr>
      <vt:lpstr>Method Overriding Program</vt:lpstr>
      <vt:lpstr>What is Abstraction?</vt:lpstr>
      <vt:lpstr>PowerPoint Presentation</vt:lpstr>
      <vt:lpstr>Abstract Class</vt:lpstr>
      <vt:lpstr>PowerPoint Presentation</vt:lpstr>
      <vt:lpstr>PowerPoint Presentation</vt:lpstr>
      <vt:lpstr>Interface in Java</vt:lpstr>
      <vt:lpstr>PowerPoint Presentation</vt:lpstr>
      <vt:lpstr>PowerPoint Presentation</vt:lpstr>
      <vt:lpstr>Aggregation in Java Definition </vt:lpstr>
      <vt:lpstr>PowerPoint Presentation</vt:lpstr>
      <vt:lpstr>PowerPoint Presentation</vt:lpstr>
      <vt:lpstr>What is Encapsulation?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Super Keyword Definition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Keywords in Exception Handling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throw vs throws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kavipriya dharshini</dc:creator>
  <cp:lastModifiedBy>HP</cp:lastModifiedBy>
  <cp:revision>455</cp:revision>
  <dcterms:created xsi:type="dcterms:W3CDTF">2026-03-12T10:02:29Z</dcterms:created>
  <dcterms:modified xsi:type="dcterms:W3CDTF">2026-06-15T10:19:47Z</dcterms:modified>
</cp:coreProperties>
</file>